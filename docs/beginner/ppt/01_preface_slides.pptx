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2f62c8b2db34332" /><Relationship Type="http://schemas.openxmlformats.org/officeDocument/2006/relationships/extended-properties" Target="/docProps/app.xml" Id="Rcaa396a82f1246db" /><Relationship Type="http://schemas.openxmlformats.org/officeDocument/2006/relationships/officeDocument" Target="/ppt/presentation.xml" Id="R54da0727f925440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cd29b3580154cab"/>
  </p:sldMasterIdLst>
  <p:notesMasterIdLst>
    <p:notesMasterId xmlns:r="http://schemas.openxmlformats.org/officeDocument/2006/relationships" r:id="R368943f7518341a8"/>
  </p:notesMasterIdLst>
  <p:sldIdLst>
    <p:sldId xmlns:r="http://schemas.openxmlformats.org/officeDocument/2006/relationships" id="256" r:id="Ra3830c59c3f94711"/>
    <p:sldId xmlns:r="http://schemas.openxmlformats.org/officeDocument/2006/relationships" id="257" r:id="Rbb76e12679f64f36"/>
    <p:sldId xmlns:r="http://schemas.openxmlformats.org/officeDocument/2006/relationships" id="258" r:id="Rbc08007dd52e4faf"/>
    <p:sldId xmlns:r="http://schemas.openxmlformats.org/officeDocument/2006/relationships" id="259" r:id="Rf14fe46edeb44c0d"/>
    <p:sldId xmlns:r="http://schemas.openxmlformats.org/officeDocument/2006/relationships" id="260" r:id="R896a8c7463c44670"/>
    <p:sldId xmlns:r="http://schemas.openxmlformats.org/officeDocument/2006/relationships" id="261" r:id="R4aea746122cf4159"/>
    <p:sldId xmlns:r="http://schemas.openxmlformats.org/officeDocument/2006/relationships" id="262" r:id="R6c9e44c042964fa3"/>
    <p:sldId xmlns:r="http://schemas.openxmlformats.org/officeDocument/2006/relationships" id="263" r:id="Rb0e8f96f8e2b45f0"/>
    <p:sldId xmlns:r="http://schemas.openxmlformats.org/officeDocument/2006/relationships" id="264" r:id="R1f3c11a1336b44aa"/>
    <p:sldId xmlns:r="http://schemas.openxmlformats.org/officeDocument/2006/relationships" id="265" r:id="R725d52df84ad4fca"/>
    <p:sldId xmlns:r="http://schemas.openxmlformats.org/officeDocument/2006/relationships" id="266" r:id="Rd1668cb0bbb745c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beb816a03434246" /><Relationship Type="http://schemas.openxmlformats.org/officeDocument/2006/relationships/slideMaster" Target="/ppt/slideMasters/slideMaster1.xml" Id="R2cd29b3580154cab" /><Relationship Type="http://schemas.openxmlformats.org/officeDocument/2006/relationships/notesMaster" Target="/ppt/notesMasters/notesMaster1.xml" Id="R368943f7518341a8" /><Relationship Type="http://schemas.openxmlformats.org/officeDocument/2006/relationships/presProps" Target="/ppt/presProps.xml" Id="Rd00d1d23a62b432a" /><Relationship Type="http://schemas.openxmlformats.org/officeDocument/2006/relationships/tableStyles" Target="/ppt/tableStyles.xml" Id="R410df3e0f41340f1" /><Relationship Type="http://schemas.openxmlformats.org/officeDocument/2006/relationships/slide" Target="/ppt/slides/slide1.xml" Id="Ra3830c59c3f94711" /><Relationship Type="http://schemas.openxmlformats.org/officeDocument/2006/relationships/slide" Target="/ppt/slides/slide2.xml" Id="Rbb76e12679f64f36" /><Relationship Type="http://schemas.openxmlformats.org/officeDocument/2006/relationships/slide" Target="/ppt/slides/slide3.xml" Id="Rbc08007dd52e4faf" /><Relationship Type="http://schemas.openxmlformats.org/officeDocument/2006/relationships/slide" Target="/ppt/slides/slide4.xml" Id="Rf14fe46edeb44c0d" /><Relationship Type="http://schemas.openxmlformats.org/officeDocument/2006/relationships/slide" Target="/ppt/slides/slide5.xml" Id="R896a8c7463c44670" /><Relationship Type="http://schemas.openxmlformats.org/officeDocument/2006/relationships/slide" Target="/ppt/slides/slide6.xml" Id="R4aea746122cf4159" /><Relationship Type="http://schemas.openxmlformats.org/officeDocument/2006/relationships/slide" Target="/ppt/slides/slide7.xml" Id="R6c9e44c042964fa3" /><Relationship Type="http://schemas.openxmlformats.org/officeDocument/2006/relationships/slide" Target="/ppt/slides/slide8.xml" Id="Rb0e8f96f8e2b45f0" /><Relationship Type="http://schemas.openxmlformats.org/officeDocument/2006/relationships/slide" Target="/ppt/slides/slide9.xml" Id="R1f3c11a1336b44aa" /><Relationship Type="http://schemas.openxmlformats.org/officeDocument/2006/relationships/slide" Target="/ppt/slides/slide10.xml" Id="R725d52df84ad4fca" /><Relationship Type="http://schemas.openxmlformats.org/officeDocument/2006/relationships/slide" Target="/ppt/slides/slide11.xml" Id="Rd1668cb0bbb745c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505a94eeb98487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426e2f9602a49ed" /><Relationship Type="http://schemas.openxmlformats.org/officeDocument/2006/relationships/notesMaster" Target="/ppt/notesMasters/notesMaster1.xml" Id="Rcb6b9f5e745747d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5fb81659fd140cf" /><Relationship Type="http://schemas.openxmlformats.org/officeDocument/2006/relationships/notesMaster" Target="/ppt/notesMasters/notesMaster1.xml" Id="Rbc8ac173dbe7413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602237ced8c48af" /><Relationship Type="http://schemas.openxmlformats.org/officeDocument/2006/relationships/notesMaster" Target="/ppt/notesMasters/notesMaster1.xml" Id="Rb6cc7356f8c94e5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2ddc9c4d9114aa3" /><Relationship Type="http://schemas.openxmlformats.org/officeDocument/2006/relationships/notesMaster" Target="/ppt/notesMasters/notesMaster1.xml" Id="R3c2ab5bcbed9434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443f5c7587a4a36" /><Relationship Type="http://schemas.openxmlformats.org/officeDocument/2006/relationships/notesMaster" Target="/ppt/notesMasters/notesMaster1.xml" Id="Rcabf0f879018439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5300ab67d5f4ab6" /><Relationship Type="http://schemas.openxmlformats.org/officeDocument/2006/relationships/notesMaster" Target="/ppt/notesMasters/notesMaster1.xml" Id="Raa2dbd8cd3f84b7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0f4feb5e7a648b1" /><Relationship Type="http://schemas.openxmlformats.org/officeDocument/2006/relationships/notesMaster" Target="/ppt/notesMasters/notesMaster1.xml" Id="Rf500e9d6967f4e3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2a9d34b9b5e44af" /><Relationship Type="http://schemas.openxmlformats.org/officeDocument/2006/relationships/notesMaster" Target="/ppt/notesMasters/notesMaster1.xml" Id="R1a345bee9acb467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aaba5cfb0f049e6" /><Relationship Type="http://schemas.openxmlformats.org/officeDocument/2006/relationships/notesMaster" Target="/ppt/notesMasters/notesMaster1.xml" Id="R0d96528004484d5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64cae876e8e4177" /><Relationship Type="http://schemas.openxmlformats.org/officeDocument/2006/relationships/notesMaster" Target="/ppt/notesMasters/notesMaster1.xml" Id="Rc911e900c7444f8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d3ecd5bf59a4aae" /><Relationship Type="http://schemas.openxmlformats.org/officeDocument/2006/relationships/notesMaster" Target="/ppt/notesMasters/notesMaster1.xml" Id="Reec7e4b49c2648c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开场说明：这是一份面向第一次接触 RK3588、MAVLink 或自主无人机同学的项目导览。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C:/Users/24184/Desktop/project/uav_system/docs/beginner/01_preface.md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强调教程的价值在于理解和复现系统，而不是把一架比赛飞机原样复制。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C:/Users/24184/Desktop/project/uav_system/docs/beginner/01_preface.md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开源的核心动机是补齐“单个教程都有，但系统仍然接不起来”的工程空白。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C:/Users/24184/Desktop/project/uav_system/docs/beginner/01_preface.md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说明比赛中的实际通信组合，同时明确互联网可达、链路可靠性和现场安全是不同问题。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C:/Users/24184/Desktop/project/uav_system/docs/beginner/01_preface.md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主动呈现不足，帮助初学者建立正确预期：开源项目是起点，不是无需验证的成品。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C:/Users/24184/Desktop/project/uav_system/docs/beginner/01_preface.md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用任务流程说明项目为何需要视觉、任务编排、MAVLink 和飞控协同。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C:/Users/24184/Desktop/project/uav_system/docs/beginner/01_preface.md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把飞控、视觉进程和任务进程的职责分开，避免初学者误解 RK3588 会直接控制电机。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C:/Users/24184/Desktop/project/uav_system/docs/beginner/01_preface.md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通过一条主链路把相机、YOLO、RK3588 app、MAVLink 和 ArduPilot 串起来。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C:/Users/24184/Desktop/project/uav_system/docs/beginner/01_preface.md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这六章是递进关系：每一步都有完成标志，前置条件未通过时不应直接跳到实飞。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C:/Users/24184/Desktop/project/uav_system/docs/beginner/01_preface.md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不同硬件都可能需要重新配置和测试；无桨检查与 SITL 是进入实飞前的明确安全门槛。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C:/Users/24184/Desktop/project/uav_system/docs/beginner/01_preface.md</a:t>
            </a:r>
          </a:p>
          <a:p xmlns:a="http://schemas.openxmlformats.org/drawingml/2006/main">
            <a:r>
              <a:t>- C:/Users/24184/Desktop/project/uav_system/docs/developer/safety.md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收尾把项目定位、系统思维和安全顺序合并成三条原则，并自然引出硬件配置清单。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C:/Users/24184/Desktop/project/uav_system/docs/beginner/01_preface.md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1e6d5ec152747f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84d4283d5d74048" /><Relationship Type="http://schemas.openxmlformats.org/officeDocument/2006/relationships/slideLayout" Target="/ppt/slideLayouts/slideLayout1.xml" Id="Rb64a2d0f89e74af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64a2d0f89e74af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259ad7cb0146cd" /><Relationship Type="http://schemas.openxmlformats.org/officeDocument/2006/relationships/notesSlide" Target="/ppt/notesSlides/notesSlide1.xml" Id="R0bb8d120600a496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fec1c6c8cc437c" /><Relationship Type="http://schemas.openxmlformats.org/officeDocument/2006/relationships/notesSlide" Target="/ppt/notesSlides/notesSlide2.xml" Id="R35da662c8ba04bd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9403e5ca37494b" /><Relationship Type="http://schemas.openxmlformats.org/officeDocument/2006/relationships/notesSlide" Target="/ppt/notesSlides/notesSlide3.xml" Id="R34398c21f082493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3d2a0dfe164952" /><Relationship Type="http://schemas.openxmlformats.org/officeDocument/2006/relationships/notesSlide" Target="/ppt/notesSlides/notesSlide4.xml" Id="R3a21c2a009fe46b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8aedf085074bb4" /><Relationship Type="http://schemas.openxmlformats.org/officeDocument/2006/relationships/notesSlide" Target="/ppt/notesSlides/notesSlide5.xml" Id="Rd82e97c6c3d7494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f92679134d4ada" /><Relationship Type="http://schemas.openxmlformats.org/officeDocument/2006/relationships/notesSlide" Target="/ppt/notesSlides/notesSlide6.xml" Id="R34f35c518f85470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244ac78a8b4142" /><Relationship Type="http://schemas.openxmlformats.org/officeDocument/2006/relationships/notesSlide" Target="/ppt/notesSlides/notesSlide7.xml" Id="Rc4a4b4099c964f8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d16fcb1cd64986" /><Relationship Type="http://schemas.openxmlformats.org/officeDocument/2006/relationships/notesSlide" Target="/ppt/notesSlides/notesSlide8.xml" Id="Ra2822bc03af54c4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a9f9c78e80427b" /><Relationship Type="http://schemas.openxmlformats.org/officeDocument/2006/relationships/notesSlide" Target="/ppt/notesSlides/notesSlide9.xml" Id="R6190b8ae833f4a4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4dc8e2b2c24356" /><Relationship Type="http://schemas.openxmlformats.org/officeDocument/2006/relationships/notesSlide" Target="/ppt/notesSlides/notesSlide10.xml" Id="Rc6cc7aaf5ab5493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f6913f86744926" /><Relationship Type="http://schemas.openxmlformats.org/officeDocument/2006/relationships/notesSlide" Target="/ppt/notesSlides/notesSlide11.xml" Id="R5fa289d346d0493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0001">
            <a:extLst xmlns:a="http://schemas.openxmlformats.org/drawingml/2006/main">
              <a:ext uri="{FF2B5EF4-FFF2-40B4-BE49-F238E27FC236}">
                <a16:creationId xmlns:a16="http://schemas.microsoft.com/office/drawing/2014/main" id="{DA75E375-8982-4A16-9AA8-60197FF18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从零复现 · 第 01 章</a:t>
            </a:r>
          </a:p>
        </p:txBody>
      </p:sp>
      <p:sp>
        <p:nvSpPr>
          <p:cNvPr id="2" name="shape-0002">
            <a:extLst xmlns:a="http://schemas.openxmlformats.org/drawingml/2006/main">
              <a:ext uri="{FF2B5EF4-FFF2-40B4-BE49-F238E27FC236}">
                <a16:creationId xmlns:a16="http://schemas.microsoft.com/office/drawing/2014/main" id="{F8D0DCDD-2501-44B1-819C-8862DA5D5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990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ext-0003">
            <a:extLst xmlns:a="http://schemas.openxmlformats.org/drawingml/2006/main">
              <a:ext uri="{FF2B5EF4-FFF2-40B4-BE49-F238E27FC236}">
                <a16:creationId xmlns:a16="http://schemas.microsoft.com/office/drawing/2014/main" id="{8C342995-8C00-43D9-886B-CF4B9496F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38300"/>
            <a:ext cx="7810500" cy="2266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5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从零理解</a:t>
            </a:r>
          </a:p>
          <a:p xmlns:a="http://schemas.openxmlformats.org/drawingml/2006/main">
            <a:pPr algn="l">
              <a:defRPr sz="5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一套自主无人机</a:t>
            </a:r>
          </a:p>
        </p:txBody>
      </p:sp>
      <p:sp>
        <p:nvSpPr>
          <p:cNvPr id="4" name="text-0004">
            <a:extLst xmlns:a="http://schemas.openxmlformats.org/drawingml/2006/main">
              <a:ext uri="{FF2B5EF4-FFF2-40B4-BE49-F238E27FC236}">
                <a16:creationId xmlns:a16="http://schemas.microsoft.com/office/drawing/2014/main" id="{B7B1F4DE-C51B-4FDD-9A11-D0122114C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723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项目来源、任务目标、系统组成与学习路线</a:t>
            </a:r>
          </a:p>
        </p:txBody>
      </p:sp>
      <p:sp>
        <p:nvSpPr>
          <p:cNvPr id="5" name="text-0005">
            <a:extLst xmlns:a="http://schemas.openxmlformats.org/drawingml/2006/main">
              <a:ext uri="{FF2B5EF4-FFF2-40B4-BE49-F238E27FC236}">
                <a16:creationId xmlns:a16="http://schemas.microsoft.com/office/drawing/2014/main" id="{8B2354FA-3530-4C35-A100-A2333EA88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600200"/>
            <a:ext cx="220980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0" b="1">
                <a:solidFill>
                  <a:srgbClr val="D0ED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0" b="1">
                <a:solidFill>
                  <a:srgbClr val="D0EDFA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6" name="text-0006">
            <a:extLst xmlns:a="http://schemas.openxmlformats.org/drawingml/2006/main">
              <a:ext uri="{FF2B5EF4-FFF2-40B4-BE49-F238E27FC236}">
                <a16:creationId xmlns:a16="http://schemas.microsoft.com/office/drawing/2014/main" id="{709E69AC-877D-43AD-9758-CE1943B1D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817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uav_system-rk3588</a:t>
            </a:r>
          </a:p>
        </p:txBody>
      </p:sp>
    </p:spTree>
    <p:extLst>
      <p:ext uri="{BB962C8B-B14F-4D97-AF65-F5344CB8AC3E}">
        <p14:creationId xmlns:p14="http://schemas.microsoft.com/office/powerpoint/2010/main" val="186294628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text-0007">
            <a:extLst xmlns:a="http://schemas.openxmlformats.org/drawingml/2006/main">
              <a:ext uri="{FF2B5EF4-FFF2-40B4-BE49-F238E27FC236}">
                <a16:creationId xmlns:a16="http://schemas.microsoft.com/office/drawing/2014/main" id="{DDC020EC-FEE1-40ED-B33B-08B4AB74E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教程定位</a:t>
            </a:r>
          </a:p>
        </p:txBody>
      </p:sp>
      <p:sp>
        <p:nvSpPr>
          <p:cNvPr id="2" name="text-0008">
            <a:extLst xmlns:a="http://schemas.openxmlformats.org/drawingml/2006/main">
              <a:ext uri="{FF2B5EF4-FFF2-40B4-BE49-F238E27FC236}">
                <a16:creationId xmlns:a16="http://schemas.microsoft.com/office/drawing/2014/main" id="{D3CC74F3-7FA0-47E4-A053-09C3D9896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这套教程教你搭系统，不是照抄一架飞机</a:t>
            </a:r>
          </a:p>
        </p:txBody>
      </p:sp>
      <p:sp>
        <p:nvSpPr>
          <p:cNvPr id="3" name="shape-0009">
            <a:extLst xmlns:a="http://schemas.openxmlformats.org/drawingml/2006/main">
              <a:ext uri="{FF2B5EF4-FFF2-40B4-BE49-F238E27FC236}">
                <a16:creationId xmlns:a16="http://schemas.microsoft.com/office/drawing/2014/main" id="{152516E4-3D9D-4179-A5CB-465A95387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0010">
            <a:extLst xmlns:a="http://schemas.openxmlformats.org/drawingml/2006/main">
              <a:ext uri="{FF2B5EF4-FFF2-40B4-BE49-F238E27FC236}">
                <a16:creationId xmlns:a16="http://schemas.microsoft.com/office/drawing/2014/main" id="{1196E45D-7C3A-4ABD-BE7C-9920D1710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01 前言</a:t>
            </a:r>
          </a:p>
        </p:txBody>
      </p:sp>
      <p:sp>
        <p:nvSpPr>
          <p:cNvPr id="5" name="text-0011">
            <a:extLst xmlns:a="http://schemas.openxmlformats.org/drawingml/2006/main">
              <a:ext uri="{FF2B5EF4-FFF2-40B4-BE49-F238E27FC236}">
                <a16:creationId xmlns:a16="http://schemas.microsoft.com/office/drawing/2014/main" id="{1D411BC8-5BA5-4392-8170-47CDE9461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198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6" name="text-0012">
            <a:extLst xmlns:a="http://schemas.openxmlformats.org/drawingml/2006/main">
              <a:ext uri="{FF2B5EF4-FFF2-40B4-BE49-F238E27FC236}">
                <a16:creationId xmlns:a16="http://schemas.microsoft.com/office/drawing/2014/main" id="{3399388E-63DA-4540-89D9-689702C54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目标不是</a:t>
            </a:r>
          </a:p>
        </p:txBody>
      </p:sp>
      <p:sp>
        <p:nvSpPr>
          <p:cNvPr id="7" name="text-0013">
            <a:extLst xmlns:a="http://schemas.openxmlformats.org/drawingml/2006/main">
              <a:ext uri="{FF2B5EF4-FFF2-40B4-BE49-F238E27FC236}">
                <a16:creationId xmlns:a16="http://schemas.microsoft.com/office/drawing/2014/main" id="{1ECE401A-F655-412F-9F50-A2EFA4670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0300"/>
            <a:ext cx="40957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复制同一套机架、</a:t>
            </a:r>
          </a:p>
          <a:p xmlns:a="http://schemas.openxmlformats.org/drawingml/2006/main">
            <a:pPr algn="l">
              <a:defRPr sz="30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同一块飞控、</a:t>
            </a:r>
          </a:p>
          <a:p xmlns:a="http://schemas.openxmlformats.org/drawingml/2006/main">
            <a:pPr algn="l">
              <a:defRPr sz="30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同一组参数。</a:t>
            </a:r>
          </a:p>
        </p:txBody>
      </p:sp>
      <p:sp>
        <p:nvSpPr>
          <p:cNvPr id="8" name="shape-0014">
            <a:extLst xmlns:a="http://schemas.openxmlformats.org/drawingml/2006/main">
              <a:ext uri="{FF2B5EF4-FFF2-40B4-BE49-F238E27FC236}">
                <a16:creationId xmlns:a16="http://schemas.microsoft.com/office/drawing/2014/main" id="{6D3D6601-E623-460B-9ED0-F088BC6E4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44005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-0015">
            <a:extLst xmlns:a="http://schemas.openxmlformats.org/drawingml/2006/main">
              <a:ext uri="{FF2B5EF4-FFF2-40B4-BE49-F238E27FC236}">
                <a16:creationId xmlns:a16="http://schemas.microsoft.com/office/drawing/2014/main" id="{A8166168-9F84-4247-82D9-9BADA132A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86300"/>
            <a:ext cx="3905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真正要学会：</a:t>
            </a:r>
          </a:p>
          <a:p xmlns:a="http://schemas.openxmlformats.org/drawingml/2006/main">
            <a:pPr algn="ctr"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整套系统怎样一步步搭起来</a:t>
            </a:r>
          </a:p>
        </p:txBody>
      </p:sp>
      <p:sp>
        <p:nvSpPr>
          <p:cNvPr id="10" name="shape-0016">
            <a:extLst xmlns:a="http://schemas.openxmlformats.org/drawingml/2006/main">
              <a:ext uri="{FF2B5EF4-FFF2-40B4-BE49-F238E27FC236}">
                <a16:creationId xmlns:a16="http://schemas.microsoft.com/office/drawing/2014/main" id="{7AF442D2-ED7F-436C-9E84-2F9815AA4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1752600"/>
            <a:ext cx="14288" cy="401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-0017">
            <a:extLst xmlns:a="http://schemas.openxmlformats.org/drawingml/2006/main">
              <a:ext uri="{FF2B5EF4-FFF2-40B4-BE49-F238E27FC236}">
                <a16:creationId xmlns:a16="http://schemas.microsoft.com/office/drawing/2014/main" id="{C2763CBC-C7CF-446F-AE47-689E74141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097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适合这些读者</a:t>
            </a:r>
          </a:p>
        </p:txBody>
      </p:sp>
      <p:sp>
        <p:nvSpPr>
          <p:cNvPr id="12" name="shape-0018">
            <a:extLst xmlns:a="http://schemas.openxmlformats.org/drawingml/2006/main">
              <a:ext uri="{FF2B5EF4-FFF2-40B4-BE49-F238E27FC236}">
                <a16:creationId xmlns:a16="http://schemas.microsoft.com/office/drawing/2014/main" id="{88797473-2BAC-4EB5-A905-0E19C5AA8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5908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-0019">
            <a:extLst xmlns:a="http://schemas.openxmlformats.org/drawingml/2006/main">
              <a:ext uri="{FF2B5EF4-FFF2-40B4-BE49-F238E27FC236}">
                <a16:creationId xmlns:a16="http://schemas.microsoft.com/office/drawing/2014/main" id="{D5BCA0D6-4F17-4450-99AF-9172928A2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562225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14" name="text-0020">
            <a:extLst xmlns:a="http://schemas.openxmlformats.org/drawingml/2006/main">
              <a:ext uri="{FF2B5EF4-FFF2-40B4-BE49-F238E27FC236}">
                <a16:creationId xmlns:a16="http://schemas.microsoft.com/office/drawing/2014/main" id="{AADECF52-04ED-4C3C-8923-C2DA8DB6B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571750"/>
            <a:ext cx="4533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第一次接触 RK3588</a:t>
            </a:r>
          </a:p>
        </p:txBody>
      </p:sp>
      <p:sp>
        <p:nvSpPr>
          <p:cNvPr id="15" name="text-0021">
            <a:extLst xmlns:a="http://schemas.openxmlformats.org/drawingml/2006/main">
              <a:ext uri="{FF2B5EF4-FFF2-40B4-BE49-F238E27FC236}">
                <a16:creationId xmlns:a16="http://schemas.microsoft.com/office/drawing/2014/main" id="{7C40854E-03FE-45FB-9F6A-8F8461CDD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905125"/>
            <a:ext cx="4533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还不熟悉板端 Linux 与 NPU 环境</a:t>
            </a:r>
          </a:p>
        </p:txBody>
      </p:sp>
      <p:sp>
        <p:nvSpPr>
          <p:cNvPr id="16" name="shape-0022">
            <a:extLst xmlns:a="http://schemas.openxmlformats.org/drawingml/2006/main">
              <a:ext uri="{FF2B5EF4-FFF2-40B4-BE49-F238E27FC236}">
                <a16:creationId xmlns:a16="http://schemas.microsoft.com/office/drawing/2014/main" id="{62A6A1EA-D223-437C-B99D-3842750ED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5433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ext-0023">
            <a:extLst xmlns:a="http://schemas.openxmlformats.org/drawingml/2006/main">
              <a:ext uri="{FF2B5EF4-FFF2-40B4-BE49-F238E27FC236}">
                <a16:creationId xmlns:a16="http://schemas.microsoft.com/office/drawing/2014/main" id="{26F1ADF4-716E-4E17-A119-F749F4A71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514725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18" name="text-0024">
            <a:extLst xmlns:a="http://schemas.openxmlformats.org/drawingml/2006/main">
              <a:ext uri="{FF2B5EF4-FFF2-40B4-BE49-F238E27FC236}">
                <a16:creationId xmlns:a16="http://schemas.microsoft.com/office/drawing/2014/main" id="{833FE7EA-302A-4351-863A-36D36D056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524250"/>
            <a:ext cx="4533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第一次接触 MAVLink</a:t>
            </a:r>
          </a:p>
        </p:txBody>
      </p:sp>
      <p:sp>
        <p:nvSpPr>
          <p:cNvPr id="19" name="text-0025">
            <a:extLst xmlns:a="http://schemas.openxmlformats.org/drawingml/2006/main">
              <a:ext uri="{FF2B5EF4-FFF2-40B4-BE49-F238E27FC236}">
                <a16:creationId xmlns:a16="http://schemas.microsoft.com/office/drawing/2014/main" id="{647CB832-AC0A-4504-B9C4-69B7E51BE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857625"/>
            <a:ext cx="4533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需要理解机载计算机怎样连接飞控</a:t>
            </a:r>
          </a:p>
        </p:txBody>
      </p:sp>
      <p:sp>
        <p:nvSpPr>
          <p:cNvPr id="20" name="shape-0026">
            <a:extLst xmlns:a="http://schemas.openxmlformats.org/drawingml/2006/main">
              <a:ext uri="{FF2B5EF4-FFF2-40B4-BE49-F238E27FC236}">
                <a16:creationId xmlns:a16="http://schemas.microsoft.com/office/drawing/2014/main" id="{DA4338A7-3B44-463E-89C2-FABDA92B3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4958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-0027">
            <a:extLst xmlns:a="http://schemas.openxmlformats.org/drawingml/2006/main">
              <a:ext uri="{FF2B5EF4-FFF2-40B4-BE49-F238E27FC236}">
                <a16:creationId xmlns:a16="http://schemas.microsoft.com/office/drawing/2014/main" id="{3D4362B5-5E1A-426B-9E8A-97D47DACD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467225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22" name="text-0028">
            <a:extLst xmlns:a="http://schemas.openxmlformats.org/drawingml/2006/main">
              <a:ext uri="{FF2B5EF4-FFF2-40B4-BE49-F238E27FC236}">
                <a16:creationId xmlns:a16="http://schemas.microsoft.com/office/drawing/2014/main" id="{14FAD2B4-38D7-43EC-95BF-DC5B099A9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476750"/>
            <a:ext cx="4533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第一次做自主无人机</a:t>
            </a:r>
          </a:p>
        </p:txBody>
      </p:sp>
      <p:sp>
        <p:nvSpPr>
          <p:cNvPr id="23" name="text-0029">
            <a:extLst xmlns:a="http://schemas.openxmlformats.org/drawingml/2006/main">
              <a:ext uri="{FF2B5EF4-FFF2-40B4-BE49-F238E27FC236}">
                <a16:creationId xmlns:a16="http://schemas.microsoft.com/office/drawing/2014/main" id="{0AC4F1BB-26B8-440A-9455-C89447C58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810125"/>
            <a:ext cx="4533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希望从仿真逐步走到实飞</a:t>
            </a:r>
          </a:p>
        </p:txBody>
      </p:sp>
    </p:spTree>
    <p:extLst>
      <p:ext uri="{BB962C8B-B14F-4D97-AF65-F5344CB8AC3E}">
        <p14:creationId xmlns:p14="http://schemas.microsoft.com/office/powerpoint/2010/main" val="198083882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ext-0030">
            <a:extLst xmlns:a="http://schemas.openxmlformats.org/drawingml/2006/main">
              <a:ext uri="{FF2B5EF4-FFF2-40B4-BE49-F238E27FC236}">
                <a16:creationId xmlns:a16="http://schemas.microsoft.com/office/drawing/2014/main" id="{949BF980-0470-434A-A2E5-637B47A19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为什么开源</a:t>
            </a:r>
          </a:p>
        </p:txBody>
      </p:sp>
      <p:sp>
        <p:nvSpPr>
          <p:cNvPr id="2" name="text-0031">
            <a:extLst xmlns:a="http://schemas.openxmlformats.org/drawingml/2006/main">
              <a:ext uri="{FF2B5EF4-FFF2-40B4-BE49-F238E27FC236}">
                <a16:creationId xmlns:a16="http://schemas.microsoft.com/office/drawing/2014/main" id="{D14089B1-8EA2-489C-A269-213CCB7D2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真正困难的不是单个技术，而是把它们接起来</a:t>
            </a:r>
          </a:p>
        </p:txBody>
      </p:sp>
      <p:sp>
        <p:nvSpPr>
          <p:cNvPr id="3" name="shape-0032">
            <a:extLst xmlns:a="http://schemas.openxmlformats.org/drawingml/2006/main">
              <a:ext uri="{FF2B5EF4-FFF2-40B4-BE49-F238E27FC236}">
                <a16:creationId xmlns:a16="http://schemas.microsoft.com/office/drawing/2014/main" id="{A53806D2-F92D-4165-82F0-482F0FC19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0033">
            <a:extLst xmlns:a="http://schemas.openxmlformats.org/drawingml/2006/main">
              <a:ext uri="{FF2B5EF4-FFF2-40B4-BE49-F238E27FC236}">
                <a16:creationId xmlns:a16="http://schemas.microsoft.com/office/drawing/2014/main" id="{21AE0250-2B3E-4483-A6AF-8B9E1B1C5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01 前言</a:t>
            </a:r>
          </a:p>
        </p:txBody>
      </p:sp>
      <p:sp>
        <p:nvSpPr>
          <p:cNvPr id="5" name="text-0034">
            <a:extLst xmlns:a="http://schemas.openxmlformats.org/drawingml/2006/main">
              <a:ext uri="{FF2B5EF4-FFF2-40B4-BE49-F238E27FC236}">
                <a16:creationId xmlns:a16="http://schemas.microsoft.com/office/drawing/2014/main" id="{16A09D47-E10C-4F38-8942-DD6E16F9D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198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6" name="text-0035">
            <a:extLst xmlns:a="http://schemas.openxmlformats.org/drawingml/2006/main">
              <a:ext uri="{FF2B5EF4-FFF2-40B4-BE49-F238E27FC236}">
                <a16:creationId xmlns:a16="http://schemas.microsoft.com/office/drawing/2014/main" id="{5AC6F218-A406-4C94-83DD-88CC046A4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3143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YOLO</a:t>
            </a:r>
          </a:p>
        </p:txBody>
      </p:sp>
      <p:sp>
        <p:nvSpPr>
          <p:cNvPr id="7" name="text-0036">
            <a:extLst xmlns:a="http://schemas.openxmlformats.org/drawingml/2006/main">
              <a:ext uri="{FF2B5EF4-FFF2-40B4-BE49-F238E27FC236}">
                <a16:creationId xmlns:a16="http://schemas.microsoft.com/office/drawing/2014/main" id="{9016E9D5-68E2-464D-80CF-D54F01D17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09850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看见目标</a:t>
            </a:r>
          </a:p>
        </p:txBody>
      </p:sp>
      <p:sp>
        <p:nvSpPr>
          <p:cNvPr id="8" name="shape-0037">
            <a:extLst xmlns:a="http://schemas.openxmlformats.org/drawingml/2006/main">
              <a:ext uri="{FF2B5EF4-FFF2-40B4-BE49-F238E27FC236}">
                <a16:creationId xmlns:a16="http://schemas.microsoft.com/office/drawing/2014/main" id="{E3B807C8-0056-49BE-9F45-65015EAF0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105150"/>
            <a:ext cx="2190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-0038">
            <a:extLst xmlns:a="http://schemas.openxmlformats.org/drawingml/2006/main">
              <a:ext uri="{FF2B5EF4-FFF2-40B4-BE49-F238E27FC236}">
                <a16:creationId xmlns:a16="http://schemas.microsoft.com/office/drawing/2014/main" id="{EA08634E-A99B-4833-92CF-B242C426C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847850"/>
            <a:ext cx="3143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MAVLink</a:t>
            </a:r>
          </a:p>
        </p:txBody>
      </p:sp>
      <p:sp>
        <p:nvSpPr>
          <p:cNvPr id="10" name="text-0039">
            <a:extLst xmlns:a="http://schemas.openxmlformats.org/drawingml/2006/main">
              <a:ext uri="{FF2B5EF4-FFF2-40B4-BE49-F238E27FC236}">
                <a16:creationId xmlns:a16="http://schemas.microsoft.com/office/drawing/2014/main" id="{F84A29A7-0D97-411B-BC0D-802ADAC76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609850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连接飞控</a:t>
            </a:r>
          </a:p>
        </p:txBody>
      </p:sp>
      <p:sp>
        <p:nvSpPr>
          <p:cNvPr id="11" name="shape-0040">
            <a:extLst xmlns:a="http://schemas.openxmlformats.org/drawingml/2006/main">
              <a:ext uri="{FF2B5EF4-FFF2-40B4-BE49-F238E27FC236}">
                <a16:creationId xmlns:a16="http://schemas.microsoft.com/office/drawing/2014/main" id="{7DF88951-7641-4A13-8E16-C0C42D566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105150"/>
            <a:ext cx="2190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-0041">
            <a:extLst xmlns:a="http://schemas.openxmlformats.org/drawingml/2006/main">
              <a:ext uri="{FF2B5EF4-FFF2-40B4-BE49-F238E27FC236}">
                <a16:creationId xmlns:a16="http://schemas.microsoft.com/office/drawing/2014/main" id="{7F121529-4DAB-4D11-B214-7A99A3B06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847850"/>
            <a:ext cx="3143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ArduPilot</a:t>
            </a:r>
          </a:p>
        </p:txBody>
      </p:sp>
      <p:sp>
        <p:nvSpPr>
          <p:cNvPr id="13" name="text-0042">
            <a:extLst xmlns:a="http://schemas.openxmlformats.org/drawingml/2006/main">
              <a:ext uri="{FF2B5EF4-FFF2-40B4-BE49-F238E27FC236}">
                <a16:creationId xmlns:a16="http://schemas.microsoft.com/office/drawing/2014/main" id="{58469544-159C-46DF-A499-061D7F96E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609850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执行飞行</a:t>
            </a:r>
          </a:p>
        </p:txBody>
      </p:sp>
      <p:sp>
        <p:nvSpPr>
          <p:cNvPr id="14" name="shape-0043">
            <a:extLst xmlns:a="http://schemas.openxmlformats.org/drawingml/2006/main">
              <a:ext uri="{FF2B5EF4-FFF2-40B4-BE49-F238E27FC236}">
                <a16:creationId xmlns:a16="http://schemas.microsoft.com/office/drawing/2014/main" id="{084BE71F-B7DD-4354-B4B3-493CF2C9E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105150"/>
            <a:ext cx="2190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-0044">
            <a:extLst xmlns:a="http://schemas.openxmlformats.org/drawingml/2006/main">
              <a:ext uri="{FF2B5EF4-FFF2-40B4-BE49-F238E27FC236}">
                <a16:creationId xmlns:a16="http://schemas.microsoft.com/office/drawing/2014/main" id="{5B22D9A8-CEB9-4644-8CC3-647B9BC47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43300"/>
            <a:ext cx="10439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识别 → 定位 → 任务逻辑 → 自主执行 → 从 SITL 走到实飞</a:t>
            </a:r>
          </a:p>
        </p:txBody>
      </p:sp>
      <p:sp>
        <p:nvSpPr>
          <p:cNvPr id="16" name="shape-0045">
            <a:extLst xmlns:a="http://schemas.openxmlformats.org/drawingml/2006/main">
              <a:ext uri="{FF2B5EF4-FFF2-40B4-BE49-F238E27FC236}">
                <a16:creationId xmlns:a16="http://schemas.microsoft.com/office/drawing/2014/main" id="{B48800C5-864C-4597-8122-4BB69878A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33900"/>
            <a:ext cx="108204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text-0046">
            <a:extLst xmlns:a="http://schemas.openxmlformats.org/drawingml/2006/main">
              <a:ext uri="{FF2B5EF4-FFF2-40B4-BE49-F238E27FC236}">
                <a16:creationId xmlns:a16="http://schemas.microsoft.com/office/drawing/2014/main" id="{412167C8-3DB3-4F82-AF17-C65EDE6BC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781550"/>
            <a:ext cx="10134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有限时间、有限预算下，最值得保留下来的不是“完美答案”，</a:t>
            </a:r>
          </a:p>
          <a:p xmlns:a="http://schemas.openxmlformats.org/drawingml/2006/main">
            <a:pPr algn="ctr">
              <a:def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而是组件之间的接缝、验证顺序和真实踩坑。</a:t>
            </a:r>
          </a:p>
        </p:txBody>
      </p:sp>
    </p:spTree>
    <p:extLst>
      <p:ext uri="{BB962C8B-B14F-4D97-AF65-F5344CB8AC3E}">
        <p14:creationId xmlns:p14="http://schemas.microsoft.com/office/powerpoint/2010/main" val="153214656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text-0047">
            <a:extLst xmlns:a="http://schemas.openxmlformats.org/drawingml/2006/main">
              <a:ext uri="{FF2B5EF4-FFF2-40B4-BE49-F238E27FC236}">
                <a16:creationId xmlns:a16="http://schemas.microsoft.com/office/drawing/2014/main" id="{74C72B0F-1351-422D-9BDF-B5E930CE0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通信实践</a:t>
            </a:r>
          </a:p>
        </p:txBody>
      </p:sp>
      <p:sp>
        <p:nvSpPr>
          <p:cNvPr id="2" name="text-0048">
            <a:extLst xmlns:a="http://schemas.openxmlformats.org/drawingml/2006/main">
              <a:ext uri="{FF2B5EF4-FFF2-40B4-BE49-F238E27FC236}">
                <a16:creationId xmlns:a16="http://schemas.microsoft.com/office/drawing/2014/main" id="{758A96FC-BB4F-40B0-8B2C-C9F7D2F74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比赛通信方案可用，但不等于无限距离</a:t>
            </a:r>
          </a:p>
        </p:txBody>
      </p:sp>
      <p:sp>
        <p:nvSpPr>
          <p:cNvPr id="3" name="shape-0049">
            <a:extLst xmlns:a="http://schemas.openxmlformats.org/drawingml/2006/main">
              <a:ext uri="{FF2B5EF4-FFF2-40B4-BE49-F238E27FC236}">
                <a16:creationId xmlns:a16="http://schemas.microsoft.com/office/drawing/2014/main" id="{FC8A97E0-002D-4A69-AFEA-54163C758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0050">
            <a:extLst xmlns:a="http://schemas.openxmlformats.org/drawingml/2006/main">
              <a:ext uri="{FF2B5EF4-FFF2-40B4-BE49-F238E27FC236}">
                <a16:creationId xmlns:a16="http://schemas.microsoft.com/office/drawing/2014/main" id="{9640FEF4-BFC7-41A4-BF7B-21F1B73D8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01 前言</a:t>
            </a:r>
          </a:p>
        </p:txBody>
      </p:sp>
      <p:sp>
        <p:nvSpPr>
          <p:cNvPr id="5" name="text-0051">
            <a:extLst xmlns:a="http://schemas.openxmlformats.org/drawingml/2006/main">
              <a:ext uri="{FF2B5EF4-FFF2-40B4-BE49-F238E27FC236}">
                <a16:creationId xmlns:a16="http://schemas.microsoft.com/office/drawing/2014/main" id="{AA0CA9ED-D2FE-496C-8B1B-447A903B9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198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6" name="shape-0052">
            <a:extLst xmlns:a="http://schemas.openxmlformats.org/drawingml/2006/main">
              <a:ext uri="{FF2B5EF4-FFF2-40B4-BE49-F238E27FC236}">
                <a16:creationId xmlns:a16="http://schemas.microsoft.com/office/drawing/2014/main" id="{F9327F0F-BDAD-48F7-B66D-7A83DF394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028950"/>
            <a:ext cx="6858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-0053">
            <a:extLst xmlns:a="http://schemas.openxmlformats.org/drawingml/2006/main">
              <a:ext uri="{FF2B5EF4-FFF2-40B4-BE49-F238E27FC236}">
                <a16:creationId xmlns:a16="http://schemas.microsoft.com/office/drawing/2014/main" id="{6254E84E-8037-4DDA-B381-708082B84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552700"/>
            <a:ext cx="762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7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↔</a:t>
            </a:r>
          </a:p>
        </p:txBody>
      </p:sp>
      <p:sp>
        <p:nvSpPr>
          <p:cNvPr id="8" name="text-0054">
            <a:extLst xmlns:a="http://schemas.openxmlformats.org/drawingml/2006/main">
              <a:ext uri="{FF2B5EF4-FFF2-40B4-BE49-F238E27FC236}">
                <a16:creationId xmlns:a16="http://schemas.microsoft.com/office/drawing/2014/main" id="{927BF93E-441C-41E3-A83C-DF3095A78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552700"/>
            <a:ext cx="762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7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↔</a:t>
            </a:r>
          </a:p>
        </p:txBody>
      </p:sp>
      <p:sp>
        <p:nvSpPr>
          <p:cNvPr id="9" name="shape-0055">
            <a:extLst xmlns:a="http://schemas.openxmlformats.org/drawingml/2006/main">
              <a:ext uri="{FF2B5EF4-FFF2-40B4-BE49-F238E27FC236}">
                <a16:creationId xmlns:a16="http://schemas.microsoft.com/office/drawing/2014/main" id="{DD8362E1-5838-4A14-B4CF-33A3CAF68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257175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shape-0056">
            <a:extLst xmlns:a="http://schemas.openxmlformats.org/drawingml/2006/main">
              <a:ext uri="{FF2B5EF4-FFF2-40B4-BE49-F238E27FC236}">
                <a16:creationId xmlns:a16="http://schemas.microsoft.com/office/drawing/2014/main" id="{63D8D517-FCE5-4BBA-917E-8F4A1698C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133600"/>
            <a:ext cx="257175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1" name="shape-0057">
            <a:extLst xmlns:a="http://schemas.openxmlformats.org/drawingml/2006/main">
              <a:ext uri="{FF2B5EF4-FFF2-40B4-BE49-F238E27FC236}">
                <a16:creationId xmlns:a16="http://schemas.microsoft.com/office/drawing/2014/main" id="{E1D86A45-CF33-4525-BF54-1C8A12152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133600"/>
            <a:ext cx="257175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text-0058">
            <a:extLst xmlns:a="http://schemas.openxmlformats.org/drawingml/2006/main">
              <a:ext uri="{FF2B5EF4-FFF2-40B4-BE49-F238E27FC236}">
                <a16:creationId xmlns:a16="http://schemas.microsoft.com/office/drawing/2014/main" id="{72D294E4-0BA3-4934-A9B4-92867A48E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19350"/>
            <a:ext cx="2114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地面设备</a:t>
            </a:r>
          </a:p>
        </p:txBody>
      </p:sp>
      <p:sp>
        <p:nvSpPr>
          <p:cNvPr id="13" name="text-0059">
            <a:extLst xmlns:a="http://schemas.openxmlformats.org/drawingml/2006/main">
              <a:ext uri="{FF2B5EF4-FFF2-40B4-BE49-F238E27FC236}">
                <a16:creationId xmlns:a16="http://schemas.microsoft.com/office/drawing/2014/main" id="{59695475-F5D9-4929-B4D1-235891C95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48000"/>
            <a:ext cx="2114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Web UI</a:t>
            </a:r>
          </a:p>
          <a:p xmlns:a="http://schemas.openxmlformats.org/drawingml/2006/main">
            <a:pPr algn="ctr">
              <a:defRPr sz="150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手机视频辅助观察</a:t>
            </a:r>
          </a:p>
        </p:txBody>
      </p:sp>
      <p:sp>
        <p:nvSpPr>
          <p:cNvPr id="14" name="text-0060">
            <a:extLst xmlns:a="http://schemas.openxmlformats.org/drawingml/2006/main">
              <a:ext uri="{FF2B5EF4-FFF2-40B4-BE49-F238E27FC236}">
                <a16:creationId xmlns:a16="http://schemas.microsoft.com/office/drawing/2014/main" id="{BEC5F04D-479B-4540-AFBD-F0D85FC8D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343150"/>
            <a:ext cx="21145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互联网</a:t>
            </a:r>
          </a:p>
          <a:p xmlns:a="http://schemas.openxmlformats.org/drawingml/2006/main">
            <a:pPr algn="ctr">
              <a:defRPr sz="23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Tailscale</a:t>
            </a:r>
          </a:p>
        </p:txBody>
      </p:sp>
      <p:sp>
        <p:nvSpPr>
          <p:cNvPr id="15" name="text-0061">
            <a:extLst xmlns:a="http://schemas.openxmlformats.org/drawingml/2006/main">
              <a:ext uri="{FF2B5EF4-FFF2-40B4-BE49-F238E27FC236}">
                <a16:creationId xmlns:a16="http://schemas.microsoft.com/office/drawing/2014/main" id="{496BF9CD-5C21-4C11-82D0-AA86BA36A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257550"/>
            <a:ext cx="2114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双方都需可联网</a:t>
            </a:r>
          </a:p>
        </p:txBody>
      </p:sp>
      <p:sp>
        <p:nvSpPr>
          <p:cNvPr id="16" name="text-0062">
            <a:extLst xmlns:a="http://schemas.openxmlformats.org/drawingml/2006/main">
              <a:ext uri="{FF2B5EF4-FFF2-40B4-BE49-F238E27FC236}">
                <a16:creationId xmlns:a16="http://schemas.microsoft.com/office/drawing/2014/main" id="{81066221-358C-4659-A526-5B4D016A7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419350"/>
            <a:ext cx="2114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RK3588</a:t>
            </a:r>
          </a:p>
        </p:txBody>
      </p:sp>
      <p:sp>
        <p:nvSpPr>
          <p:cNvPr id="17" name="text-0063">
            <a:extLst xmlns:a="http://schemas.openxmlformats.org/drawingml/2006/main">
              <a:ext uri="{FF2B5EF4-FFF2-40B4-BE49-F238E27FC236}">
                <a16:creationId xmlns:a16="http://schemas.microsoft.com/office/drawing/2014/main" id="{FA8D6CE9-F1CD-4229-82E5-86F3771BC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048000"/>
            <a:ext cx="2114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机载手机热点</a:t>
            </a:r>
          </a:p>
          <a:p xmlns:a="http://schemas.openxmlformats.org/drawingml/2006/main">
            <a:pPr algn="ctr">
              <a:defRPr sz="150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提供网络</a:t>
            </a:r>
          </a:p>
        </p:txBody>
      </p:sp>
      <p:sp>
        <p:nvSpPr>
          <p:cNvPr id="18" name="shape-0064">
            <a:extLst xmlns:a="http://schemas.openxmlformats.org/drawingml/2006/main">
              <a:ext uri="{FF2B5EF4-FFF2-40B4-BE49-F238E27FC236}">
                <a16:creationId xmlns:a16="http://schemas.microsoft.com/office/drawing/2014/main" id="{0A25CCC8-B5A3-443C-88B2-B6ED37BAF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108204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ext-0065">
            <a:extLst xmlns:a="http://schemas.openxmlformats.org/drawingml/2006/main">
              <a:ext uri="{FF2B5EF4-FFF2-40B4-BE49-F238E27FC236}">
                <a16:creationId xmlns:a16="http://schemas.microsoft.com/office/drawing/2014/main" id="{83790955-7F4D-4C4F-BC11-D241E8C1A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724400"/>
            <a:ext cx="101727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这只是不再直接受普通局域网 Wi‑Fi 覆盖距离限制。</a:t>
            </a:r>
          </a:p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它不代表真正无限距离，也不能替代现场飞行安全措施。</a:t>
            </a:r>
          </a:p>
        </p:txBody>
      </p:sp>
    </p:spTree>
    <p:extLst>
      <p:ext uri="{BB962C8B-B14F-4D97-AF65-F5344CB8AC3E}">
        <p14:creationId xmlns:p14="http://schemas.microsoft.com/office/powerpoint/2010/main" val="52896624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text-0066">
            <a:extLst xmlns:a="http://schemas.openxmlformats.org/drawingml/2006/main">
              <a:ext uri="{FF2B5EF4-FFF2-40B4-BE49-F238E27FC236}">
                <a16:creationId xmlns:a16="http://schemas.microsoft.com/office/drawing/2014/main" id="{F7509F21-05D8-4422-AD6B-BBE50D047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当前状态</a:t>
            </a:r>
          </a:p>
        </p:txBody>
      </p:sp>
      <p:sp>
        <p:nvSpPr>
          <p:cNvPr id="2" name="text-0067">
            <a:extLst xmlns:a="http://schemas.openxmlformats.org/drawingml/2006/main">
              <a:ext uri="{FF2B5EF4-FFF2-40B4-BE49-F238E27FC236}">
                <a16:creationId xmlns:a16="http://schemas.microsoft.com/office/drawing/2014/main" id="{4C42BE82-6AD1-4EFC-8E7B-1CDD6560B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开源不是“成熟方案”，已知不足必须正视</a:t>
            </a:r>
          </a:p>
        </p:txBody>
      </p:sp>
      <p:sp>
        <p:nvSpPr>
          <p:cNvPr id="3" name="shape-0068">
            <a:extLst xmlns:a="http://schemas.openxmlformats.org/drawingml/2006/main">
              <a:ext uri="{FF2B5EF4-FFF2-40B4-BE49-F238E27FC236}">
                <a16:creationId xmlns:a16="http://schemas.microsoft.com/office/drawing/2014/main" id="{CFFD606C-9E0B-48F3-9061-4BC7C770D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0069">
            <a:extLst xmlns:a="http://schemas.openxmlformats.org/drawingml/2006/main">
              <a:ext uri="{FF2B5EF4-FFF2-40B4-BE49-F238E27FC236}">
                <a16:creationId xmlns:a16="http://schemas.microsoft.com/office/drawing/2014/main" id="{5F85B280-C671-4C2B-96B5-829FA3736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01 前言</a:t>
            </a:r>
          </a:p>
        </p:txBody>
      </p:sp>
      <p:sp>
        <p:nvSpPr>
          <p:cNvPr id="5" name="text-0070">
            <a:extLst xmlns:a="http://schemas.openxmlformats.org/drawingml/2006/main">
              <a:ext uri="{FF2B5EF4-FFF2-40B4-BE49-F238E27FC236}">
                <a16:creationId xmlns:a16="http://schemas.microsoft.com/office/drawing/2014/main" id="{3D9AD451-7B8F-44AC-9AEE-A34CB3EB1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198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6" name="text-0071">
            <a:extLst xmlns:a="http://schemas.openxmlformats.org/drawingml/2006/main">
              <a:ext uri="{FF2B5EF4-FFF2-40B4-BE49-F238E27FC236}">
                <a16:creationId xmlns:a16="http://schemas.microsoft.com/office/drawing/2014/main" id="{21767C76-1F21-4721-BEDA-8DA5F7A71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text-0072">
            <a:extLst xmlns:a="http://schemas.openxmlformats.org/drawingml/2006/main">
              <a:ext uri="{FF2B5EF4-FFF2-40B4-BE49-F238E27FC236}">
                <a16:creationId xmlns:a16="http://schemas.microsoft.com/office/drawing/2014/main" id="{8B13573F-F112-4A51-AB0F-0EE522DA6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1733550"/>
            <a:ext cx="3733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侦察 YOLO 效果仍一般</a:t>
            </a:r>
          </a:p>
        </p:txBody>
      </p:sp>
      <p:sp>
        <p:nvSpPr>
          <p:cNvPr id="8" name="text-0073">
            <a:extLst xmlns:a="http://schemas.openxmlformats.org/drawingml/2006/main">
              <a:ext uri="{FF2B5EF4-FFF2-40B4-BE49-F238E27FC236}">
                <a16:creationId xmlns:a16="http://schemas.microsoft.com/office/drawing/2014/main" id="{A804ADFF-2A5C-441B-9D20-9F5FFB1D1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752600"/>
            <a:ext cx="561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数据集数量有限，识别能力还有提升空间。</a:t>
            </a:r>
          </a:p>
        </p:txBody>
      </p:sp>
      <p:sp>
        <p:nvSpPr>
          <p:cNvPr id="9" name="shape-0074">
            <a:extLst xmlns:a="http://schemas.openxmlformats.org/drawingml/2006/main">
              <a:ext uri="{FF2B5EF4-FFF2-40B4-BE49-F238E27FC236}">
                <a16:creationId xmlns:a16="http://schemas.microsoft.com/office/drawing/2014/main" id="{9F0F9043-0A31-4F79-A2C4-CB1F4DD3C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10458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-0075">
            <a:extLst xmlns:a="http://schemas.openxmlformats.org/drawingml/2006/main">
              <a:ext uri="{FF2B5EF4-FFF2-40B4-BE49-F238E27FC236}">
                <a16:creationId xmlns:a16="http://schemas.microsoft.com/office/drawing/2014/main" id="{BDC71284-EBF9-4A78-85C3-8202C3DCA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1" name="text-0076">
            <a:extLst xmlns:a="http://schemas.openxmlformats.org/drawingml/2006/main">
              <a:ext uri="{FF2B5EF4-FFF2-40B4-BE49-F238E27FC236}">
                <a16:creationId xmlns:a16="http://schemas.microsoft.com/office/drawing/2014/main" id="{69007E5F-4A98-4FCD-8DEB-AB413E6CF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686050"/>
            <a:ext cx="3733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下视相机画质普通</a:t>
            </a:r>
          </a:p>
        </p:txBody>
      </p:sp>
      <p:sp>
        <p:nvSpPr>
          <p:cNvPr id="12" name="text-0077">
            <a:extLst xmlns:a="http://schemas.openxmlformats.org/drawingml/2006/main">
              <a:ext uri="{FF2B5EF4-FFF2-40B4-BE49-F238E27FC236}">
                <a16:creationId xmlns:a16="http://schemas.microsoft.com/office/drawing/2014/main" id="{9DE9274B-3A54-4525-A7BF-69DD2AB32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705100"/>
            <a:ext cx="561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视觉输入质量限制了部分侦察效果。</a:t>
            </a:r>
          </a:p>
        </p:txBody>
      </p:sp>
      <p:sp>
        <p:nvSpPr>
          <p:cNvPr id="13" name="shape-0078">
            <a:extLst xmlns:a="http://schemas.openxmlformats.org/drawingml/2006/main">
              <a:ext uri="{FF2B5EF4-FFF2-40B4-BE49-F238E27FC236}">
                <a16:creationId xmlns:a16="http://schemas.microsoft.com/office/drawing/2014/main" id="{80CEC53D-85CD-4957-B795-154658B56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10458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-0079">
            <a:extLst xmlns:a="http://schemas.openxmlformats.org/drawingml/2006/main">
              <a:ext uri="{FF2B5EF4-FFF2-40B4-BE49-F238E27FC236}">
                <a16:creationId xmlns:a16="http://schemas.microsoft.com/office/drawing/2014/main" id="{2499E703-ED87-4859-8CE9-CE50DE926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5" name="text-0080">
            <a:extLst xmlns:a="http://schemas.openxmlformats.org/drawingml/2006/main">
              <a:ext uri="{FF2B5EF4-FFF2-40B4-BE49-F238E27FC236}">
                <a16:creationId xmlns:a16="http://schemas.microsoft.com/office/drawing/2014/main" id="{6554A968-2CE9-4050-8507-1FD30FC8F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638550"/>
            <a:ext cx="3733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部分逻辑面向 CUADC</a:t>
            </a:r>
          </a:p>
        </p:txBody>
      </p:sp>
      <p:sp>
        <p:nvSpPr>
          <p:cNvPr id="16" name="text-0081">
            <a:extLst xmlns:a="http://schemas.openxmlformats.org/drawingml/2006/main">
              <a:ext uri="{FF2B5EF4-FFF2-40B4-BE49-F238E27FC236}">
                <a16:creationId xmlns:a16="http://schemas.microsoft.com/office/drawing/2014/main" id="{F896B319-5742-4C98-A811-DAEF10984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657600"/>
            <a:ext cx="561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参数和任务流程不能直接套用到所有飞机与场地。</a:t>
            </a:r>
          </a:p>
        </p:txBody>
      </p:sp>
      <p:sp>
        <p:nvSpPr>
          <p:cNvPr id="17" name="shape-0082">
            <a:extLst xmlns:a="http://schemas.openxmlformats.org/drawingml/2006/main">
              <a:ext uri="{FF2B5EF4-FFF2-40B4-BE49-F238E27FC236}">
                <a16:creationId xmlns:a16="http://schemas.microsoft.com/office/drawing/2014/main" id="{C7027EFD-7EB4-46A1-8F46-3E3494029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10458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-0083">
            <a:extLst xmlns:a="http://schemas.openxmlformats.org/drawingml/2006/main">
              <a:ext uri="{FF2B5EF4-FFF2-40B4-BE49-F238E27FC236}">
                <a16:creationId xmlns:a16="http://schemas.microsoft.com/office/drawing/2014/main" id="{338326FD-0B82-44F4-981C-F68CC76AF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91050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9" name="text-0084">
            <a:extLst xmlns:a="http://schemas.openxmlformats.org/drawingml/2006/main">
              <a:ext uri="{FF2B5EF4-FFF2-40B4-BE49-F238E27FC236}">
                <a16:creationId xmlns:a16="http://schemas.microsoft.com/office/drawing/2014/main" id="{EB5F304D-CE92-4C5E-BE53-40F1B7DED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591050"/>
            <a:ext cx="3733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工程质量仍需改进</a:t>
            </a:r>
          </a:p>
        </p:txBody>
      </p:sp>
      <p:sp>
        <p:nvSpPr>
          <p:cNvPr id="20" name="text-0085">
            <a:extLst xmlns:a="http://schemas.openxmlformats.org/drawingml/2006/main">
              <a:ext uri="{FF2B5EF4-FFF2-40B4-BE49-F238E27FC236}">
                <a16:creationId xmlns:a16="http://schemas.microsoft.com/office/drawing/2014/main" id="{2A6C69CD-63E9-463D-BC53-1D80D5AF1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610100"/>
            <a:ext cx="561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测试、异常处理和代码结构还有较大完善空间。</a:t>
            </a:r>
          </a:p>
        </p:txBody>
      </p:sp>
      <p:sp>
        <p:nvSpPr>
          <p:cNvPr id="21" name="shape-0086">
            <a:extLst xmlns:a="http://schemas.openxmlformats.org/drawingml/2006/main">
              <a:ext uri="{FF2B5EF4-FFF2-40B4-BE49-F238E27FC236}">
                <a16:creationId xmlns:a16="http://schemas.microsoft.com/office/drawing/2014/main" id="{CEF5C8C0-233B-4859-8594-CE37C72F6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0"/>
            <a:ext cx="10458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shape-0087">
            <a:extLst xmlns:a="http://schemas.openxmlformats.org/drawingml/2006/main">
              <a:ext uri="{FF2B5EF4-FFF2-40B4-BE49-F238E27FC236}">
                <a16:creationId xmlns:a16="http://schemas.microsoft.com/office/drawing/2014/main" id="{9741377E-08C9-456B-9C4D-C3B2A6E18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62600"/>
            <a:ext cx="104584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text-0088">
            <a:extLst xmlns:a="http://schemas.openxmlformats.org/drawingml/2006/main">
              <a:ext uri="{FF2B5EF4-FFF2-40B4-BE49-F238E27FC236}">
                <a16:creationId xmlns:a16="http://schemas.microsoft.com/office/drawing/2014/main" id="{181F366A-CFEF-4B01-B22B-C74D68C78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638800"/>
            <a:ext cx="10039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项目的定位：一个可参考、可复现、可继续修改的起点。</a:t>
            </a:r>
          </a:p>
        </p:txBody>
      </p:sp>
    </p:spTree>
    <p:extLst>
      <p:ext uri="{BB962C8B-B14F-4D97-AF65-F5344CB8AC3E}">
        <p14:creationId xmlns:p14="http://schemas.microsoft.com/office/powerpoint/2010/main" val="194398039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text-0089">
            <a:extLst xmlns:a="http://schemas.openxmlformats.org/drawingml/2006/main">
              <a:ext uri="{FF2B5EF4-FFF2-40B4-BE49-F238E27FC236}">
                <a16:creationId xmlns:a16="http://schemas.microsoft.com/office/drawing/2014/main" id="{7B7E99AC-D5F6-4CC2-9128-C0375A6C9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任务目标</a:t>
            </a:r>
          </a:p>
        </p:txBody>
      </p:sp>
      <p:sp>
        <p:nvSpPr>
          <p:cNvPr id="2" name="text-0090">
            <a:extLst xmlns:a="http://schemas.openxmlformats.org/drawingml/2006/main">
              <a:ext uri="{FF2B5EF4-FFF2-40B4-BE49-F238E27FC236}">
                <a16:creationId xmlns:a16="http://schemas.microsoft.com/office/drawing/2014/main" id="{54A0855B-FBDA-4481-B8E6-66A3340BD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完整任务从场地初始化走到视觉辅助降落</a:t>
            </a:r>
          </a:p>
        </p:txBody>
      </p:sp>
      <p:sp>
        <p:nvSpPr>
          <p:cNvPr id="3" name="shape-0091">
            <a:extLst xmlns:a="http://schemas.openxmlformats.org/drawingml/2006/main">
              <a:ext uri="{FF2B5EF4-FFF2-40B4-BE49-F238E27FC236}">
                <a16:creationId xmlns:a16="http://schemas.microsoft.com/office/drawing/2014/main" id="{28497608-4FDE-4BCB-9291-E02AF47CB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0092">
            <a:extLst xmlns:a="http://schemas.openxmlformats.org/drawingml/2006/main">
              <a:ext uri="{FF2B5EF4-FFF2-40B4-BE49-F238E27FC236}">
                <a16:creationId xmlns:a16="http://schemas.microsoft.com/office/drawing/2014/main" id="{D46DEEF8-9FA7-4F89-A4D0-745C128CF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01 前言</a:t>
            </a:r>
          </a:p>
        </p:txBody>
      </p:sp>
      <p:sp>
        <p:nvSpPr>
          <p:cNvPr id="5" name="text-0093">
            <a:extLst xmlns:a="http://schemas.openxmlformats.org/drawingml/2006/main">
              <a:ext uri="{FF2B5EF4-FFF2-40B4-BE49-F238E27FC236}">
                <a16:creationId xmlns:a16="http://schemas.microsoft.com/office/drawing/2014/main" id="{033BD4E7-9966-460E-ABB6-7C4DC6239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198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6" name="text-0094">
            <a:extLst xmlns:a="http://schemas.openxmlformats.org/drawingml/2006/main">
              <a:ext uri="{FF2B5EF4-FFF2-40B4-BE49-F238E27FC236}">
                <a16:creationId xmlns:a16="http://schemas.microsoft.com/office/drawing/2014/main" id="{0C5303B5-9852-497F-A785-9471C1F9E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533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text-0095">
            <a:extLst xmlns:a="http://schemas.openxmlformats.org/drawingml/2006/main">
              <a:ext uri="{FF2B5EF4-FFF2-40B4-BE49-F238E27FC236}">
                <a16:creationId xmlns:a16="http://schemas.microsoft.com/office/drawing/2014/main" id="{1710A230-2F08-4C00-90AC-E8E500A07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752600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比赛场地初始化</a:t>
            </a:r>
          </a:p>
        </p:txBody>
      </p:sp>
      <p:sp>
        <p:nvSpPr>
          <p:cNvPr id="8" name="text-0096">
            <a:extLst xmlns:a="http://schemas.openxmlformats.org/drawingml/2006/main">
              <a:ext uri="{FF2B5EF4-FFF2-40B4-BE49-F238E27FC236}">
                <a16:creationId xmlns:a16="http://schemas.microsoft.com/office/drawing/2014/main" id="{EA082865-CE4C-43A2-8AFA-4FD18AA88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533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9" name="text-0097">
            <a:extLst xmlns:a="http://schemas.openxmlformats.org/drawingml/2006/main">
              <a:ext uri="{FF2B5EF4-FFF2-40B4-BE49-F238E27FC236}">
                <a16:creationId xmlns:a16="http://schemas.microsoft.com/office/drawing/2014/main" id="{DDC517D1-79E2-47A8-ADCB-BAC992A4C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476500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起飞</a:t>
            </a:r>
          </a:p>
        </p:txBody>
      </p:sp>
      <p:sp>
        <p:nvSpPr>
          <p:cNvPr id="10" name="text-0098">
            <a:extLst xmlns:a="http://schemas.openxmlformats.org/drawingml/2006/main">
              <a:ext uri="{FF2B5EF4-FFF2-40B4-BE49-F238E27FC236}">
                <a16:creationId xmlns:a16="http://schemas.microsoft.com/office/drawing/2014/main" id="{83085CE8-497A-4248-AFDF-0DBBCE71E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00400"/>
            <a:ext cx="533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1" name="text-0099">
            <a:extLst xmlns:a="http://schemas.openxmlformats.org/drawingml/2006/main">
              <a:ext uri="{FF2B5EF4-FFF2-40B4-BE49-F238E27FC236}">
                <a16:creationId xmlns:a16="http://schemas.microsoft.com/office/drawing/2014/main" id="{2CDB6E97-B6B0-43BC-A65C-119476C5B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200400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投放区多视角识别与定位</a:t>
            </a:r>
          </a:p>
        </p:txBody>
      </p:sp>
      <p:sp>
        <p:nvSpPr>
          <p:cNvPr id="12" name="text-0100">
            <a:extLst xmlns:a="http://schemas.openxmlformats.org/drawingml/2006/main">
              <a:ext uri="{FF2B5EF4-FFF2-40B4-BE49-F238E27FC236}">
                <a16:creationId xmlns:a16="http://schemas.microsoft.com/office/drawing/2014/main" id="{A7F03749-47DA-4B64-94AE-F891237E9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24300"/>
            <a:ext cx="533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3" name="text-0101">
            <a:extLst xmlns:a="http://schemas.openxmlformats.org/drawingml/2006/main">
              <a:ext uri="{FF2B5EF4-FFF2-40B4-BE49-F238E27FC236}">
                <a16:creationId xmlns:a16="http://schemas.microsoft.com/office/drawing/2014/main" id="{05B24612-512B-4E93-B5FB-5E586638A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924300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选择两个目标并依次投放</a:t>
            </a:r>
          </a:p>
        </p:txBody>
      </p:sp>
      <p:sp>
        <p:nvSpPr>
          <p:cNvPr id="14" name="shape-0102">
            <a:extLst xmlns:a="http://schemas.openxmlformats.org/drawingml/2006/main">
              <a:ext uri="{FF2B5EF4-FFF2-40B4-BE49-F238E27FC236}">
                <a16:creationId xmlns:a16="http://schemas.microsoft.com/office/drawing/2014/main" id="{7C747074-EFD3-4E4B-9CD1-7BDDE6CE9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714500"/>
            <a:ext cx="14288" cy="3086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-0103">
            <a:extLst xmlns:a="http://schemas.openxmlformats.org/drawingml/2006/main">
              <a:ext uri="{FF2B5EF4-FFF2-40B4-BE49-F238E27FC236}">
                <a16:creationId xmlns:a16="http://schemas.microsoft.com/office/drawing/2014/main" id="{C9D7328C-ABDC-4B55-A10E-0182EFC70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752600"/>
            <a:ext cx="533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16" name="text-0104">
            <a:extLst xmlns:a="http://schemas.openxmlformats.org/drawingml/2006/main">
              <a:ext uri="{FF2B5EF4-FFF2-40B4-BE49-F238E27FC236}">
                <a16:creationId xmlns:a16="http://schemas.microsoft.com/office/drawing/2014/main" id="{4CAACB8E-4239-42C5-9A3A-ABAE9094C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752600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侦察区识别危险标识</a:t>
            </a:r>
          </a:p>
        </p:txBody>
      </p:sp>
      <p:sp>
        <p:nvSpPr>
          <p:cNvPr id="17" name="text-0105">
            <a:extLst xmlns:a="http://schemas.openxmlformats.org/drawingml/2006/main">
              <a:ext uri="{FF2B5EF4-FFF2-40B4-BE49-F238E27FC236}">
                <a16:creationId xmlns:a16="http://schemas.microsoft.com/office/drawing/2014/main" id="{8A48EF69-CCED-4034-9AA0-0D3A864CF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476500"/>
            <a:ext cx="533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18" name="text-0106">
            <a:extLst xmlns:a="http://schemas.openxmlformats.org/drawingml/2006/main">
              <a:ext uri="{FF2B5EF4-FFF2-40B4-BE49-F238E27FC236}">
                <a16:creationId xmlns:a16="http://schemas.microsoft.com/office/drawing/2014/main" id="{FC605DB6-5B03-4832-B620-2E7BC065E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476500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生成侦察结果</a:t>
            </a:r>
          </a:p>
        </p:txBody>
      </p:sp>
      <p:sp>
        <p:nvSpPr>
          <p:cNvPr id="19" name="text-0107">
            <a:extLst xmlns:a="http://schemas.openxmlformats.org/drawingml/2006/main">
              <a:ext uri="{FF2B5EF4-FFF2-40B4-BE49-F238E27FC236}">
                <a16:creationId xmlns:a16="http://schemas.microsoft.com/office/drawing/2014/main" id="{71884EB4-F99F-437C-80C4-6ECD54B0F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200400"/>
            <a:ext cx="533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20" name="text-0108">
            <a:extLst xmlns:a="http://schemas.openxmlformats.org/drawingml/2006/main">
              <a:ext uri="{FF2B5EF4-FFF2-40B4-BE49-F238E27FC236}">
                <a16:creationId xmlns:a16="http://schemas.microsoft.com/office/drawing/2014/main" id="{37F655D2-8641-4D3C-BF3E-F629555D4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200400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返回起飞点</a:t>
            </a:r>
          </a:p>
        </p:txBody>
      </p:sp>
      <p:sp>
        <p:nvSpPr>
          <p:cNvPr id="21" name="text-0109">
            <a:extLst xmlns:a="http://schemas.openxmlformats.org/drawingml/2006/main">
              <a:ext uri="{FF2B5EF4-FFF2-40B4-BE49-F238E27FC236}">
                <a16:creationId xmlns:a16="http://schemas.microsoft.com/office/drawing/2014/main" id="{2F1E3072-D364-4683-8A0D-DF1F208D0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924300"/>
            <a:ext cx="533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22" name="text-0110">
            <a:extLst xmlns:a="http://schemas.openxmlformats.org/drawingml/2006/main">
              <a:ext uri="{FF2B5EF4-FFF2-40B4-BE49-F238E27FC236}">
                <a16:creationId xmlns:a16="http://schemas.microsoft.com/office/drawing/2014/main" id="{2696187E-3D8D-4CEF-9F5D-39572DAD5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924300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视觉辅助降落</a:t>
            </a:r>
          </a:p>
        </p:txBody>
      </p:sp>
      <p:sp>
        <p:nvSpPr>
          <p:cNvPr id="23" name="shape-0111">
            <a:extLst xmlns:a="http://schemas.openxmlformats.org/drawingml/2006/main">
              <a:ext uri="{FF2B5EF4-FFF2-40B4-BE49-F238E27FC236}">
                <a16:creationId xmlns:a16="http://schemas.microsoft.com/office/drawing/2014/main" id="{3835E569-3D25-4F0B-83B6-3F76388DE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14900"/>
            <a:ext cx="108204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4" name="text-0112">
            <a:extLst xmlns:a="http://schemas.openxmlformats.org/drawingml/2006/main">
              <a:ext uri="{FF2B5EF4-FFF2-40B4-BE49-F238E27FC236}">
                <a16:creationId xmlns:a16="http://schemas.microsoft.com/office/drawing/2014/main" id="{9CDF0065-15A5-411E-96CF-860A8D62C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244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正式模板</a:t>
            </a:r>
          </a:p>
        </p:txBody>
      </p:sp>
      <p:sp>
        <p:nvSpPr>
          <p:cNvPr id="25" name="text-0113">
            <a:extLst xmlns:a="http://schemas.openxmlformats.org/drawingml/2006/main">
              <a:ext uri="{FF2B5EF4-FFF2-40B4-BE49-F238E27FC236}">
                <a16:creationId xmlns:a16="http://schemas.microsoft.com/office/drawing/2014/main" id="{1E344CAD-0A7A-45A5-BD25-049F0F671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086350"/>
            <a:ext cx="8439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rPr sz="1650" b="1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config/action_missions/rescue_2026_full_auto_v2.json</a:t>
            </a:r>
          </a:p>
        </p:txBody>
      </p:sp>
      <p:sp>
        <p:nvSpPr>
          <p:cNvPr id="26" name="text-0114">
            <a:extLst xmlns:a="http://schemas.openxmlformats.org/drawingml/2006/main">
              <a:ext uri="{FF2B5EF4-FFF2-40B4-BE49-F238E27FC236}">
                <a16:creationId xmlns:a16="http://schemas.microsoft.com/office/drawing/2014/main" id="{5A790F44-7C16-4058-884F-C71262D23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43550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换飞机或换场地后，仍需重新完成 SITL、参数检查和分级实飞验证。</a:t>
            </a:r>
          </a:p>
        </p:txBody>
      </p:sp>
    </p:spTree>
    <p:extLst>
      <p:ext uri="{BB962C8B-B14F-4D97-AF65-F5344CB8AC3E}">
        <p14:creationId xmlns:p14="http://schemas.microsoft.com/office/powerpoint/2010/main" val="50277705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ext-0115">
            <a:extLst xmlns:a="http://schemas.openxmlformats.org/drawingml/2006/main">
              <a:ext uri="{FF2B5EF4-FFF2-40B4-BE49-F238E27FC236}">
                <a16:creationId xmlns:a16="http://schemas.microsoft.com/office/drawing/2014/main" id="{1834E5C2-AA05-41FF-B189-4EC9FC387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系统分工</a:t>
            </a:r>
          </a:p>
        </p:txBody>
      </p:sp>
      <p:sp>
        <p:nvSpPr>
          <p:cNvPr id="2" name="text-0116">
            <a:extLst xmlns:a="http://schemas.openxmlformats.org/drawingml/2006/main">
              <a:ext uri="{FF2B5EF4-FFF2-40B4-BE49-F238E27FC236}">
                <a16:creationId xmlns:a16="http://schemas.microsoft.com/office/drawing/2014/main" id="{68992BD7-5F69-4CAA-9CCB-93295DE25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飞控管稳定，RK3588 管感知与任务</a:t>
            </a:r>
          </a:p>
        </p:txBody>
      </p:sp>
      <p:sp>
        <p:nvSpPr>
          <p:cNvPr id="3" name="shape-0117">
            <a:extLst xmlns:a="http://schemas.openxmlformats.org/drawingml/2006/main">
              <a:ext uri="{FF2B5EF4-FFF2-40B4-BE49-F238E27FC236}">
                <a16:creationId xmlns:a16="http://schemas.microsoft.com/office/drawing/2014/main" id="{F790AF1A-D3EE-44FD-B63C-3CDFAEA39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0118">
            <a:extLst xmlns:a="http://schemas.openxmlformats.org/drawingml/2006/main">
              <a:ext uri="{FF2B5EF4-FFF2-40B4-BE49-F238E27FC236}">
                <a16:creationId xmlns:a16="http://schemas.microsoft.com/office/drawing/2014/main" id="{D484BFC3-66BF-4563-8D4E-D626DDD11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01 前言</a:t>
            </a:r>
          </a:p>
        </p:txBody>
      </p:sp>
      <p:sp>
        <p:nvSpPr>
          <p:cNvPr id="5" name="text-0119">
            <a:extLst xmlns:a="http://schemas.openxmlformats.org/drawingml/2006/main">
              <a:ext uri="{FF2B5EF4-FFF2-40B4-BE49-F238E27FC236}">
                <a16:creationId xmlns:a16="http://schemas.microsoft.com/office/drawing/2014/main" id="{035D50FD-635B-4C12-B929-8DA611F88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198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6" name="text-0120">
            <a:extLst xmlns:a="http://schemas.openxmlformats.org/drawingml/2006/main">
              <a:ext uri="{FF2B5EF4-FFF2-40B4-BE49-F238E27FC236}">
                <a16:creationId xmlns:a16="http://schemas.microsoft.com/office/drawing/2014/main" id="{7661B851-0E3E-4150-A99A-639A11A37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ArduPilot</a:t>
            </a:r>
          </a:p>
        </p:txBody>
      </p:sp>
      <p:sp>
        <p:nvSpPr>
          <p:cNvPr id="7" name="shape-0121">
            <a:extLst xmlns:a="http://schemas.openxmlformats.org/drawingml/2006/main">
              <a:ext uri="{FF2B5EF4-FFF2-40B4-BE49-F238E27FC236}">
                <a16:creationId xmlns:a16="http://schemas.microsoft.com/office/drawing/2014/main" id="{B14485F4-78E8-4A92-9B10-3B5501703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4600"/>
            <a:ext cx="27241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-0122">
            <a:extLst xmlns:a="http://schemas.openxmlformats.org/drawingml/2006/main">
              <a:ext uri="{FF2B5EF4-FFF2-40B4-BE49-F238E27FC236}">
                <a16:creationId xmlns:a16="http://schemas.microsoft.com/office/drawing/2014/main" id="{60604B33-6C75-445F-B241-E26E322D2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38450"/>
            <a:ext cx="3143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姿态稳定</a:t>
            </a:r>
          </a:p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电机输出</a:t>
            </a:r>
          </a:p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GPS 与高度状态</a:t>
            </a:r>
          </a:p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底层飞行控制</a:t>
            </a:r>
          </a:p>
        </p:txBody>
      </p:sp>
      <p:sp>
        <p:nvSpPr>
          <p:cNvPr id="9" name="shape-0123">
            <a:extLst xmlns:a="http://schemas.openxmlformats.org/drawingml/2006/main">
              <a:ext uri="{FF2B5EF4-FFF2-40B4-BE49-F238E27FC236}">
                <a16:creationId xmlns:a16="http://schemas.microsoft.com/office/drawing/2014/main" id="{48F9E7B1-9432-4C4C-9414-72BE19670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1809750"/>
            <a:ext cx="14288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-0124">
            <a:extLst xmlns:a="http://schemas.openxmlformats.org/drawingml/2006/main">
              <a:ext uri="{FF2B5EF4-FFF2-40B4-BE49-F238E27FC236}">
                <a16:creationId xmlns:a16="http://schemas.microsoft.com/office/drawing/2014/main" id="{58438E99-023B-4953-A3AA-E506B28F9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847850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yolo_app</a:t>
            </a:r>
          </a:p>
        </p:txBody>
      </p:sp>
      <p:sp>
        <p:nvSpPr>
          <p:cNvPr id="11" name="shape-0125">
            <a:extLst xmlns:a="http://schemas.openxmlformats.org/drawingml/2006/main">
              <a:ext uri="{FF2B5EF4-FFF2-40B4-BE49-F238E27FC236}">
                <a16:creationId xmlns:a16="http://schemas.microsoft.com/office/drawing/2014/main" id="{34D69F42-1431-4B9F-90D9-3FA30F983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514600"/>
            <a:ext cx="27241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-0126">
            <a:extLst xmlns:a="http://schemas.openxmlformats.org/drawingml/2006/main">
              <a:ext uri="{FF2B5EF4-FFF2-40B4-BE49-F238E27FC236}">
                <a16:creationId xmlns:a16="http://schemas.microsoft.com/office/drawing/2014/main" id="{6D244439-6BBE-49D3-A1E9-C29AB300D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838450"/>
            <a:ext cx="3143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读取下视相机</a:t>
            </a:r>
          </a:p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RKNNLite + NPU</a:t>
            </a:r>
          </a:p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目标检测与跟踪</a:t>
            </a:r>
          </a:p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不连接 MAVLink</a:t>
            </a:r>
          </a:p>
        </p:txBody>
      </p:sp>
      <p:sp>
        <p:nvSpPr>
          <p:cNvPr id="13" name="shape-0127">
            <a:extLst xmlns:a="http://schemas.openxmlformats.org/drawingml/2006/main">
              <a:ext uri="{FF2B5EF4-FFF2-40B4-BE49-F238E27FC236}">
                <a16:creationId xmlns:a16="http://schemas.microsoft.com/office/drawing/2014/main" id="{D2135271-71BC-4754-8BC6-92668B9CF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809750"/>
            <a:ext cx="14288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-0128">
            <a:extLst xmlns:a="http://schemas.openxmlformats.org/drawingml/2006/main">
              <a:ext uri="{FF2B5EF4-FFF2-40B4-BE49-F238E27FC236}">
                <a16:creationId xmlns:a16="http://schemas.microsoft.com/office/drawing/2014/main" id="{289B7389-A7AE-46F5-B4B6-AB0BE69B5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847850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app</a:t>
            </a:r>
          </a:p>
        </p:txBody>
      </p:sp>
      <p:sp>
        <p:nvSpPr>
          <p:cNvPr id="15" name="shape-0129">
            <a:extLst xmlns:a="http://schemas.openxmlformats.org/drawingml/2006/main">
              <a:ext uri="{FF2B5EF4-FFF2-40B4-BE49-F238E27FC236}">
                <a16:creationId xmlns:a16="http://schemas.microsoft.com/office/drawing/2014/main" id="{DC7785E5-53A8-4FCF-9CA8-06DC2BBC8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514600"/>
            <a:ext cx="27241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-0130">
            <a:extLst xmlns:a="http://schemas.openxmlformats.org/drawingml/2006/main">
              <a:ext uri="{FF2B5EF4-FFF2-40B4-BE49-F238E27FC236}">
                <a16:creationId xmlns:a16="http://schemas.microsoft.com/office/drawing/2014/main" id="{71F75031-818E-42C1-8834-2723FDE17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838450"/>
            <a:ext cx="3143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接收视觉与飞控状态</a:t>
            </a:r>
          </a:p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运行 Action Mission</a:t>
            </a:r>
          </a:p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提供 Web UI</a:t>
            </a:r>
          </a:p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发送高级任务请求</a:t>
            </a:r>
          </a:p>
        </p:txBody>
      </p:sp>
      <p:sp>
        <p:nvSpPr>
          <p:cNvPr id="17" name="shape-0131">
            <a:extLst xmlns:a="http://schemas.openxmlformats.org/drawingml/2006/main">
              <a:ext uri="{FF2B5EF4-FFF2-40B4-BE49-F238E27FC236}">
                <a16:creationId xmlns:a16="http://schemas.microsoft.com/office/drawing/2014/main" id="{7200E535-F698-43A1-AE59-B1DDD9490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0"/>
            <a:ext cx="108204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-0132">
            <a:extLst xmlns:a="http://schemas.openxmlformats.org/drawingml/2006/main">
              <a:ext uri="{FF2B5EF4-FFF2-40B4-BE49-F238E27FC236}">
                <a16:creationId xmlns:a16="http://schemas.microsoft.com/office/drawing/2014/main" id="{38DD1088-74A7-45AE-B023-530B544C8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53075"/>
            <a:ext cx="10363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关键边界：RK3588 不直接驱动电机，底层稳定始终由飞控负责。</a:t>
            </a:r>
          </a:p>
        </p:txBody>
      </p:sp>
    </p:spTree>
    <p:extLst>
      <p:ext uri="{BB962C8B-B14F-4D97-AF65-F5344CB8AC3E}">
        <p14:creationId xmlns:p14="http://schemas.microsoft.com/office/powerpoint/2010/main" val="66176782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text-0133">
            <a:extLst xmlns:a="http://schemas.openxmlformats.org/drawingml/2006/main">
              <a:ext uri="{FF2B5EF4-FFF2-40B4-BE49-F238E27FC236}">
                <a16:creationId xmlns:a16="http://schemas.microsoft.com/office/drawing/2014/main" id="{D84B809E-6B74-4885-A743-18D90B0F5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系统组成</a:t>
            </a:r>
          </a:p>
        </p:txBody>
      </p:sp>
      <p:sp>
        <p:nvSpPr>
          <p:cNvPr id="2" name="text-0134">
            <a:extLst xmlns:a="http://schemas.openxmlformats.org/drawingml/2006/main">
              <a:ext uri="{FF2B5EF4-FFF2-40B4-BE49-F238E27FC236}">
                <a16:creationId xmlns:a16="http://schemas.microsoft.com/office/drawing/2014/main" id="{8F14E2CD-E79D-4BA2-8153-636DB8B59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系统主链路：相机 → 视觉 → 任务 → 飞控</a:t>
            </a:r>
          </a:p>
        </p:txBody>
      </p:sp>
      <p:sp>
        <p:nvSpPr>
          <p:cNvPr id="3" name="shape-0135">
            <a:extLst xmlns:a="http://schemas.openxmlformats.org/drawingml/2006/main">
              <a:ext uri="{FF2B5EF4-FFF2-40B4-BE49-F238E27FC236}">
                <a16:creationId xmlns:a16="http://schemas.microsoft.com/office/drawing/2014/main" id="{B5863A77-3222-40BA-99EE-59024479D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0136">
            <a:extLst xmlns:a="http://schemas.openxmlformats.org/drawingml/2006/main">
              <a:ext uri="{FF2B5EF4-FFF2-40B4-BE49-F238E27FC236}">
                <a16:creationId xmlns:a16="http://schemas.microsoft.com/office/drawing/2014/main" id="{0DF5F9CF-83F6-4F19-82B2-EF33CF5E9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01 前言</a:t>
            </a:r>
          </a:p>
        </p:txBody>
      </p:sp>
      <p:sp>
        <p:nvSpPr>
          <p:cNvPr id="5" name="text-0137">
            <a:extLst xmlns:a="http://schemas.openxmlformats.org/drawingml/2006/main">
              <a:ext uri="{FF2B5EF4-FFF2-40B4-BE49-F238E27FC236}">
                <a16:creationId xmlns:a16="http://schemas.microsoft.com/office/drawing/2014/main" id="{37A4A84C-E9C9-44AD-AFC9-1D699254D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198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6" name="shape-0138">
            <a:extLst xmlns:a="http://schemas.openxmlformats.org/drawingml/2006/main">
              <a:ext uri="{FF2B5EF4-FFF2-40B4-BE49-F238E27FC236}">
                <a16:creationId xmlns:a16="http://schemas.microsoft.com/office/drawing/2014/main" id="{09357287-F94E-466D-AACC-34241AEA5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048000"/>
            <a:ext cx="8763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-0139">
            <a:extLst xmlns:a="http://schemas.openxmlformats.org/drawingml/2006/main">
              <a:ext uri="{FF2B5EF4-FFF2-40B4-BE49-F238E27FC236}">
                <a16:creationId xmlns:a16="http://schemas.microsoft.com/office/drawing/2014/main" id="{FB20A6A2-5143-467D-98F0-968B1D838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571750"/>
            <a:ext cx="609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8" name="text-0140">
            <a:extLst xmlns:a="http://schemas.openxmlformats.org/drawingml/2006/main">
              <a:ext uri="{FF2B5EF4-FFF2-40B4-BE49-F238E27FC236}">
                <a16:creationId xmlns:a16="http://schemas.microsoft.com/office/drawing/2014/main" id="{300D9D9F-3125-4304-8A68-24C014B7F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571750"/>
            <a:ext cx="609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9" name="text-0141">
            <a:extLst xmlns:a="http://schemas.openxmlformats.org/drawingml/2006/main">
              <a:ext uri="{FF2B5EF4-FFF2-40B4-BE49-F238E27FC236}">
                <a16:creationId xmlns:a16="http://schemas.microsoft.com/office/drawing/2014/main" id="{ED7B807A-B6D8-4FB0-B4D0-7E5F07DFB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571750"/>
            <a:ext cx="609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0" name="shape-0142">
            <a:extLst xmlns:a="http://schemas.openxmlformats.org/drawingml/2006/main">
              <a:ext uri="{FF2B5EF4-FFF2-40B4-BE49-F238E27FC236}">
                <a16:creationId xmlns:a16="http://schemas.microsoft.com/office/drawing/2014/main" id="{3AEF775A-9F52-4380-9425-58AFE0594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19300"/>
            <a:ext cx="2152650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text-0143">
            <a:extLst xmlns:a="http://schemas.openxmlformats.org/drawingml/2006/main">
              <a:ext uri="{FF2B5EF4-FFF2-40B4-BE49-F238E27FC236}">
                <a16:creationId xmlns:a16="http://schemas.microsoft.com/office/drawing/2014/main" id="{78A83981-71AD-4EF0-84DD-8A4570BC4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19350"/>
            <a:ext cx="1847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下视相机</a:t>
            </a:r>
          </a:p>
        </p:txBody>
      </p:sp>
      <p:sp>
        <p:nvSpPr>
          <p:cNvPr id="12" name="text-0144">
            <a:extLst xmlns:a="http://schemas.openxmlformats.org/drawingml/2006/main">
              <a:ext uri="{FF2B5EF4-FFF2-40B4-BE49-F238E27FC236}">
                <a16:creationId xmlns:a16="http://schemas.microsoft.com/office/drawing/2014/main" id="{85E168B1-628C-450E-A4B1-1D2453B17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86100"/>
            <a:ext cx="18478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视觉输入</a:t>
            </a:r>
          </a:p>
        </p:txBody>
      </p:sp>
      <p:sp>
        <p:nvSpPr>
          <p:cNvPr id="13" name="shape-0145">
            <a:extLst xmlns:a="http://schemas.openxmlformats.org/drawingml/2006/main">
              <a:ext uri="{FF2B5EF4-FFF2-40B4-BE49-F238E27FC236}">
                <a16:creationId xmlns:a16="http://schemas.microsoft.com/office/drawing/2014/main" id="{5672E99F-79AB-496D-AAF9-A79609740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019300"/>
            <a:ext cx="2152650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text-0146">
            <a:extLst xmlns:a="http://schemas.openxmlformats.org/drawingml/2006/main">
              <a:ext uri="{FF2B5EF4-FFF2-40B4-BE49-F238E27FC236}">
                <a16:creationId xmlns:a16="http://schemas.microsoft.com/office/drawing/2014/main" id="{450014DB-EC23-4DF5-8B40-9EADF4E2B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419350"/>
            <a:ext cx="1847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YOLO / RKNN</a:t>
            </a:r>
          </a:p>
        </p:txBody>
      </p:sp>
      <p:sp>
        <p:nvSpPr>
          <p:cNvPr id="15" name="text-0147">
            <a:extLst xmlns:a="http://schemas.openxmlformats.org/drawingml/2006/main">
              <a:ext uri="{FF2B5EF4-FFF2-40B4-BE49-F238E27FC236}">
                <a16:creationId xmlns:a16="http://schemas.microsoft.com/office/drawing/2014/main" id="{F038481A-6E2E-4C1A-82C1-8A23A0EE5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086100"/>
            <a:ext cx="18478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检测与跟踪</a:t>
            </a:r>
          </a:p>
        </p:txBody>
      </p:sp>
      <p:sp>
        <p:nvSpPr>
          <p:cNvPr id="16" name="shape-0148">
            <a:extLst xmlns:a="http://schemas.openxmlformats.org/drawingml/2006/main">
              <a:ext uri="{FF2B5EF4-FFF2-40B4-BE49-F238E27FC236}">
                <a16:creationId xmlns:a16="http://schemas.microsoft.com/office/drawing/2014/main" id="{C70971D8-9BD3-4B84-B812-FDB22A033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019300"/>
            <a:ext cx="2419350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7" name="text-0149">
            <a:extLst xmlns:a="http://schemas.openxmlformats.org/drawingml/2006/main">
              <a:ext uri="{FF2B5EF4-FFF2-40B4-BE49-F238E27FC236}">
                <a16:creationId xmlns:a16="http://schemas.microsoft.com/office/drawing/2014/main" id="{615D4DA4-FDC8-48FB-88FB-8A96F5D7F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19350"/>
            <a:ext cx="2114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RK3588 app</a:t>
            </a:r>
          </a:p>
        </p:txBody>
      </p:sp>
      <p:sp>
        <p:nvSpPr>
          <p:cNvPr id="18" name="text-0150">
            <a:extLst xmlns:a="http://schemas.openxmlformats.org/drawingml/2006/main">
              <a:ext uri="{FF2B5EF4-FFF2-40B4-BE49-F238E27FC236}">
                <a16:creationId xmlns:a16="http://schemas.microsoft.com/office/drawing/2014/main" id="{C65B197E-E8C5-4CA0-828E-090439CBD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086100"/>
            <a:ext cx="21145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Action Mission</a:t>
            </a:r>
          </a:p>
          <a:p xmlns:a="http://schemas.openxmlformats.org/drawingml/2006/main">
            <a:pPr algn="ctr">
              <a:defRPr sz="1575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Web UI</a:t>
            </a:r>
          </a:p>
        </p:txBody>
      </p:sp>
      <p:sp>
        <p:nvSpPr>
          <p:cNvPr id="19" name="shape-0151">
            <a:extLst xmlns:a="http://schemas.openxmlformats.org/drawingml/2006/main">
              <a:ext uri="{FF2B5EF4-FFF2-40B4-BE49-F238E27FC236}">
                <a16:creationId xmlns:a16="http://schemas.microsoft.com/office/drawing/2014/main" id="{CE62F93F-18D6-4AC6-809D-7A9150484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019300"/>
            <a:ext cx="2152650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0" name="text-0152">
            <a:extLst xmlns:a="http://schemas.openxmlformats.org/drawingml/2006/main">
              <a:ext uri="{FF2B5EF4-FFF2-40B4-BE49-F238E27FC236}">
                <a16:creationId xmlns:a16="http://schemas.microsoft.com/office/drawing/2014/main" id="{28DB2015-DFBD-4470-AEC0-7EBE31325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419350"/>
            <a:ext cx="1847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ArduPilot</a:t>
            </a:r>
          </a:p>
        </p:txBody>
      </p:sp>
      <p:sp>
        <p:nvSpPr>
          <p:cNvPr id="21" name="text-0153">
            <a:extLst xmlns:a="http://schemas.openxmlformats.org/drawingml/2006/main">
              <a:ext uri="{FF2B5EF4-FFF2-40B4-BE49-F238E27FC236}">
                <a16:creationId xmlns:a16="http://schemas.microsoft.com/office/drawing/2014/main" id="{908A6D51-F67E-4756-8BFA-8E1F3A02B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086100"/>
            <a:ext cx="18478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MAVLink</a:t>
            </a:r>
          </a:p>
          <a:p xmlns:a="http://schemas.openxmlformats.org/drawingml/2006/main">
            <a:pPr algn="ctr">
              <a:defRPr sz="1575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→ 无人机</a:t>
            </a:r>
          </a:p>
        </p:txBody>
      </p:sp>
      <p:sp>
        <p:nvSpPr>
          <p:cNvPr id="22" name="text-0154">
            <a:extLst xmlns:a="http://schemas.openxmlformats.org/drawingml/2006/main">
              <a:ext uri="{FF2B5EF4-FFF2-40B4-BE49-F238E27FC236}">
                <a16:creationId xmlns:a16="http://schemas.microsoft.com/office/drawing/2014/main" id="{BE78A9FF-D863-4AEC-8D3E-2D59886F4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24400"/>
            <a:ext cx="10439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用户主要通过 Web UI 查看状态和运行任务；RK3588 与飞控通过 MAVLink 通信。</a:t>
            </a:r>
          </a:p>
        </p:txBody>
      </p:sp>
      <p:sp>
        <p:nvSpPr>
          <p:cNvPr id="23" name="shape-0155">
            <a:extLst xmlns:a="http://schemas.openxmlformats.org/drawingml/2006/main">
              <a:ext uri="{FF2B5EF4-FFF2-40B4-BE49-F238E27FC236}">
                <a16:creationId xmlns:a16="http://schemas.microsoft.com/office/drawing/2014/main" id="{BD68301A-1CCD-40A6-B818-8238D78ED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67350"/>
            <a:ext cx="10820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-0156">
            <a:extLst xmlns:a="http://schemas.openxmlformats.org/drawingml/2006/main">
              <a:ext uri="{FF2B5EF4-FFF2-40B4-BE49-F238E27FC236}">
                <a16:creationId xmlns:a16="http://schemas.microsoft.com/office/drawing/2014/main" id="{D17C0BB4-03A9-440F-B63B-677B35EDA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562600"/>
            <a:ext cx="10401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感知与任务在上层，稳定与执行在底层。</a:t>
            </a:r>
          </a:p>
        </p:txBody>
      </p:sp>
    </p:spTree>
    <p:extLst>
      <p:ext uri="{BB962C8B-B14F-4D97-AF65-F5344CB8AC3E}">
        <p14:creationId xmlns:p14="http://schemas.microsoft.com/office/powerpoint/2010/main" val="113393176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0157">
            <a:extLst xmlns:a="http://schemas.openxmlformats.org/drawingml/2006/main">
              <a:ext uri="{FF2B5EF4-FFF2-40B4-BE49-F238E27FC236}">
                <a16:creationId xmlns:a16="http://schemas.microsoft.com/office/drawing/2014/main" id="{E483AADB-0D7C-4184-BE40-1A9523AF5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学习路线</a:t>
            </a:r>
          </a:p>
        </p:txBody>
      </p:sp>
      <p:sp>
        <p:nvSpPr>
          <p:cNvPr id="2" name="text-0158">
            <a:extLst xmlns:a="http://schemas.openxmlformats.org/drawingml/2006/main">
              <a:ext uri="{FF2B5EF4-FFF2-40B4-BE49-F238E27FC236}">
                <a16:creationId xmlns:a16="http://schemas.microsoft.com/office/drawing/2014/main" id="{9C92D20F-2C06-4DD4-90A3-DDCEE1698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六章按顺序推进，每章都有明确完成标志</a:t>
            </a:r>
          </a:p>
        </p:txBody>
      </p:sp>
      <p:sp>
        <p:nvSpPr>
          <p:cNvPr id="3" name="shape-0159">
            <a:extLst xmlns:a="http://schemas.openxmlformats.org/drawingml/2006/main">
              <a:ext uri="{FF2B5EF4-FFF2-40B4-BE49-F238E27FC236}">
                <a16:creationId xmlns:a16="http://schemas.microsoft.com/office/drawing/2014/main" id="{2FD6E0AA-D755-46B7-BA0A-0BFA54636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0160">
            <a:extLst xmlns:a="http://schemas.openxmlformats.org/drawingml/2006/main">
              <a:ext uri="{FF2B5EF4-FFF2-40B4-BE49-F238E27FC236}">
                <a16:creationId xmlns:a16="http://schemas.microsoft.com/office/drawing/2014/main" id="{CDFFBB28-FFF9-41C6-9FA1-C7C8E9B3B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01 前言</a:t>
            </a:r>
          </a:p>
        </p:txBody>
      </p:sp>
      <p:sp>
        <p:nvSpPr>
          <p:cNvPr id="5" name="text-0161">
            <a:extLst xmlns:a="http://schemas.openxmlformats.org/drawingml/2006/main">
              <a:ext uri="{FF2B5EF4-FFF2-40B4-BE49-F238E27FC236}">
                <a16:creationId xmlns:a16="http://schemas.microsoft.com/office/drawing/2014/main" id="{24C42284-5A78-4306-9531-6A7B0C92E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198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85800" y="1695450"/>
          <a:ext xmlns:a="http://schemas.openxmlformats.org/drawingml/2006/main" cx="10820400" cy="41910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838200"/>
                <a:gridCol w="2724150"/>
                <a:gridCol w="7258050"/>
              </a:tblGrid>
              <a:tr h="533400"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顺序</a:t>
                      </a:r>
                    </a:p>
                  </a:txBody>
                  <a:tcPr marL="91440" marR="91440" marT="45720" marB="45720" anchor="ctr">
                    <a:solidFill>
                      <a:srgbClr val="3D8D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教程</a:t>
                      </a:r>
                    </a:p>
                  </a:txBody>
                  <a:tcPr marL="91440" marR="91440" marT="45720" marB="45720" anchor="ctr">
                    <a:solidFill>
                      <a:srgbClr val="3D8D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完成标志</a:t>
                      </a:r>
                    </a:p>
                  </a:txBody>
                  <a:tcPr marL="91440" marR="91440" marT="45720" marB="45720" anchor="ctr">
                    <a:solidFill>
                      <a:srgbClr val="3D8D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3D8D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前言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了解项目来源、系统组成和任务目标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3D8D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</a:t>
                      </a:r>
                    </a:p>
                  </a:txBody>
                  <a:tcPr marL="91440" marR="91440" marT="45720" marB="45720" anchor="ctr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配置清单</a:t>
                      </a:r>
                    </a:p>
                  </a:txBody>
                  <a:tcPr marL="91440" marR="91440" marT="45720" marB="45720" anchor="ctr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硬件、工具和软件准备完成</a:t>
                      </a:r>
                    </a:p>
                  </a:txBody>
                  <a:tcPr marL="91440" marR="91440" marT="45720" marB="45720" anchor="ctr">
                    <a:solidFill>
                      <a:srgbClr val="F5F6F8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3D8D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无人机组装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机械安装、供电、接线和基础检查完成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3D8D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</a:t>
                      </a:r>
                    </a:p>
                  </a:txBody>
                  <a:tcPr marL="91440" marR="91440" marT="45720" marB="45720" anchor="ctr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RK3588 环境配置</a:t>
                      </a:r>
                    </a:p>
                  </a:txBody>
                  <a:tcPr marL="91440" marR="91440" marT="45720" marB="45720" anchor="ctr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app、YOLO、Web UI 和飞控通信正常</a:t>
                      </a:r>
                    </a:p>
                  </a:txBody>
                  <a:tcPr marL="91440" marR="91440" marT="45720" marB="45720" anchor="ctr">
                    <a:solidFill>
                      <a:srgbClr val="F5F6F8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3D8D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SITL 测试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在仿真中跑通分项和完整任务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3D8D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</a:t>
                      </a:r>
                    </a:p>
                  </a:txBody>
                  <a:tcPr marL="91440" marR="91440" marT="45720" marB="45720" anchor="ctr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实飞测试</a:t>
                      </a:r>
                    </a:p>
                  </a:txBody>
                  <a:tcPr marL="91440" marR="91440" marT="45720" marB="45720" anchor="ctr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0000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从人工飞行逐步验证到完整自主任务</a:t>
                      </a:r>
                    </a:p>
                  </a:txBody>
                  <a:tcPr marL="91440" marR="91440" marT="45720" marB="45720" anchor="ctr">
                    <a:solidFill>
                      <a:srgbClr val="F5F6F8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6611371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ext-0162">
            <a:extLst xmlns:a="http://schemas.openxmlformats.org/drawingml/2006/main">
              <a:ext uri="{FF2B5EF4-FFF2-40B4-BE49-F238E27FC236}">
                <a16:creationId xmlns:a16="http://schemas.microsoft.com/office/drawing/2014/main" id="{B7A83729-C0CA-4533-AC3A-417487593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开始之前</a:t>
            </a:r>
          </a:p>
        </p:txBody>
      </p:sp>
      <p:sp>
        <p:nvSpPr>
          <p:cNvPr id="2" name="text-0163">
            <a:extLst xmlns:a="http://schemas.openxmlformats.org/drawingml/2006/main">
              <a:ext uri="{FF2B5EF4-FFF2-40B4-BE49-F238E27FC236}">
                <a16:creationId xmlns:a16="http://schemas.microsoft.com/office/drawing/2014/main" id="{0C8A1C53-DAC4-4B5C-9F9E-8470261BD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从零复现必须按“准备 → 仿真 → 实飞”推进</a:t>
            </a:r>
          </a:p>
        </p:txBody>
      </p:sp>
      <p:sp>
        <p:nvSpPr>
          <p:cNvPr id="3" name="shape-0164">
            <a:extLst xmlns:a="http://schemas.openxmlformats.org/drawingml/2006/main">
              <a:ext uri="{FF2B5EF4-FFF2-40B4-BE49-F238E27FC236}">
                <a16:creationId xmlns:a16="http://schemas.microsoft.com/office/drawing/2014/main" id="{9DB17ED3-A889-421F-BE69-5866BD5E8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0165">
            <a:extLst xmlns:a="http://schemas.openxmlformats.org/drawingml/2006/main">
              <a:ext uri="{FF2B5EF4-FFF2-40B4-BE49-F238E27FC236}">
                <a16:creationId xmlns:a16="http://schemas.microsoft.com/office/drawing/2014/main" id="{9E304274-6B18-4568-881A-676A66A66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01 前言</a:t>
            </a:r>
          </a:p>
        </p:txBody>
      </p:sp>
      <p:sp>
        <p:nvSpPr>
          <p:cNvPr id="5" name="text-0166">
            <a:extLst xmlns:a="http://schemas.openxmlformats.org/drawingml/2006/main">
              <a:ext uri="{FF2B5EF4-FFF2-40B4-BE49-F238E27FC236}">
                <a16:creationId xmlns:a16="http://schemas.microsoft.com/office/drawing/2014/main" id="{4E68BBB6-A6AA-4BE7-A73F-43FB73CAC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198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6" name="shape-0167">
            <a:extLst xmlns:a="http://schemas.openxmlformats.org/drawingml/2006/main">
              <a:ext uri="{FF2B5EF4-FFF2-40B4-BE49-F238E27FC236}">
                <a16:creationId xmlns:a16="http://schemas.microsoft.com/office/drawing/2014/main" id="{475143F6-A62A-48DB-811E-43BC4637B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57550"/>
            <a:ext cx="10058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hape-0168">
            <a:extLst xmlns:a="http://schemas.openxmlformats.org/drawingml/2006/main">
              <a:ext uri="{FF2B5EF4-FFF2-40B4-BE49-F238E27FC236}">
                <a16:creationId xmlns:a16="http://schemas.microsoft.com/office/drawing/2014/main" id="{8A4F9FF3-ACF9-4DED-A010-4035B80C3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1813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hape-0169">
            <a:extLst xmlns:a="http://schemas.openxmlformats.org/drawingml/2006/main">
              <a:ext uri="{FF2B5EF4-FFF2-40B4-BE49-F238E27FC236}">
                <a16:creationId xmlns:a16="http://schemas.microsoft.com/office/drawing/2014/main" id="{3CC01764-59A4-445B-B854-0E92B3C6F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1813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hape-0170">
            <a:extLst xmlns:a="http://schemas.openxmlformats.org/drawingml/2006/main">
              <a:ext uri="{FF2B5EF4-FFF2-40B4-BE49-F238E27FC236}">
                <a16:creationId xmlns:a16="http://schemas.microsoft.com/office/drawing/2014/main" id="{0E3696DB-DA94-4A5E-8CDE-E44A484A9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1813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-0171">
            <a:extLst xmlns:a="http://schemas.openxmlformats.org/drawingml/2006/main">
              <a:ext uri="{FF2B5EF4-FFF2-40B4-BE49-F238E27FC236}">
                <a16:creationId xmlns:a16="http://schemas.microsoft.com/office/drawing/2014/main" id="{C2998DC7-2967-4D0A-9D81-F7A527E4B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460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1" name="text-0172">
            <a:extLst xmlns:a="http://schemas.openxmlformats.org/drawingml/2006/main">
              <a:ext uri="{FF2B5EF4-FFF2-40B4-BE49-F238E27FC236}">
                <a16:creationId xmlns:a16="http://schemas.microsoft.com/office/drawing/2014/main" id="{C06B5232-CF21-4B7C-83E7-13749A25D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95700"/>
            <a:ext cx="323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准备</a:t>
            </a:r>
          </a:p>
        </p:txBody>
      </p:sp>
      <p:sp>
        <p:nvSpPr>
          <p:cNvPr id="12" name="text-0173">
            <a:extLst xmlns:a="http://schemas.openxmlformats.org/drawingml/2006/main">
              <a:ext uri="{FF2B5EF4-FFF2-40B4-BE49-F238E27FC236}">
                <a16:creationId xmlns:a16="http://schemas.microsoft.com/office/drawing/2014/main" id="{F638E1BB-B0A6-454B-B37D-89BBE90B1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67200"/>
            <a:ext cx="3238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硬件清单、机械组装、供电接线、RK3588 环境。</a:t>
            </a:r>
          </a:p>
        </p:txBody>
      </p:sp>
      <p:sp>
        <p:nvSpPr>
          <p:cNvPr id="13" name="text-0174">
            <a:extLst xmlns:a="http://schemas.openxmlformats.org/drawingml/2006/main">
              <a:ext uri="{FF2B5EF4-FFF2-40B4-BE49-F238E27FC236}">
                <a16:creationId xmlns:a16="http://schemas.microsoft.com/office/drawing/2014/main" id="{39662764-9C6E-4A2D-BFC5-724BC9972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51460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4" name="text-0175">
            <a:extLst xmlns:a="http://schemas.openxmlformats.org/drawingml/2006/main">
              <a:ext uri="{FF2B5EF4-FFF2-40B4-BE49-F238E27FC236}">
                <a16:creationId xmlns:a16="http://schemas.microsoft.com/office/drawing/2014/main" id="{AD97A0D9-6BB8-429F-A85C-4305DAFD9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695700"/>
            <a:ext cx="323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仿真</a:t>
            </a:r>
          </a:p>
        </p:txBody>
      </p:sp>
      <p:sp>
        <p:nvSpPr>
          <p:cNvPr id="15" name="text-0176">
            <a:extLst xmlns:a="http://schemas.openxmlformats.org/drawingml/2006/main">
              <a:ext uri="{FF2B5EF4-FFF2-40B4-BE49-F238E27FC236}">
                <a16:creationId xmlns:a16="http://schemas.microsoft.com/office/drawing/2014/main" id="{2B56A1AD-304C-4964-AE38-A6B8472CC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267200"/>
            <a:ext cx="3238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在 SITL 中验证分项流程、完整任务和异常路径。</a:t>
            </a:r>
          </a:p>
        </p:txBody>
      </p:sp>
      <p:sp>
        <p:nvSpPr>
          <p:cNvPr id="16" name="text-0177">
            <a:extLst xmlns:a="http://schemas.openxmlformats.org/drawingml/2006/main">
              <a:ext uri="{FF2B5EF4-FFF2-40B4-BE49-F238E27FC236}">
                <a16:creationId xmlns:a16="http://schemas.microsoft.com/office/drawing/2014/main" id="{8A538AA5-8FE0-4318-976E-A1DE8935B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51460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7" name="text-0178">
            <a:extLst xmlns:a="http://schemas.openxmlformats.org/drawingml/2006/main">
              <a:ext uri="{FF2B5EF4-FFF2-40B4-BE49-F238E27FC236}">
                <a16:creationId xmlns:a16="http://schemas.microsoft.com/office/drawing/2014/main" id="{84FED5E9-FE3F-4303-8B72-4643A5E43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695700"/>
            <a:ext cx="323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实飞</a:t>
            </a:r>
          </a:p>
        </p:txBody>
      </p:sp>
      <p:sp>
        <p:nvSpPr>
          <p:cNvPr id="18" name="text-0179">
            <a:extLst xmlns:a="http://schemas.openxmlformats.org/drawingml/2006/main">
              <a:ext uri="{FF2B5EF4-FFF2-40B4-BE49-F238E27FC236}">
                <a16:creationId xmlns:a16="http://schemas.microsoft.com/office/drawing/2014/main" id="{766E9EA9-752B-48AA-8299-E317F24E2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267200"/>
            <a:ext cx="3238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D6673"/>
                </a:solidFill>
                <a:latin typeface="Microsoft YaHei"/>
                <a:ea typeface="Microsoft YaHei"/>
                <a:cs typeface="Microsoft YaHei"/>
              </a:rPr>
              <a:t>从人工飞行开始，逐级验证到完整自主任务。</a:t>
            </a:r>
          </a:p>
        </p:txBody>
      </p:sp>
      <p:sp>
        <p:nvSpPr>
          <p:cNvPr id="19" name="shape-0180">
            <a:extLst xmlns:a="http://schemas.openxmlformats.org/drawingml/2006/main">
              <a:ext uri="{FF2B5EF4-FFF2-40B4-BE49-F238E27FC236}">
                <a16:creationId xmlns:a16="http://schemas.microsoft.com/office/drawing/2014/main" id="{DA622679-C5A9-4623-81F6-BE00E2EB3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67350"/>
            <a:ext cx="108204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text-0181">
            <a:extLst xmlns:a="http://schemas.openxmlformats.org/drawingml/2006/main">
              <a:ext uri="{FF2B5EF4-FFF2-40B4-BE49-F238E27FC236}">
                <a16:creationId xmlns:a16="http://schemas.microsoft.com/office/drawing/2014/main" id="{1722B2EB-2CE1-4ECB-B07E-0F1CD818B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72125"/>
            <a:ext cx="10363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真实无人机调试前：先完成无桨检查和 SITL 验证。</a:t>
            </a:r>
          </a:p>
        </p:txBody>
      </p:sp>
    </p:spTree>
    <p:extLst>
      <p:ext uri="{BB962C8B-B14F-4D97-AF65-F5344CB8AC3E}">
        <p14:creationId xmlns:p14="http://schemas.microsoft.com/office/powerpoint/2010/main" val="195382350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ext-0182">
            <a:extLst xmlns:a="http://schemas.openxmlformats.org/drawingml/2006/main">
              <a:ext uri="{FF2B5EF4-FFF2-40B4-BE49-F238E27FC236}">
                <a16:creationId xmlns:a16="http://schemas.microsoft.com/office/drawing/2014/main" id="{A482CF8B-91A8-422B-940B-86105C1CA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进入教程</a:t>
            </a:r>
          </a:p>
        </p:txBody>
      </p:sp>
      <p:sp>
        <p:nvSpPr>
          <p:cNvPr id="2" name="text-0183">
            <a:extLst xmlns:a="http://schemas.openxmlformats.org/drawingml/2006/main">
              <a:ext uri="{FF2B5EF4-FFF2-40B4-BE49-F238E27FC236}">
                <a16:creationId xmlns:a16="http://schemas.microsoft.com/office/drawing/2014/main" id="{65307A4B-8D2E-465E-A28A-5731A5E9E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9906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带着三条原则进入下一章</a:t>
            </a:r>
          </a:p>
        </p:txBody>
      </p:sp>
      <p:sp>
        <p:nvSpPr>
          <p:cNvPr id="3" name="text-0184">
            <a:extLst xmlns:a="http://schemas.openxmlformats.org/drawingml/2006/main">
              <a:ext uri="{FF2B5EF4-FFF2-40B4-BE49-F238E27FC236}">
                <a16:creationId xmlns:a16="http://schemas.microsoft.com/office/drawing/2014/main" id="{F00C86A8-BDA3-413E-9711-5256C00FC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理解</a:t>
            </a:r>
          </a:p>
        </p:txBody>
      </p:sp>
      <p:sp>
        <p:nvSpPr>
          <p:cNvPr id="4" name="text-0185">
            <a:extLst xmlns:a="http://schemas.openxmlformats.org/drawingml/2006/main">
              <a:ext uri="{FF2B5EF4-FFF2-40B4-BE49-F238E27FC236}">
                <a16:creationId xmlns:a16="http://schemas.microsoft.com/office/drawing/2014/main" id="{5AEA6034-51CA-4966-8114-E090ECF6B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24200"/>
            <a:ext cx="3143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理解系统，</a:t>
            </a:r>
          </a:p>
          <a:p xmlns:a="http://schemas.openxmlformats.org/drawingml/2006/main">
            <a:pPr algn="l">
              <a:defRPr sz="19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不要机械照抄</a:t>
            </a:r>
          </a:p>
        </p:txBody>
      </p:sp>
      <p:sp>
        <p:nvSpPr>
          <p:cNvPr id="5" name="shape-0186">
            <a:extLst xmlns:a="http://schemas.openxmlformats.org/drawingml/2006/main">
              <a:ext uri="{FF2B5EF4-FFF2-40B4-BE49-F238E27FC236}">
                <a16:creationId xmlns:a16="http://schemas.microsoft.com/office/drawing/2014/main" id="{46CB7AF9-1FB8-4729-94F9-F0DACA145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305050"/>
            <a:ext cx="14288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-0187">
            <a:extLst xmlns:a="http://schemas.openxmlformats.org/drawingml/2006/main">
              <a:ext uri="{FF2B5EF4-FFF2-40B4-BE49-F238E27FC236}">
                <a16:creationId xmlns:a16="http://schemas.microsoft.com/office/drawing/2014/main" id="{1943A02F-6ED7-41F0-9DAA-94A10C86A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324100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连接</a:t>
            </a:r>
          </a:p>
        </p:txBody>
      </p:sp>
      <p:sp>
        <p:nvSpPr>
          <p:cNvPr id="7" name="text-0188">
            <a:extLst xmlns:a="http://schemas.openxmlformats.org/drawingml/2006/main">
              <a:ext uri="{FF2B5EF4-FFF2-40B4-BE49-F238E27FC236}">
                <a16:creationId xmlns:a16="http://schemas.microsoft.com/office/drawing/2014/main" id="{E6101119-27CC-4351-B85B-0FFBA363D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124200"/>
            <a:ext cx="3143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关注技术之间的链路，</a:t>
            </a:r>
          </a:p>
          <a:p xmlns:a="http://schemas.openxmlformats.org/drawingml/2006/main">
            <a:pPr algn="l">
              <a:defRPr sz="19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不要只堆组件</a:t>
            </a:r>
          </a:p>
        </p:txBody>
      </p:sp>
      <p:sp>
        <p:nvSpPr>
          <p:cNvPr id="8" name="shape-0189">
            <a:extLst xmlns:a="http://schemas.openxmlformats.org/drawingml/2006/main">
              <a:ext uri="{FF2B5EF4-FFF2-40B4-BE49-F238E27FC236}">
                <a16:creationId xmlns:a16="http://schemas.microsoft.com/office/drawing/2014/main" id="{85130791-95CC-4A3B-AFB5-EA5FB9CB8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305050"/>
            <a:ext cx="14288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-0190">
            <a:extLst xmlns:a="http://schemas.openxmlformats.org/drawingml/2006/main">
              <a:ext uri="{FF2B5EF4-FFF2-40B4-BE49-F238E27FC236}">
                <a16:creationId xmlns:a16="http://schemas.microsoft.com/office/drawing/2014/main" id="{0FCC6AB3-F802-4843-A9D7-884AB5C78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324100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验证</a:t>
            </a:r>
          </a:p>
        </p:txBody>
      </p:sp>
      <p:sp>
        <p:nvSpPr>
          <p:cNvPr id="10" name="text-0191">
            <a:extLst xmlns:a="http://schemas.openxmlformats.org/drawingml/2006/main">
              <a:ext uri="{FF2B5EF4-FFF2-40B4-BE49-F238E27FC236}">
                <a16:creationId xmlns:a16="http://schemas.microsoft.com/office/drawing/2014/main" id="{7289416C-29EC-433B-9352-3A3D76B5E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124200"/>
            <a:ext cx="3143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先完成仿真与检查，</a:t>
            </a:r>
          </a:p>
          <a:p xmlns:a="http://schemas.openxmlformats.org/drawingml/2006/main">
            <a:pPr algn="l">
              <a:defRPr sz="19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再进入实飞</a:t>
            </a:r>
          </a:p>
        </p:txBody>
      </p:sp>
      <p:sp>
        <p:nvSpPr>
          <p:cNvPr id="11" name="shape-0192">
            <a:extLst xmlns:a="http://schemas.openxmlformats.org/drawingml/2006/main">
              <a:ext uri="{FF2B5EF4-FFF2-40B4-BE49-F238E27FC236}">
                <a16:creationId xmlns:a16="http://schemas.microsoft.com/office/drawing/2014/main" id="{8C5205F5-9298-49F2-BA88-C0F2BA3F6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81600"/>
            <a:ext cx="108204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-0193">
            <a:extLst xmlns:a="http://schemas.openxmlformats.org/drawingml/2006/main">
              <a:ext uri="{FF2B5EF4-FFF2-40B4-BE49-F238E27FC236}">
                <a16:creationId xmlns:a16="http://schemas.microsoft.com/office/drawing/2014/main" id="{7B88219D-592D-4E63-94A5-19BD72C82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391150"/>
            <a:ext cx="1021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下一章：02 配置清单</a:t>
            </a:r>
          </a:p>
        </p:txBody>
      </p:sp>
    </p:spTree>
    <p:extLst>
      <p:ext uri="{BB962C8B-B14F-4D97-AF65-F5344CB8AC3E}">
        <p14:creationId xmlns:p14="http://schemas.microsoft.com/office/powerpoint/2010/main" val="104237361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2026-08-15T14:57:14.1320000Z</dcterms:created>
  <dcterms:modified xsi:type="dcterms:W3CDTF">2026-08-15T14:57:14.1320000Z</dcterms:modified>
</coreProperties>
</file>
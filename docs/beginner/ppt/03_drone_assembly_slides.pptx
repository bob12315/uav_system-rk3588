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6" r:id="rId6"/>
    <p:sldId id="277" r:id="rId7"/>
    <p:sldId id="278" r:id="rId8"/>
    <p:sldId id="279" r:id="rId9"/>
    <p:sldId id="280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本章覆盖无人机组装到无桨台架验收的完整流程。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C:/Users/24184/Desktop/project/uav_system/docs/beginner/03_drone_assembly.md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开场先强调全章安全门禁；任何不确定项都停止并查具体硬件说明书。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C:/Users/24184/Desktop/project/uav_system/docs/beginner/03_drone_assembly.md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说明本章五个连续环节，以及每一步都需要记录。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C:/Users/24184/Desktop/project/uav_system/docs/beginner/03_drone_assembly.md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概览机械布局的五个子系统与共同边界。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C:/Users/24184/Desktop/project/uav_system/docs/beginner/03_drone_assembly.md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讲解机架与动力系统的照片记录要求。照片由装机人员后续补充。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C:/Users/24184/Desktop/project/uav_system/docs/beginner/03_drone_assembly.md</a:t>
            </a:r>
          </a:p>
          <a:p>
            <a:r>
              <a:rPr lang="en-US" altLang="zh-CN"/>
              <a:t>[/Sources]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205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讲解飞控、</a:t>
            </a:r>
            <a:r>
              <a:rPr lang="en-US" altLang="zh-CN"/>
              <a:t>GPS/</a:t>
            </a:r>
            <a:r>
              <a:rPr lang="zh-CN" altLang="en-US"/>
              <a:t>罗盘和接口标签的照片记录要求。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C:/Users/24184/Desktop/project/uav_system/docs/beginner/03_drone_assembly.md</a:t>
            </a:r>
          </a:p>
          <a:p>
            <a:r>
              <a:rPr lang="en-US" altLang="zh-CN"/>
              <a:t>[/Sources]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55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讲解 </a:t>
            </a:r>
            <a:r>
              <a:rPr lang="en-US" altLang="zh-CN"/>
              <a:t>RK3588 </a:t>
            </a:r>
            <a:r>
              <a:rPr lang="zh-CN" altLang="en-US"/>
              <a:t>安装、散热、绝缘与应力释放的照片记录要求。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C:/Users/24184/Desktop/project/uav_system/docs/beginner/03_drone_assembly.md</a:t>
            </a:r>
          </a:p>
          <a:p>
            <a:r>
              <a:rPr lang="en-US" altLang="zh-CN"/>
              <a:t>[/Sources]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017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讲解下视相机安装、光轴方向和偏移测量的照片记录要求。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C:/Users/24184/Desktop/project/uav_system/docs/beginner/03_drone_assembly.md</a:t>
            </a:r>
          </a:p>
          <a:p>
            <a:r>
              <a:rPr lang="en-US" altLang="zh-CN"/>
              <a:t>[/Sources]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0313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讲解两路投放机构和三种重心状态的照片记录要求。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C:/Users/24184/Desktop/project/uav_system/docs/beginner/03_drone_assembly.md</a:t>
            </a:r>
          </a:p>
          <a:p>
            <a:r>
              <a:rPr lang="en-US" altLang="zh-CN"/>
              <a:t>[/Sources]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6865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提醒在上电前填写方向、接口、偏移、PWM 和重心等真实值。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C:/Users/24184/Desktop/project/uav_system/docs/beginner/03_drone_assembly.md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逐项填写电源接线记录，确保可由第二人复核。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C:/Users/24184/Desktop/project/uav_system/docs/beginner/03_drone_assembly.md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逐项填写数据、相机、舵机和 RC 接线记录。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C:/Users/24184/Desktop/project/uav_system/docs/beginner/03_drone_assembly.md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对比 UART 与 Ethernet/UDP 的必要记录字段；默认监听端口不等于链路已建立。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C:/Users/24184/Desktop/project/uav_system/docs/beginner/03_drone_assembly.md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每个设备都需要填写允许输入、典型和峰值电流、电源来源、线缆或保险以及实测状态。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C:/Users/24184/Desktop/project/uav_system/docs/beginner/03_drone_assembly.md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重点记录舵机堵转风险、DC-DC 输入范围、空载输出和 RK3588 启动及视觉满载工况。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C:/Users/24184/Desktop/project/uav_system/docs/beginner/03_drone_assembly.md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强调电气集成的三条硬门禁以及舵机供电核对。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C:/Users/24184/Desktop/project/uav_system/docs/beginner/03_drone_assembly.md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按顺序分阶段通电；每一步只新增一类设备。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C:/Users/24184/Desktop/project/uav_system/docs/beginner/03_drone_assembly.md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在无桨台架上验证姿态、视觉正方向、失效处理与错误修正方式。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C:/Users/24184/Desktop/project/uav_system/docs/beginner/03_drone_assembly.md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逐路空载标定两套投放机构；channel 指飞控 SERVO 输出而不是 RC 输入。禁止 RC override、旧 release_payload 或 Action 直接调用 pymavlink。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C:/Users/24184/Desktop/project/uav_system/docs/beginner/03_drone_assembly.md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完成八项验收后再进入 RK3588 环境配置。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C:/Users/24184/Desktop/project/uav_system/docs/beginner/03_drone_assembly.md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475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001">
            <a:extLst>
              <a:ext uri="{FF2B5EF4-FFF2-40B4-BE49-F238E27FC236}">
                <a16:creationId xmlns:a16="http://schemas.microsoft.com/office/drawing/2014/main" id="{5760C84E-48A4-4C3A-BDE9-16ECD9CE56ED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从零复现 · 第 03 章</a:t>
            </a:r>
          </a:p>
        </p:txBody>
      </p:sp>
      <p:sp>
        <p:nvSpPr>
          <p:cNvPr id="2" name="shape-0002">
            <a:extLst>
              <a:ext uri="{FF2B5EF4-FFF2-40B4-BE49-F238E27FC236}">
                <a16:creationId xmlns:a16="http://schemas.microsoft.com/office/drawing/2014/main" id="{254D225A-45AB-4091-A884-6B5BD46CCEE2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990600" cy="571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3" name="text-0003">
            <a:extLst>
              <a:ext uri="{FF2B5EF4-FFF2-40B4-BE49-F238E27FC236}">
                <a16:creationId xmlns:a16="http://schemas.microsoft.com/office/drawing/2014/main" id="{130C7584-C628-4254-81D1-BBCDBB9A6523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809625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4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无人机组装</a:t>
            </a:r>
          </a:p>
          <a:p>
            <a:pPr algn="l">
              <a:buNone/>
              <a:defRPr sz="4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与无桨台架验收</a:t>
            </a:r>
          </a:p>
        </p:txBody>
      </p:sp>
      <p:sp>
        <p:nvSpPr>
          <p:cNvPr id="4" name="text-0004">
            <a:extLst>
              <a:ext uri="{FF2B5EF4-FFF2-40B4-BE49-F238E27FC236}">
                <a16:creationId xmlns:a16="http://schemas.microsoft.com/office/drawing/2014/main" id="{D28CAAEE-CF68-4D66-B581-869C044B9B09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1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机械安装 → 接线记录 → 分阶段供电 → 无桨检查</a:t>
            </a:r>
          </a:p>
        </p:txBody>
      </p:sp>
      <p:sp>
        <p:nvSpPr>
          <p:cNvPr id="5" name="text-0005">
            <a:extLst>
              <a:ext uri="{FF2B5EF4-FFF2-40B4-BE49-F238E27FC236}">
                <a16:creationId xmlns:a16="http://schemas.microsoft.com/office/drawing/2014/main" id="{CE8A22D3-B63A-4D84-8706-686BC799C5FF}"/>
              </a:ext>
            </a:extLst>
          </p:cNvPr>
          <p:cNvSpPr>
            <a:spLocks noGrp="1"/>
          </p:cNvSpPr>
          <p:nvPr/>
        </p:nvSpPr>
        <p:spPr>
          <a:xfrm>
            <a:off x="9010650" y="1600200"/>
            <a:ext cx="22098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450" b="1">
                <a:solidFill>
                  <a:srgbClr val="D7F0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0" b="1">
                <a:solidFill>
                  <a:srgbClr val="D7F0F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text-0006">
            <a:extLst>
              <a:ext uri="{FF2B5EF4-FFF2-40B4-BE49-F238E27FC236}">
                <a16:creationId xmlns:a16="http://schemas.microsoft.com/office/drawing/2014/main" id="{0A1D6ADE-A4C6-4283-8BCB-859BF125ADB7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uav_system-rk3588</a:t>
            </a:r>
          </a:p>
        </p:txBody>
      </p:sp>
    </p:spTree>
    <p:extLst>
      <p:ext uri="{BB962C8B-B14F-4D97-AF65-F5344CB8AC3E}">
        <p14:creationId xmlns:p14="http://schemas.microsoft.com/office/powerpoint/2010/main" val="144338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-0023">
            <a:extLst>
              <a:ext uri="{FF2B5EF4-FFF2-40B4-BE49-F238E27FC236}">
                <a16:creationId xmlns:a16="http://schemas.microsoft.com/office/drawing/2014/main" id="{6BB59B33-2948-422F-9E12-90EAE56D2DF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全章安全门禁</a:t>
            </a:r>
          </a:p>
        </p:txBody>
      </p:sp>
      <p:sp>
        <p:nvSpPr>
          <p:cNvPr id="2" name="text-0024">
            <a:extLst>
              <a:ext uri="{FF2B5EF4-FFF2-40B4-BE49-F238E27FC236}">
                <a16:creationId xmlns:a16="http://schemas.microsoft.com/office/drawing/2014/main" id="{8895FB4A-CBA2-4582-8536-A4D7289B5DB4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任何电压、极性或引脚不确定时，立即停止</a:t>
            </a:r>
          </a:p>
        </p:txBody>
      </p:sp>
      <p:sp>
        <p:nvSpPr>
          <p:cNvPr id="3" name="shape-0025">
            <a:extLst>
              <a:ext uri="{FF2B5EF4-FFF2-40B4-BE49-F238E27FC236}">
                <a16:creationId xmlns:a16="http://schemas.microsoft.com/office/drawing/2014/main" id="{393F2391-B542-4E3D-B03C-4AC36A584078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026">
            <a:extLst>
              <a:ext uri="{FF2B5EF4-FFF2-40B4-BE49-F238E27FC236}">
                <a16:creationId xmlns:a16="http://schemas.microsoft.com/office/drawing/2014/main" id="{BA614A08-5314-4E7A-ABB2-7827E084B552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03 无人机组装</a:t>
            </a:r>
          </a:p>
        </p:txBody>
      </p:sp>
      <p:sp>
        <p:nvSpPr>
          <p:cNvPr id="5" name="text-0027">
            <a:extLst>
              <a:ext uri="{FF2B5EF4-FFF2-40B4-BE49-F238E27FC236}">
                <a16:creationId xmlns:a16="http://schemas.microsoft.com/office/drawing/2014/main" id="{4D183B89-D856-4642-B20C-198283998525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shape-0028">
            <a:extLst>
              <a:ext uri="{FF2B5EF4-FFF2-40B4-BE49-F238E27FC236}">
                <a16:creationId xmlns:a16="http://schemas.microsoft.com/office/drawing/2014/main" id="{1C0815B1-E0C2-4EDF-AB6D-EC373578BFD8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4095750" cy="381000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7" name="text-0029">
            <a:extLst>
              <a:ext uri="{FF2B5EF4-FFF2-40B4-BE49-F238E27FC236}">
                <a16:creationId xmlns:a16="http://schemas.microsoft.com/office/drawing/2014/main" id="{7B6689FC-B5F3-4A87-8E57-F6E2FE4EBF1D}"/>
              </a:ext>
            </a:extLst>
          </p:cNvPr>
          <p:cNvSpPr>
            <a:spLocks noGrp="1"/>
          </p:cNvSpPr>
          <p:nvPr/>
        </p:nvSpPr>
        <p:spPr>
          <a:xfrm>
            <a:off x="990600" y="2286000"/>
            <a:ext cx="348615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断电</a:t>
            </a:r>
          </a:p>
          <a:p>
            <a:pPr algn="ctr">
              <a:buNone/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无桨</a:t>
            </a:r>
          </a:p>
          <a:p>
            <a:pPr algn="ctr">
              <a:buNone/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无载荷</a:t>
            </a:r>
          </a:p>
        </p:txBody>
      </p:sp>
      <p:sp>
        <p:nvSpPr>
          <p:cNvPr id="8" name="text-0030">
            <a:extLst>
              <a:ext uri="{FF2B5EF4-FFF2-40B4-BE49-F238E27FC236}">
                <a16:creationId xmlns:a16="http://schemas.microsoft.com/office/drawing/2014/main" id="{6C5A79A0-6AF9-4692-A4AE-9282952E9E39}"/>
              </a:ext>
            </a:extLst>
          </p:cNvPr>
          <p:cNvSpPr>
            <a:spLocks noGrp="1"/>
          </p:cNvSpPr>
          <p:nvPr/>
        </p:nvSpPr>
        <p:spPr>
          <a:xfrm>
            <a:off x="990600" y="4953000"/>
            <a:ext cx="3486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全章保持</a:t>
            </a:r>
          </a:p>
        </p:txBody>
      </p:sp>
      <p:sp>
        <p:nvSpPr>
          <p:cNvPr id="9" name="text-0031">
            <a:extLst>
              <a:ext uri="{FF2B5EF4-FFF2-40B4-BE49-F238E27FC236}">
                <a16:creationId xmlns:a16="http://schemas.microsoft.com/office/drawing/2014/main" id="{4B670FEE-0A85-4346-BA82-16CE4DC6E684}"/>
              </a:ext>
            </a:extLst>
          </p:cNvPr>
          <p:cNvSpPr>
            <a:spLocks noGrp="1"/>
          </p:cNvSpPr>
          <p:nvPr/>
        </p:nvSpPr>
        <p:spPr>
          <a:xfrm>
            <a:off x="5353050" y="18097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-0032">
            <a:extLst>
              <a:ext uri="{FF2B5EF4-FFF2-40B4-BE49-F238E27FC236}">
                <a16:creationId xmlns:a16="http://schemas.microsoft.com/office/drawing/2014/main" id="{23413D25-F3CE-43DF-81DD-864967C3A2D9}"/>
              </a:ext>
            </a:extLst>
          </p:cNvPr>
          <p:cNvSpPr>
            <a:spLocks noGrp="1"/>
          </p:cNvSpPr>
          <p:nvPr/>
        </p:nvSpPr>
        <p:spPr>
          <a:xfrm>
            <a:off x="5962650" y="1809750"/>
            <a:ext cx="529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电池保持断开</a:t>
            </a:r>
          </a:p>
        </p:txBody>
      </p:sp>
      <p:sp>
        <p:nvSpPr>
          <p:cNvPr id="11" name="text-0033">
            <a:extLst>
              <a:ext uri="{FF2B5EF4-FFF2-40B4-BE49-F238E27FC236}">
                <a16:creationId xmlns:a16="http://schemas.microsoft.com/office/drawing/2014/main" id="{2DE4AB5F-7415-4E79-98E0-303468CA60DA}"/>
              </a:ext>
            </a:extLst>
          </p:cNvPr>
          <p:cNvSpPr>
            <a:spLocks noGrp="1"/>
          </p:cNvSpPr>
          <p:nvPr/>
        </p:nvSpPr>
        <p:spPr>
          <a:xfrm>
            <a:off x="5962650" y="2152650"/>
            <a:ext cx="529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每次接线都先断电；通电必须分阶段。</a:t>
            </a:r>
          </a:p>
        </p:txBody>
      </p:sp>
      <p:sp>
        <p:nvSpPr>
          <p:cNvPr id="12" name="text-0034">
            <a:extLst>
              <a:ext uri="{FF2B5EF4-FFF2-40B4-BE49-F238E27FC236}">
                <a16:creationId xmlns:a16="http://schemas.microsoft.com/office/drawing/2014/main" id="{B4652DEE-EE36-4570-9D10-7DAF6BABF3BB}"/>
              </a:ext>
            </a:extLst>
          </p:cNvPr>
          <p:cNvSpPr>
            <a:spLocks noGrp="1"/>
          </p:cNvSpPr>
          <p:nvPr/>
        </p:nvSpPr>
        <p:spPr>
          <a:xfrm>
            <a:off x="5353050" y="274320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-0035">
            <a:extLst>
              <a:ext uri="{FF2B5EF4-FFF2-40B4-BE49-F238E27FC236}">
                <a16:creationId xmlns:a16="http://schemas.microsoft.com/office/drawing/2014/main" id="{72DA7459-8D28-4B93-81B9-88321A61968A}"/>
              </a:ext>
            </a:extLst>
          </p:cNvPr>
          <p:cNvSpPr>
            <a:spLocks noGrp="1"/>
          </p:cNvSpPr>
          <p:nvPr/>
        </p:nvSpPr>
        <p:spPr>
          <a:xfrm>
            <a:off x="5962650" y="2743200"/>
            <a:ext cx="529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螺旋桨全部拆除</a:t>
            </a:r>
          </a:p>
        </p:txBody>
      </p:sp>
      <p:sp>
        <p:nvSpPr>
          <p:cNvPr id="14" name="text-0036">
            <a:extLst>
              <a:ext uri="{FF2B5EF4-FFF2-40B4-BE49-F238E27FC236}">
                <a16:creationId xmlns:a16="http://schemas.microsoft.com/office/drawing/2014/main" id="{7CBB6333-6295-43FB-935C-AAE20F872AD2}"/>
              </a:ext>
            </a:extLst>
          </p:cNvPr>
          <p:cNvSpPr>
            <a:spLocks noGrp="1"/>
          </p:cNvSpPr>
          <p:nvPr/>
        </p:nvSpPr>
        <p:spPr>
          <a:xfrm>
            <a:off x="5962650" y="3086100"/>
            <a:ext cx="529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机械检查、舵机标定和台架动作都在无桨状态。</a:t>
            </a:r>
          </a:p>
        </p:txBody>
      </p:sp>
      <p:sp>
        <p:nvSpPr>
          <p:cNvPr id="15" name="text-0037">
            <a:extLst>
              <a:ext uri="{FF2B5EF4-FFF2-40B4-BE49-F238E27FC236}">
                <a16:creationId xmlns:a16="http://schemas.microsoft.com/office/drawing/2014/main" id="{B399BF77-656A-494F-AAAC-A968B5670720}"/>
              </a:ext>
            </a:extLst>
          </p:cNvPr>
          <p:cNvSpPr>
            <a:spLocks noGrp="1"/>
          </p:cNvSpPr>
          <p:nvPr/>
        </p:nvSpPr>
        <p:spPr>
          <a:xfrm>
            <a:off x="5353050" y="36766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ext-0038">
            <a:extLst>
              <a:ext uri="{FF2B5EF4-FFF2-40B4-BE49-F238E27FC236}">
                <a16:creationId xmlns:a16="http://schemas.microsoft.com/office/drawing/2014/main" id="{D55A2A07-440A-44DD-9787-C2D693205173}"/>
              </a:ext>
            </a:extLst>
          </p:cNvPr>
          <p:cNvSpPr>
            <a:spLocks noGrp="1"/>
          </p:cNvSpPr>
          <p:nvPr/>
        </p:nvSpPr>
        <p:spPr>
          <a:xfrm>
            <a:off x="5962650" y="3676650"/>
            <a:ext cx="529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正式载荷移除</a:t>
            </a:r>
          </a:p>
        </p:txBody>
      </p:sp>
      <p:sp>
        <p:nvSpPr>
          <p:cNvPr id="17" name="text-0039">
            <a:extLst>
              <a:ext uri="{FF2B5EF4-FFF2-40B4-BE49-F238E27FC236}">
                <a16:creationId xmlns:a16="http://schemas.microsoft.com/office/drawing/2014/main" id="{9559B512-171E-4F77-90BE-F383233CD799}"/>
              </a:ext>
            </a:extLst>
          </p:cNvPr>
          <p:cNvSpPr>
            <a:spLocks noGrp="1"/>
          </p:cNvSpPr>
          <p:nvPr/>
        </p:nvSpPr>
        <p:spPr>
          <a:xfrm>
            <a:off x="5962650" y="4019550"/>
            <a:ext cx="529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使用无危险、等重模拟载荷核对重心和投放。</a:t>
            </a:r>
          </a:p>
        </p:txBody>
      </p:sp>
      <p:sp>
        <p:nvSpPr>
          <p:cNvPr id="18" name="text-0040">
            <a:extLst>
              <a:ext uri="{FF2B5EF4-FFF2-40B4-BE49-F238E27FC236}">
                <a16:creationId xmlns:a16="http://schemas.microsoft.com/office/drawing/2014/main" id="{8A66380A-22E4-4941-B799-95404D67A746}"/>
              </a:ext>
            </a:extLst>
          </p:cNvPr>
          <p:cNvSpPr>
            <a:spLocks noGrp="1"/>
          </p:cNvSpPr>
          <p:nvPr/>
        </p:nvSpPr>
        <p:spPr>
          <a:xfrm>
            <a:off x="5353050" y="461010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-0041">
            <a:extLst>
              <a:ext uri="{FF2B5EF4-FFF2-40B4-BE49-F238E27FC236}">
                <a16:creationId xmlns:a16="http://schemas.microsoft.com/office/drawing/2014/main" id="{0058BE8E-00BC-4424-BD2D-DEA951E04525}"/>
              </a:ext>
            </a:extLst>
          </p:cNvPr>
          <p:cNvSpPr>
            <a:spLocks noGrp="1"/>
          </p:cNvSpPr>
          <p:nvPr/>
        </p:nvSpPr>
        <p:spPr>
          <a:xfrm>
            <a:off x="5962650" y="4610100"/>
            <a:ext cx="529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不靠线色、照片或 AI 猜测</a:t>
            </a:r>
          </a:p>
        </p:txBody>
      </p:sp>
      <p:sp>
        <p:nvSpPr>
          <p:cNvPr id="20" name="text-0042">
            <a:extLst>
              <a:ext uri="{FF2B5EF4-FFF2-40B4-BE49-F238E27FC236}">
                <a16:creationId xmlns:a16="http://schemas.microsoft.com/office/drawing/2014/main" id="{4B72C559-C190-4FD4-A112-D89A1C65CAC4}"/>
              </a:ext>
            </a:extLst>
          </p:cNvPr>
          <p:cNvSpPr>
            <a:spLocks noGrp="1"/>
          </p:cNvSpPr>
          <p:nvPr/>
        </p:nvSpPr>
        <p:spPr>
          <a:xfrm>
            <a:off x="5962650" y="4953000"/>
            <a:ext cx="529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查说明书、用万用表，并由第二人复核。</a:t>
            </a:r>
          </a:p>
        </p:txBody>
      </p:sp>
      <p:sp>
        <p:nvSpPr>
          <p:cNvPr id="21" name="text-0043">
            <a:extLst>
              <a:ext uri="{FF2B5EF4-FFF2-40B4-BE49-F238E27FC236}">
                <a16:creationId xmlns:a16="http://schemas.microsoft.com/office/drawing/2014/main" id="{4728679B-C93B-40E2-A8B8-52928E20E0A7}"/>
              </a:ext>
            </a:extLst>
          </p:cNvPr>
          <p:cNvSpPr>
            <a:spLocks noGrp="1"/>
          </p:cNvSpPr>
          <p:nvPr/>
        </p:nvSpPr>
        <p:spPr>
          <a:xfrm>
            <a:off x="5353050" y="5657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准备：全部硬件、说明书、万用表、限流或保险方案、装机工具和一名复核人员。</a:t>
            </a:r>
          </a:p>
        </p:txBody>
      </p:sp>
    </p:spTree>
    <p:extLst>
      <p:ext uri="{BB962C8B-B14F-4D97-AF65-F5344CB8AC3E}">
        <p14:creationId xmlns:p14="http://schemas.microsoft.com/office/powerpoint/2010/main" val="359808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-0044">
            <a:extLst>
              <a:ext uri="{FF2B5EF4-FFF2-40B4-BE49-F238E27FC236}">
                <a16:creationId xmlns:a16="http://schemas.microsoft.com/office/drawing/2014/main" id="{37E53F74-7228-4C90-9A89-C91935AD299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组装主线</a:t>
            </a:r>
          </a:p>
        </p:txBody>
      </p:sp>
      <p:sp>
        <p:nvSpPr>
          <p:cNvPr id="2" name="text-0045">
            <a:extLst>
              <a:ext uri="{FF2B5EF4-FFF2-40B4-BE49-F238E27FC236}">
                <a16:creationId xmlns:a16="http://schemas.microsoft.com/office/drawing/2014/main" id="{D5BE0C31-652F-472D-99E3-97A2C57D7840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整机按五个环节推进，每一步都要留下记录</a:t>
            </a:r>
          </a:p>
        </p:txBody>
      </p:sp>
      <p:sp>
        <p:nvSpPr>
          <p:cNvPr id="3" name="shape-0046">
            <a:extLst>
              <a:ext uri="{FF2B5EF4-FFF2-40B4-BE49-F238E27FC236}">
                <a16:creationId xmlns:a16="http://schemas.microsoft.com/office/drawing/2014/main" id="{F8C98D2D-71D6-4054-88F5-619241550D50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047">
            <a:extLst>
              <a:ext uri="{FF2B5EF4-FFF2-40B4-BE49-F238E27FC236}">
                <a16:creationId xmlns:a16="http://schemas.microsoft.com/office/drawing/2014/main" id="{4A7B453C-3B49-4445-8A70-3C7BCFA4CDB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03 无人机组装</a:t>
            </a:r>
          </a:p>
        </p:txBody>
      </p:sp>
      <p:sp>
        <p:nvSpPr>
          <p:cNvPr id="5" name="text-0048">
            <a:extLst>
              <a:ext uri="{FF2B5EF4-FFF2-40B4-BE49-F238E27FC236}">
                <a16:creationId xmlns:a16="http://schemas.microsoft.com/office/drawing/2014/main" id="{EC260AAC-7142-4C29-9EB9-7F874E769D37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text-0049">
            <a:extLst>
              <a:ext uri="{FF2B5EF4-FFF2-40B4-BE49-F238E27FC236}">
                <a16:creationId xmlns:a16="http://schemas.microsoft.com/office/drawing/2014/main" id="{42534F67-7188-41DF-ABCC-B7990007A376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809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050">
            <a:extLst>
              <a:ext uri="{FF2B5EF4-FFF2-40B4-BE49-F238E27FC236}">
                <a16:creationId xmlns:a16="http://schemas.microsoft.com/office/drawing/2014/main" id="{C318DDFA-4251-4FBC-8FB4-87604C809C7D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机械安装</a:t>
            </a:r>
          </a:p>
        </p:txBody>
      </p:sp>
      <p:sp>
        <p:nvSpPr>
          <p:cNvPr id="8" name="shape-0051">
            <a:extLst>
              <a:ext uri="{FF2B5EF4-FFF2-40B4-BE49-F238E27FC236}">
                <a16:creationId xmlns:a16="http://schemas.microsoft.com/office/drawing/2014/main" id="{ED76BCAA-7882-4624-9AE1-7946CC509331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1428750" cy="285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9" name="text-0052">
            <a:extLst>
              <a:ext uri="{FF2B5EF4-FFF2-40B4-BE49-F238E27FC236}">
                <a16:creationId xmlns:a16="http://schemas.microsoft.com/office/drawing/2014/main" id="{18AA0E75-DD84-4BF2-915A-24493A662902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1809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机架 / 动力 / 飞控</a:t>
            </a:r>
          </a:p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GPS / RK3588</a:t>
            </a:r>
          </a:p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相机 / 投放</a:t>
            </a:r>
          </a:p>
        </p:txBody>
      </p:sp>
      <p:sp>
        <p:nvSpPr>
          <p:cNvPr id="10" name="shape-0053">
            <a:extLst>
              <a:ext uri="{FF2B5EF4-FFF2-40B4-BE49-F238E27FC236}">
                <a16:creationId xmlns:a16="http://schemas.microsoft.com/office/drawing/2014/main" id="{E8C27604-4A10-40B7-AC8B-6ADB3AAF35DA}"/>
              </a:ext>
            </a:extLst>
          </p:cNvPr>
          <p:cNvSpPr>
            <a:spLocks noGrp="1"/>
          </p:cNvSpPr>
          <p:nvPr/>
        </p:nvSpPr>
        <p:spPr>
          <a:xfrm>
            <a:off x="2686050" y="1885950"/>
            <a:ext cx="14288" cy="34671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1" name="text-0054">
            <a:extLst>
              <a:ext uri="{FF2B5EF4-FFF2-40B4-BE49-F238E27FC236}">
                <a16:creationId xmlns:a16="http://schemas.microsoft.com/office/drawing/2014/main" id="{2AA3AF30-1994-4CCF-BBB0-C2F4C2FFA6BC}"/>
              </a:ext>
            </a:extLst>
          </p:cNvPr>
          <p:cNvSpPr>
            <a:spLocks noGrp="1"/>
          </p:cNvSpPr>
          <p:nvPr/>
        </p:nvSpPr>
        <p:spPr>
          <a:xfrm>
            <a:off x="2857500" y="1847850"/>
            <a:ext cx="1809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-0055">
            <a:extLst>
              <a:ext uri="{FF2B5EF4-FFF2-40B4-BE49-F238E27FC236}">
                <a16:creationId xmlns:a16="http://schemas.microsoft.com/office/drawing/2014/main" id="{B191EEF0-6355-4BCF-8399-4C2AF91ED464}"/>
              </a:ext>
            </a:extLst>
          </p:cNvPr>
          <p:cNvSpPr>
            <a:spLocks noGrp="1"/>
          </p:cNvSpPr>
          <p:nvPr/>
        </p:nvSpPr>
        <p:spPr>
          <a:xfrm>
            <a:off x="2857500" y="28575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接线记录</a:t>
            </a:r>
          </a:p>
        </p:txBody>
      </p:sp>
      <p:sp>
        <p:nvSpPr>
          <p:cNvPr id="13" name="shape-0056">
            <a:extLst>
              <a:ext uri="{FF2B5EF4-FFF2-40B4-BE49-F238E27FC236}">
                <a16:creationId xmlns:a16="http://schemas.microsoft.com/office/drawing/2014/main" id="{31B3E28D-143C-4CE4-95D6-9785CBA1FD54}"/>
              </a:ext>
            </a:extLst>
          </p:cNvPr>
          <p:cNvSpPr>
            <a:spLocks noGrp="1"/>
          </p:cNvSpPr>
          <p:nvPr/>
        </p:nvSpPr>
        <p:spPr>
          <a:xfrm>
            <a:off x="2857500" y="3429000"/>
            <a:ext cx="142875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4" name="text-0057">
            <a:extLst>
              <a:ext uri="{FF2B5EF4-FFF2-40B4-BE49-F238E27FC236}">
                <a16:creationId xmlns:a16="http://schemas.microsoft.com/office/drawing/2014/main" id="{D7B157A4-7AE1-4CE3-B4B1-CA6F4D2ABD93}"/>
              </a:ext>
            </a:extLst>
          </p:cNvPr>
          <p:cNvSpPr>
            <a:spLocks noGrp="1"/>
          </p:cNvSpPr>
          <p:nvPr/>
        </p:nvSpPr>
        <p:spPr>
          <a:xfrm>
            <a:off x="2857500" y="3790950"/>
            <a:ext cx="1809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电源 / MAVLink</a:t>
            </a:r>
          </a:p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相机 / 舵机</a:t>
            </a:r>
          </a:p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端口与引脚</a:t>
            </a:r>
          </a:p>
        </p:txBody>
      </p:sp>
      <p:sp>
        <p:nvSpPr>
          <p:cNvPr id="15" name="shape-0058">
            <a:extLst>
              <a:ext uri="{FF2B5EF4-FFF2-40B4-BE49-F238E27FC236}">
                <a16:creationId xmlns:a16="http://schemas.microsoft.com/office/drawing/2014/main" id="{F1322C99-33E3-4465-BD71-E3924AFFE2B0}"/>
              </a:ext>
            </a:extLst>
          </p:cNvPr>
          <p:cNvSpPr>
            <a:spLocks noGrp="1"/>
          </p:cNvSpPr>
          <p:nvPr/>
        </p:nvSpPr>
        <p:spPr>
          <a:xfrm>
            <a:off x="4857750" y="1885950"/>
            <a:ext cx="14288" cy="34671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6" name="text-0059">
            <a:extLst>
              <a:ext uri="{FF2B5EF4-FFF2-40B4-BE49-F238E27FC236}">
                <a16:creationId xmlns:a16="http://schemas.microsoft.com/office/drawing/2014/main" id="{0544573D-C071-4FA5-B55C-D231AB7859DB}"/>
              </a:ext>
            </a:extLst>
          </p:cNvPr>
          <p:cNvSpPr>
            <a:spLocks noGrp="1"/>
          </p:cNvSpPr>
          <p:nvPr/>
        </p:nvSpPr>
        <p:spPr>
          <a:xfrm>
            <a:off x="5029200" y="1847850"/>
            <a:ext cx="1809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-0060">
            <a:extLst>
              <a:ext uri="{FF2B5EF4-FFF2-40B4-BE49-F238E27FC236}">
                <a16:creationId xmlns:a16="http://schemas.microsoft.com/office/drawing/2014/main" id="{A7B19545-A46B-40F1-A981-9A4AFD9670B2}"/>
              </a:ext>
            </a:extLst>
          </p:cNvPr>
          <p:cNvSpPr>
            <a:spLocks noGrp="1"/>
          </p:cNvSpPr>
          <p:nvPr/>
        </p:nvSpPr>
        <p:spPr>
          <a:xfrm>
            <a:off x="5029200" y="28575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供电预算</a:t>
            </a:r>
          </a:p>
        </p:txBody>
      </p:sp>
      <p:sp>
        <p:nvSpPr>
          <p:cNvPr id="18" name="shape-0061">
            <a:extLst>
              <a:ext uri="{FF2B5EF4-FFF2-40B4-BE49-F238E27FC236}">
                <a16:creationId xmlns:a16="http://schemas.microsoft.com/office/drawing/2014/main" id="{68B9E3ED-362C-4A34-8313-2D7024F03FF1}"/>
              </a:ext>
            </a:extLst>
          </p:cNvPr>
          <p:cNvSpPr>
            <a:spLocks noGrp="1"/>
          </p:cNvSpPr>
          <p:nvPr/>
        </p:nvSpPr>
        <p:spPr>
          <a:xfrm>
            <a:off x="5029200" y="3429000"/>
            <a:ext cx="142875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9" name="text-0062">
            <a:extLst>
              <a:ext uri="{FF2B5EF4-FFF2-40B4-BE49-F238E27FC236}">
                <a16:creationId xmlns:a16="http://schemas.microsoft.com/office/drawing/2014/main" id="{40051BAB-2796-4713-A5B8-D7E4E03A80B5}"/>
              </a:ext>
            </a:extLst>
          </p:cNvPr>
          <p:cNvSpPr>
            <a:spLocks noGrp="1"/>
          </p:cNvSpPr>
          <p:nvPr/>
        </p:nvSpPr>
        <p:spPr>
          <a:xfrm>
            <a:off x="5029200" y="3790950"/>
            <a:ext cx="1809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输入范围 / 电流</a:t>
            </a:r>
          </a:p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保险 / 实测电压</a:t>
            </a:r>
          </a:p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DC-DC</a:t>
            </a:r>
          </a:p>
        </p:txBody>
      </p:sp>
      <p:sp>
        <p:nvSpPr>
          <p:cNvPr id="20" name="shape-0063">
            <a:extLst>
              <a:ext uri="{FF2B5EF4-FFF2-40B4-BE49-F238E27FC236}">
                <a16:creationId xmlns:a16="http://schemas.microsoft.com/office/drawing/2014/main" id="{1E68727F-BBC5-4BD4-AD69-214ACD83D30D}"/>
              </a:ext>
            </a:extLst>
          </p:cNvPr>
          <p:cNvSpPr>
            <a:spLocks noGrp="1"/>
          </p:cNvSpPr>
          <p:nvPr/>
        </p:nvSpPr>
        <p:spPr>
          <a:xfrm>
            <a:off x="7029450" y="1885950"/>
            <a:ext cx="14288" cy="34671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1" name="text-0064">
            <a:extLst>
              <a:ext uri="{FF2B5EF4-FFF2-40B4-BE49-F238E27FC236}">
                <a16:creationId xmlns:a16="http://schemas.microsoft.com/office/drawing/2014/main" id="{241AB92B-DFFD-4415-A8DB-2DC13FEDAB5F}"/>
              </a:ext>
            </a:extLst>
          </p:cNvPr>
          <p:cNvSpPr>
            <a:spLocks noGrp="1"/>
          </p:cNvSpPr>
          <p:nvPr/>
        </p:nvSpPr>
        <p:spPr>
          <a:xfrm>
            <a:off x="7200900" y="1847850"/>
            <a:ext cx="1809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text-0065">
            <a:extLst>
              <a:ext uri="{FF2B5EF4-FFF2-40B4-BE49-F238E27FC236}">
                <a16:creationId xmlns:a16="http://schemas.microsoft.com/office/drawing/2014/main" id="{ACA61571-1E59-49B6-BC6D-14395713431C}"/>
              </a:ext>
            </a:extLst>
          </p:cNvPr>
          <p:cNvSpPr>
            <a:spLocks noGrp="1"/>
          </p:cNvSpPr>
          <p:nvPr/>
        </p:nvSpPr>
        <p:spPr>
          <a:xfrm>
            <a:off x="7200900" y="28575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分阶段上电</a:t>
            </a:r>
          </a:p>
        </p:txBody>
      </p:sp>
      <p:sp>
        <p:nvSpPr>
          <p:cNvPr id="23" name="shape-0066">
            <a:extLst>
              <a:ext uri="{FF2B5EF4-FFF2-40B4-BE49-F238E27FC236}">
                <a16:creationId xmlns:a16="http://schemas.microsoft.com/office/drawing/2014/main" id="{07A326D0-A6E5-41B8-A05B-B075B7E517C4}"/>
              </a:ext>
            </a:extLst>
          </p:cNvPr>
          <p:cNvSpPr>
            <a:spLocks noGrp="1"/>
          </p:cNvSpPr>
          <p:nvPr/>
        </p:nvSpPr>
        <p:spPr>
          <a:xfrm>
            <a:off x="7200900" y="3429000"/>
            <a:ext cx="142875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4" name="text-0067">
            <a:extLst>
              <a:ext uri="{FF2B5EF4-FFF2-40B4-BE49-F238E27FC236}">
                <a16:creationId xmlns:a16="http://schemas.microsoft.com/office/drawing/2014/main" id="{89482AB7-CEC1-45DE-971E-1DFD00960AB8}"/>
              </a:ext>
            </a:extLst>
          </p:cNvPr>
          <p:cNvSpPr>
            <a:spLocks noGrp="1"/>
          </p:cNvSpPr>
          <p:nvPr/>
        </p:nvSpPr>
        <p:spPr>
          <a:xfrm>
            <a:off x="7200900" y="3790950"/>
            <a:ext cx="1809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一次只新增一类</a:t>
            </a:r>
          </a:p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观察电压 / 温度</a:t>
            </a:r>
          </a:p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异常立即断电</a:t>
            </a:r>
          </a:p>
        </p:txBody>
      </p:sp>
      <p:sp>
        <p:nvSpPr>
          <p:cNvPr id="25" name="shape-0068">
            <a:extLst>
              <a:ext uri="{FF2B5EF4-FFF2-40B4-BE49-F238E27FC236}">
                <a16:creationId xmlns:a16="http://schemas.microsoft.com/office/drawing/2014/main" id="{7B2BA734-81B8-4957-A06E-40BBBBAE9DAC}"/>
              </a:ext>
            </a:extLst>
          </p:cNvPr>
          <p:cNvSpPr>
            <a:spLocks noGrp="1"/>
          </p:cNvSpPr>
          <p:nvPr/>
        </p:nvSpPr>
        <p:spPr>
          <a:xfrm>
            <a:off x="9201150" y="1885950"/>
            <a:ext cx="14288" cy="34671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6" name="text-0069">
            <a:extLst>
              <a:ext uri="{FF2B5EF4-FFF2-40B4-BE49-F238E27FC236}">
                <a16:creationId xmlns:a16="http://schemas.microsoft.com/office/drawing/2014/main" id="{DD985777-56C6-4470-ABEE-D84A9B1C3C93}"/>
              </a:ext>
            </a:extLst>
          </p:cNvPr>
          <p:cNvSpPr>
            <a:spLocks noGrp="1"/>
          </p:cNvSpPr>
          <p:nvPr/>
        </p:nvSpPr>
        <p:spPr>
          <a:xfrm>
            <a:off x="9372600" y="1847850"/>
            <a:ext cx="1809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text-0070">
            <a:extLst>
              <a:ext uri="{FF2B5EF4-FFF2-40B4-BE49-F238E27FC236}">
                <a16:creationId xmlns:a16="http://schemas.microsoft.com/office/drawing/2014/main" id="{D3712003-31E4-456B-A089-4C703F52482A}"/>
              </a:ext>
            </a:extLst>
          </p:cNvPr>
          <p:cNvSpPr>
            <a:spLocks noGrp="1"/>
          </p:cNvSpPr>
          <p:nvPr/>
        </p:nvSpPr>
        <p:spPr>
          <a:xfrm>
            <a:off x="9372600" y="28575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无桨验收</a:t>
            </a:r>
          </a:p>
        </p:txBody>
      </p:sp>
      <p:sp>
        <p:nvSpPr>
          <p:cNvPr id="28" name="shape-0071">
            <a:extLst>
              <a:ext uri="{FF2B5EF4-FFF2-40B4-BE49-F238E27FC236}">
                <a16:creationId xmlns:a16="http://schemas.microsoft.com/office/drawing/2014/main" id="{D2F66731-1A8D-4EF2-8A3C-A7E3F0F67FFC}"/>
              </a:ext>
            </a:extLst>
          </p:cNvPr>
          <p:cNvSpPr>
            <a:spLocks noGrp="1"/>
          </p:cNvSpPr>
          <p:nvPr/>
        </p:nvSpPr>
        <p:spPr>
          <a:xfrm>
            <a:off x="9372600" y="3429000"/>
            <a:ext cx="142875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9" name="text-0072">
            <a:extLst>
              <a:ext uri="{FF2B5EF4-FFF2-40B4-BE49-F238E27FC236}">
                <a16:creationId xmlns:a16="http://schemas.microsoft.com/office/drawing/2014/main" id="{9F110349-CD06-4785-BD22-521D14D47138}"/>
              </a:ext>
            </a:extLst>
          </p:cNvPr>
          <p:cNvSpPr>
            <a:spLocks noGrp="1"/>
          </p:cNvSpPr>
          <p:nvPr/>
        </p:nvSpPr>
        <p:spPr>
          <a:xfrm>
            <a:off x="9372600" y="3790950"/>
            <a:ext cx="1809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姿态 / 方向</a:t>
            </a:r>
          </a:p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视觉失效处理</a:t>
            </a:r>
          </a:p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载荷空载标定</a:t>
            </a:r>
          </a:p>
        </p:txBody>
      </p:sp>
      <p:sp>
        <p:nvSpPr>
          <p:cNvPr id="30" name="shape-0073">
            <a:extLst>
              <a:ext uri="{FF2B5EF4-FFF2-40B4-BE49-F238E27FC236}">
                <a16:creationId xmlns:a16="http://schemas.microsoft.com/office/drawing/2014/main" id="{BAF9410B-4852-468D-AF4D-2A32201455E2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10820400" cy="495300"/>
          </a:xfrm>
          <a:prstGeom prst="rect">
            <a:avLst/>
          </a:prstGeom>
          <a:solidFill>
            <a:srgbClr val="F5F6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1" name="text-0074">
            <a:extLst>
              <a:ext uri="{FF2B5EF4-FFF2-40B4-BE49-F238E27FC236}">
                <a16:creationId xmlns:a16="http://schemas.microsoft.com/office/drawing/2014/main" id="{8A003316-9498-4B58-A5FD-73822A6C6488}"/>
              </a:ext>
            </a:extLst>
          </p:cNvPr>
          <p:cNvSpPr>
            <a:spLocks noGrp="1"/>
          </p:cNvSpPr>
          <p:nvPr/>
        </p:nvSpPr>
        <p:spPr>
          <a:xfrm>
            <a:off x="914400" y="5581650"/>
            <a:ext cx="1036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预计 1～2 天；不要为了赶进度跳过测量、复核和记录。</a:t>
            </a:r>
          </a:p>
        </p:txBody>
      </p:sp>
    </p:spTree>
    <p:extLst>
      <p:ext uri="{BB962C8B-B14F-4D97-AF65-F5344CB8AC3E}">
        <p14:creationId xmlns:p14="http://schemas.microsoft.com/office/powerpoint/2010/main" val="1777496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-0044">
            <a:extLst>
              <a:ext uri="{FF2B5EF4-FFF2-40B4-BE49-F238E27FC236}">
                <a16:creationId xmlns:a16="http://schemas.microsoft.com/office/drawing/2014/main" id="{37E53F74-7228-4C90-9A89-C91935AD299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机械安装</a:t>
            </a:r>
          </a:p>
        </p:txBody>
      </p:sp>
      <p:sp>
        <p:nvSpPr>
          <p:cNvPr id="2" name="text-0045">
            <a:extLst>
              <a:ext uri="{FF2B5EF4-FFF2-40B4-BE49-F238E27FC236}">
                <a16:creationId xmlns:a16="http://schemas.microsoft.com/office/drawing/2014/main" id="{D5BE0C31-652F-472D-99E3-97A2C57D7840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机械布局先保证方向、散热、视野与安全间隙</a:t>
            </a:r>
          </a:p>
        </p:txBody>
      </p:sp>
      <p:sp>
        <p:nvSpPr>
          <p:cNvPr id="3" name="shape-0046">
            <a:extLst>
              <a:ext uri="{FF2B5EF4-FFF2-40B4-BE49-F238E27FC236}">
                <a16:creationId xmlns:a16="http://schemas.microsoft.com/office/drawing/2014/main" id="{F8C98D2D-71D6-4054-88F5-619241550D50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047">
            <a:extLst>
              <a:ext uri="{FF2B5EF4-FFF2-40B4-BE49-F238E27FC236}">
                <a16:creationId xmlns:a16="http://schemas.microsoft.com/office/drawing/2014/main" id="{4A7B453C-3B49-4445-8A70-3C7BCFA4CDB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03 无人机组装</a:t>
            </a:r>
          </a:p>
        </p:txBody>
      </p:sp>
      <p:sp>
        <p:nvSpPr>
          <p:cNvPr id="5" name="text-0048">
            <a:extLst>
              <a:ext uri="{FF2B5EF4-FFF2-40B4-BE49-F238E27FC236}">
                <a16:creationId xmlns:a16="http://schemas.microsoft.com/office/drawing/2014/main" id="{EC260AAC-7142-4C29-9EB9-7F874E769D37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text-0049">
            <a:extLst>
              <a:ext uri="{FF2B5EF4-FFF2-40B4-BE49-F238E27FC236}">
                <a16:creationId xmlns:a16="http://schemas.microsoft.com/office/drawing/2014/main" id="{42534F67-7188-41DF-ABCC-B7990007A376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809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050">
            <a:extLst>
              <a:ext uri="{FF2B5EF4-FFF2-40B4-BE49-F238E27FC236}">
                <a16:creationId xmlns:a16="http://schemas.microsoft.com/office/drawing/2014/main" id="{C318DDFA-4251-4FBC-8FB4-87604C809C7D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机架与动力</a:t>
            </a:r>
          </a:p>
        </p:txBody>
      </p:sp>
      <p:sp>
        <p:nvSpPr>
          <p:cNvPr id="8" name="shape-0051">
            <a:extLst>
              <a:ext uri="{FF2B5EF4-FFF2-40B4-BE49-F238E27FC236}">
                <a16:creationId xmlns:a16="http://schemas.microsoft.com/office/drawing/2014/main" id="{ED76BCAA-7882-4624-9AE1-7946CC509331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1428750" cy="285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9" name="text-0052">
            <a:extLst>
              <a:ext uri="{FF2B5EF4-FFF2-40B4-BE49-F238E27FC236}">
                <a16:creationId xmlns:a16="http://schemas.microsoft.com/office/drawing/2014/main" id="{18AA0E75-DD84-4BF2-915A-24493A662902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1809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标记机头方向</a:t>
            </a:r>
          </a:p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只做机械固定</a:t>
            </a:r>
          </a:p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不装桨、不接电池</a:t>
            </a:r>
          </a:p>
        </p:txBody>
      </p:sp>
      <p:sp>
        <p:nvSpPr>
          <p:cNvPr id="10" name="shape-0053">
            <a:extLst>
              <a:ext uri="{FF2B5EF4-FFF2-40B4-BE49-F238E27FC236}">
                <a16:creationId xmlns:a16="http://schemas.microsoft.com/office/drawing/2014/main" id="{E8C27604-4A10-40B7-AC8B-6ADB3AAF35DA}"/>
              </a:ext>
            </a:extLst>
          </p:cNvPr>
          <p:cNvSpPr>
            <a:spLocks noGrp="1"/>
          </p:cNvSpPr>
          <p:nvPr/>
        </p:nvSpPr>
        <p:spPr>
          <a:xfrm>
            <a:off x="2686050" y="1885950"/>
            <a:ext cx="14288" cy="34671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1" name="text-0054">
            <a:extLst>
              <a:ext uri="{FF2B5EF4-FFF2-40B4-BE49-F238E27FC236}">
                <a16:creationId xmlns:a16="http://schemas.microsoft.com/office/drawing/2014/main" id="{2AA3AF30-1994-4CCF-BBB0-C2F4C2FFA6BC}"/>
              </a:ext>
            </a:extLst>
          </p:cNvPr>
          <p:cNvSpPr>
            <a:spLocks noGrp="1"/>
          </p:cNvSpPr>
          <p:nvPr/>
        </p:nvSpPr>
        <p:spPr>
          <a:xfrm>
            <a:off x="2857500" y="1847850"/>
            <a:ext cx="1809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-0055">
            <a:extLst>
              <a:ext uri="{FF2B5EF4-FFF2-40B4-BE49-F238E27FC236}">
                <a16:creationId xmlns:a16="http://schemas.microsoft.com/office/drawing/2014/main" id="{B191EEF0-6355-4BCF-8399-4C2AF91ED464}"/>
              </a:ext>
            </a:extLst>
          </p:cNvPr>
          <p:cNvSpPr>
            <a:spLocks noGrp="1"/>
          </p:cNvSpPr>
          <p:nvPr/>
        </p:nvSpPr>
        <p:spPr>
          <a:xfrm>
            <a:off x="2857500" y="28575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飞控与 GPS</a:t>
            </a:r>
          </a:p>
        </p:txBody>
      </p:sp>
      <p:sp>
        <p:nvSpPr>
          <p:cNvPr id="13" name="shape-0056">
            <a:extLst>
              <a:ext uri="{FF2B5EF4-FFF2-40B4-BE49-F238E27FC236}">
                <a16:creationId xmlns:a16="http://schemas.microsoft.com/office/drawing/2014/main" id="{31B3E28D-143C-4CE4-95D6-9785CBA1FD54}"/>
              </a:ext>
            </a:extLst>
          </p:cNvPr>
          <p:cNvSpPr>
            <a:spLocks noGrp="1"/>
          </p:cNvSpPr>
          <p:nvPr/>
        </p:nvSpPr>
        <p:spPr>
          <a:xfrm>
            <a:off x="2857500" y="3429000"/>
            <a:ext cx="142875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4" name="text-0057">
            <a:extLst>
              <a:ext uri="{FF2B5EF4-FFF2-40B4-BE49-F238E27FC236}">
                <a16:creationId xmlns:a16="http://schemas.microsoft.com/office/drawing/2014/main" id="{D7B157A4-7AE1-4CE3-B4B1-CA6F4D2ABD93}"/>
              </a:ext>
            </a:extLst>
          </p:cNvPr>
          <p:cNvSpPr>
            <a:spLocks noGrp="1"/>
          </p:cNvSpPr>
          <p:nvPr/>
        </p:nvSpPr>
        <p:spPr>
          <a:xfrm>
            <a:off x="2857500" y="3790950"/>
            <a:ext cx="1809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靠近中心 / 减震</a:t>
            </a:r>
          </a:p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箭头与配置一致</a:t>
            </a:r>
          </a:p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远离大电流与磁性材料</a:t>
            </a:r>
          </a:p>
        </p:txBody>
      </p:sp>
      <p:sp>
        <p:nvSpPr>
          <p:cNvPr id="15" name="shape-0058">
            <a:extLst>
              <a:ext uri="{FF2B5EF4-FFF2-40B4-BE49-F238E27FC236}">
                <a16:creationId xmlns:a16="http://schemas.microsoft.com/office/drawing/2014/main" id="{F1322C99-33E3-4465-BD71-E3924AFFE2B0}"/>
              </a:ext>
            </a:extLst>
          </p:cNvPr>
          <p:cNvSpPr>
            <a:spLocks noGrp="1"/>
          </p:cNvSpPr>
          <p:nvPr/>
        </p:nvSpPr>
        <p:spPr>
          <a:xfrm>
            <a:off x="4857750" y="1885950"/>
            <a:ext cx="14288" cy="34671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6" name="text-0059">
            <a:extLst>
              <a:ext uri="{FF2B5EF4-FFF2-40B4-BE49-F238E27FC236}">
                <a16:creationId xmlns:a16="http://schemas.microsoft.com/office/drawing/2014/main" id="{0544573D-C071-4FA5-B55C-D231AB7859DB}"/>
              </a:ext>
            </a:extLst>
          </p:cNvPr>
          <p:cNvSpPr>
            <a:spLocks noGrp="1"/>
          </p:cNvSpPr>
          <p:nvPr/>
        </p:nvSpPr>
        <p:spPr>
          <a:xfrm>
            <a:off x="5029200" y="1847850"/>
            <a:ext cx="1809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-0060">
            <a:extLst>
              <a:ext uri="{FF2B5EF4-FFF2-40B4-BE49-F238E27FC236}">
                <a16:creationId xmlns:a16="http://schemas.microsoft.com/office/drawing/2014/main" id="{A7B19545-A46B-40F1-A981-9A4AFD9670B2}"/>
              </a:ext>
            </a:extLst>
          </p:cNvPr>
          <p:cNvSpPr>
            <a:spLocks noGrp="1"/>
          </p:cNvSpPr>
          <p:nvPr/>
        </p:nvSpPr>
        <p:spPr>
          <a:xfrm>
            <a:off x="5029200" y="28575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RK3588</a:t>
            </a:r>
          </a:p>
        </p:txBody>
      </p:sp>
      <p:sp>
        <p:nvSpPr>
          <p:cNvPr id="18" name="shape-0061">
            <a:extLst>
              <a:ext uri="{FF2B5EF4-FFF2-40B4-BE49-F238E27FC236}">
                <a16:creationId xmlns:a16="http://schemas.microsoft.com/office/drawing/2014/main" id="{68B9E3ED-362C-4A34-8313-2D7024F03FF1}"/>
              </a:ext>
            </a:extLst>
          </p:cNvPr>
          <p:cNvSpPr>
            <a:spLocks noGrp="1"/>
          </p:cNvSpPr>
          <p:nvPr/>
        </p:nvSpPr>
        <p:spPr>
          <a:xfrm>
            <a:off x="5029200" y="3429000"/>
            <a:ext cx="142875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9" name="text-0062">
            <a:extLst>
              <a:ext uri="{FF2B5EF4-FFF2-40B4-BE49-F238E27FC236}">
                <a16:creationId xmlns:a16="http://schemas.microsoft.com/office/drawing/2014/main" id="{40051BAB-2796-4713-A5B8-D7E4E03A80B5}"/>
              </a:ext>
            </a:extLst>
          </p:cNvPr>
          <p:cNvSpPr>
            <a:spLocks noGrp="1"/>
          </p:cNvSpPr>
          <p:nvPr/>
        </p:nvSpPr>
        <p:spPr>
          <a:xfrm>
            <a:off x="5029200" y="3790950"/>
            <a:ext cx="1809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散热 + 绝缘</a:t>
            </a:r>
          </a:p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接口可维护</a:t>
            </a:r>
          </a:p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线缆应力释放</a:t>
            </a:r>
          </a:p>
        </p:txBody>
      </p:sp>
      <p:sp>
        <p:nvSpPr>
          <p:cNvPr id="20" name="shape-0063">
            <a:extLst>
              <a:ext uri="{FF2B5EF4-FFF2-40B4-BE49-F238E27FC236}">
                <a16:creationId xmlns:a16="http://schemas.microsoft.com/office/drawing/2014/main" id="{1E68727F-BBC5-4BD4-AD69-214ACD83D30D}"/>
              </a:ext>
            </a:extLst>
          </p:cNvPr>
          <p:cNvSpPr>
            <a:spLocks noGrp="1"/>
          </p:cNvSpPr>
          <p:nvPr/>
        </p:nvSpPr>
        <p:spPr>
          <a:xfrm>
            <a:off x="7029450" y="1885950"/>
            <a:ext cx="14288" cy="34671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1" name="text-0064">
            <a:extLst>
              <a:ext uri="{FF2B5EF4-FFF2-40B4-BE49-F238E27FC236}">
                <a16:creationId xmlns:a16="http://schemas.microsoft.com/office/drawing/2014/main" id="{241AB92B-DFFD-4415-A8DB-2DC13FEDAB5F}"/>
              </a:ext>
            </a:extLst>
          </p:cNvPr>
          <p:cNvSpPr>
            <a:spLocks noGrp="1"/>
          </p:cNvSpPr>
          <p:nvPr/>
        </p:nvSpPr>
        <p:spPr>
          <a:xfrm>
            <a:off x="7200900" y="1847850"/>
            <a:ext cx="1809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text-0065">
            <a:extLst>
              <a:ext uri="{FF2B5EF4-FFF2-40B4-BE49-F238E27FC236}">
                <a16:creationId xmlns:a16="http://schemas.microsoft.com/office/drawing/2014/main" id="{ACA61571-1E59-49B6-BC6D-14395713431C}"/>
              </a:ext>
            </a:extLst>
          </p:cNvPr>
          <p:cNvSpPr>
            <a:spLocks noGrp="1"/>
          </p:cNvSpPr>
          <p:nvPr/>
        </p:nvSpPr>
        <p:spPr>
          <a:xfrm>
            <a:off x="7200900" y="28575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下视相机</a:t>
            </a:r>
          </a:p>
        </p:txBody>
      </p:sp>
      <p:sp>
        <p:nvSpPr>
          <p:cNvPr id="23" name="shape-0066">
            <a:extLst>
              <a:ext uri="{FF2B5EF4-FFF2-40B4-BE49-F238E27FC236}">
                <a16:creationId xmlns:a16="http://schemas.microsoft.com/office/drawing/2014/main" id="{07A326D0-A6E5-41B8-A05B-B075B7E517C4}"/>
              </a:ext>
            </a:extLst>
          </p:cNvPr>
          <p:cNvSpPr>
            <a:spLocks noGrp="1"/>
          </p:cNvSpPr>
          <p:nvPr/>
        </p:nvSpPr>
        <p:spPr>
          <a:xfrm>
            <a:off x="7200900" y="3429000"/>
            <a:ext cx="142875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4" name="text-0067">
            <a:extLst>
              <a:ext uri="{FF2B5EF4-FFF2-40B4-BE49-F238E27FC236}">
                <a16:creationId xmlns:a16="http://schemas.microsoft.com/office/drawing/2014/main" id="{89482AB7-CEC1-45DE-971E-1DFD00960AB8}"/>
              </a:ext>
            </a:extLst>
          </p:cNvPr>
          <p:cNvSpPr>
            <a:spLocks noGrp="1"/>
          </p:cNvSpPr>
          <p:nvPr/>
        </p:nvSpPr>
        <p:spPr>
          <a:xfrm>
            <a:off x="7200900" y="3790950"/>
            <a:ext cx="1809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光轴垂直向下</a:t>
            </a:r>
          </a:p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不镜像输入</a:t>
            </a:r>
          </a:p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实测前 / 右偏移</a:t>
            </a:r>
          </a:p>
        </p:txBody>
      </p:sp>
      <p:sp>
        <p:nvSpPr>
          <p:cNvPr id="25" name="shape-0068">
            <a:extLst>
              <a:ext uri="{FF2B5EF4-FFF2-40B4-BE49-F238E27FC236}">
                <a16:creationId xmlns:a16="http://schemas.microsoft.com/office/drawing/2014/main" id="{7B2BA734-81B8-4957-A06E-40BBBBAE9DAC}"/>
              </a:ext>
            </a:extLst>
          </p:cNvPr>
          <p:cNvSpPr>
            <a:spLocks noGrp="1"/>
          </p:cNvSpPr>
          <p:nvPr/>
        </p:nvSpPr>
        <p:spPr>
          <a:xfrm>
            <a:off x="9201150" y="1885950"/>
            <a:ext cx="14288" cy="34671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6" name="text-0069">
            <a:extLst>
              <a:ext uri="{FF2B5EF4-FFF2-40B4-BE49-F238E27FC236}">
                <a16:creationId xmlns:a16="http://schemas.microsoft.com/office/drawing/2014/main" id="{DD985777-56C6-4470-ABEE-D84A9B1C3C93}"/>
              </a:ext>
            </a:extLst>
          </p:cNvPr>
          <p:cNvSpPr>
            <a:spLocks noGrp="1"/>
          </p:cNvSpPr>
          <p:nvPr/>
        </p:nvSpPr>
        <p:spPr>
          <a:xfrm>
            <a:off x="9372600" y="1847850"/>
            <a:ext cx="1809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text-0070">
            <a:extLst>
              <a:ext uri="{FF2B5EF4-FFF2-40B4-BE49-F238E27FC236}">
                <a16:creationId xmlns:a16="http://schemas.microsoft.com/office/drawing/2014/main" id="{D3712003-31E4-456B-A089-4C703F52482A}"/>
              </a:ext>
            </a:extLst>
          </p:cNvPr>
          <p:cNvSpPr>
            <a:spLocks noGrp="1"/>
          </p:cNvSpPr>
          <p:nvPr/>
        </p:nvSpPr>
        <p:spPr>
          <a:xfrm>
            <a:off x="9372600" y="28575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载荷与重心</a:t>
            </a:r>
          </a:p>
        </p:txBody>
      </p:sp>
      <p:sp>
        <p:nvSpPr>
          <p:cNvPr id="28" name="shape-0071">
            <a:extLst>
              <a:ext uri="{FF2B5EF4-FFF2-40B4-BE49-F238E27FC236}">
                <a16:creationId xmlns:a16="http://schemas.microsoft.com/office/drawing/2014/main" id="{D2F66731-1A8D-4EF2-8A3C-A7E3F0F67FFC}"/>
              </a:ext>
            </a:extLst>
          </p:cNvPr>
          <p:cNvSpPr>
            <a:spLocks noGrp="1"/>
          </p:cNvSpPr>
          <p:nvPr/>
        </p:nvSpPr>
        <p:spPr>
          <a:xfrm>
            <a:off x="9372600" y="3429000"/>
            <a:ext cx="142875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9" name="text-0072">
            <a:extLst>
              <a:ext uri="{FF2B5EF4-FFF2-40B4-BE49-F238E27FC236}">
                <a16:creationId xmlns:a16="http://schemas.microsoft.com/office/drawing/2014/main" id="{9F110349-CD06-4785-BD22-521D14D47138}"/>
              </a:ext>
            </a:extLst>
          </p:cNvPr>
          <p:cNvSpPr>
            <a:spLocks noGrp="1"/>
          </p:cNvSpPr>
          <p:nvPr/>
        </p:nvSpPr>
        <p:spPr>
          <a:xfrm>
            <a:off x="9372600" y="3790950"/>
            <a:ext cx="1809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两路清晰标记</a:t>
            </a:r>
          </a:p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无机械干涉</a:t>
            </a:r>
          </a:p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三种状态核对重心</a:t>
            </a:r>
          </a:p>
        </p:txBody>
      </p:sp>
      <p:sp>
        <p:nvSpPr>
          <p:cNvPr id="30" name="shape-0073">
            <a:extLst>
              <a:ext uri="{FF2B5EF4-FFF2-40B4-BE49-F238E27FC236}">
                <a16:creationId xmlns:a16="http://schemas.microsoft.com/office/drawing/2014/main" id="{BAF9410B-4852-468D-AF4D-2A32201455E2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10820400" cy="495300"/>
          </a:xfrm>
          <a:prstGeom prst="rect">
            <a:avLst/>
          </a:prstGeom>
          <a:solidFill>
            <a:srgbClr val="F5F6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1" name="text-0074">
            <a:extLst>
              <a:ext uri="{FF2B5EF4-FFF2-40B4-BE49-F238E27FC236}">
                <a16:creationId xmlns:a16="http://schemas.microsoft.com/office/drawing/2014/main" id="{8A003316-9498-4B58-A5FD-73822A6C6488}"/>
              </a:ext>
            </a:extLst>
          </p:cNvPr>
          <p:cNvSpPr>
            <a:spLocks noGrp="1"/>
          </p:cNvSpPr>
          <p:nvPr/>
        </p:nvSpPr>
        <p:spPr>
          <a:xfrm>
            <a:off x="914400" y="5581650"/>
            <a:ext cx="1036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方向错误优先修正机械或飞控配置，不能修改比赛坐标代码来补偿。</a:t>
            </a:r>
          </a:p>
        </p:txBody>
      </p:sp>
    </p:spTree>
    <p:extLst>
      <p:ext uri="{BB962C8B-B14F-4D97-AF65-F5344CB8AC3E}">
        <p14:creationId xmlns:p14="http://schemas.microsoft.com/office/powerpoint/2010/main" val="1777496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5">
            <a:extLst>
              <a:ext uri="{FF2B5EF4-FFF2-40B4-BE49-F238E27FC236}">
                <a16:creationId xmlns:a16="http://schemas.microsoft.com/office/drawing/2014/main" id="{F011691B-EA5E-5EE9-8FD1-40BB62B76650}"/>
              </a:ext>
            </a:extLst>
          </p:cNvPr>
          <p:cNvSpPr txBox="1"/>
          <p:nvPr/>
        </p:nvSpPr>
        <p:spPr>
          <a:xfrm>
            <a:off x="685800" y="400050"/>
            <a:ext cx="590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机械安装 </a:t>
            </a:r>
            <a:r>
              <a:rPr lang="en-US" altLang="zh-CN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照片记录</a:t>
            </a:r>
          </a:p>
        </p:txBody>
      </p:sp>
      <p:sp>
        <p:nvSpPr>
          <p:cNvPr id="3" name="title-5">
            <a:extLst>
              <a:ext uri="{FF2B5EF4-FFF2-40B4-BE49-F238E27FC236}">
                <a16:creationId xmlns:a16="http://schemas.microsoft.com/office/drawing/2014/main" id="{4467BF2F-C2F8-06E4-DFEB-43848E28515D}"/>
              </a:ext>
            </a:extLst>
          </p:cNvPr>
          <p:cNvSpPr txBox="1"/>
          <p:nvPr/>
        </p:nvSpPr>
        <p:spPr>
          <a:xfrm>
            <a:off x="685800" y="7620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机架与动力系统：先确认机头，再固定结构</a:t>
            </a:r>
          </a:p>
        </p:txBody>
      </p:sp>
      <p:sp>
        <p:nvSpPr>
          <p:cNvPr id="4" name="number-5-1">
            <a:extLst>
              <a:ext uri="{FF2B5EF4-FFF2-40B4-BE49-F238E27FC236}">
                <a16:creationId xmlns:a16="http://schemas.microsoft.com/office/drawing/2014/main" id="{D9F69111-F497-C4AE-8EF3-152A4447A95A}"/>
              </a:ext>
            </a:extLst>
          </p:cNvPr>
          <p:cNvSpPr txBox="1"/>
          <p:nvPr/>
        </p:nvSpPr>
        <p:spPr>
          <a:xfrm>
            <a:off x="685800" y="1847850"/>
            <a:ext cx="876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16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photo-placeholder-5-1">
            <a:extLst>
              <a:ext uri="{FF2B5EF4-FFF2-40B4-BE49-F238E27FC236}">
                <a16:creationId xmlns:a16="http://schemas.microsoft.com/office/drawing/2014/main" id="{09BA7BDE-A510-A637-F4D8-04C0AE85C0FC}"/>
              </a:ext>
            </a:extLst>
          </p:cNvPr>
          <p:cNvSpPr/>
          <p:nvPr/>
        </p:nvSpPr>
        <p:spPr>
          <a:xfrm>
            <a:off x="685800" y="2095500"/>
            <a:ext cx="3143250" cy="1447800"/>
          </a:xfrm>
          <a:prstGeom prst="rect">
            <a:avLst/>
          </a:prstGeom>
          <a:solidFill>
            <a:srgbClr val="F3F8FD"/>
          </a:solidFill>
          <a:ln w="19050"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Autofit/>
          </a:bodyPr>
          <a:lstStyle/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照片位置</a:t>
            </a:r>
          </a:p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俯视整体 </a:t>
            </a:r>
            <a:r>
              <a:rPr lang="en-US" altLang="zh-CN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方向标记</a:t>
            </a:r>
          </a:p>
        </p:txBody>
      </p:sp>
      <p:sp>
        <p:nvSpPr>
          <p:cNvPr id="6" name="name-5-1">
            <a:extLst>
              <a:ext uri="{FF2B5EF4-FFF2-40B4-BE49-F238E27FC236}">
                <a16:creationId xmlns:a16="http://schemas.microsoft.com/office/drawing/2014/main" id="{C5093FFE-DA2B-63C8-99B6-99AE0B0A1711}"/>
              </a:ext>
            </a:extLst>
          </p:cNvPr>
          <p:cNvSpPr txBox="1"/>
          <p:nvPr/>
        </p:nvSpPr>
        <p:spPr>
          <a:xfrm>
            <a:off x="685800" y="36957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25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机架整体与机头标记</a:t>
            </a:r>
          </a:p>
        </p:txBody>
      </p:sp>
      <p:sp>
        <p:nvSpPr>
          <p:cNvPr id="7" name="spec-5-1">
            <a:extLst>
              <a:ext uri="{FF2B5EF4-FFF2-40B4-BE49-F238E27FC236}">
                <a16:creationId xmlns:a16="http://schemas.microsoft.com/office/drawing/2014/main" id="{B3830E3F-F8F5-72EA-110E-A579A76175D4}"/>
              </a:ext>
            </a:extLst>
          </p:cNvPr>
          <p:cNvSpPr txBox="1"/>
          <p:nvPr/>
        </p:nvSpPr>
        <p:spPr>
          <a:xfrm>
            <a:off x="685800" y="417195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只做机械固定</a:t>
            </a:r>
          </a:p>
        </p:txBody>
      </p:sp>
      <p:sp>
        <p:nvSpPr>
          <p:cNvPr id="8" name="status-5-1">
            <a:extLst>
              <a:ext uri="{FF2B5EF4-FFF2-40B4-BE49-F238E27FC236}">
                <a16:creationId xmlns:a16="http://schemas.microsoft.com/office/drawing/2014/main" id="{37C2F633-8B81-10D3-9D56-3B0B18BD33CA}"/>
              </a:ext>
            </a:extLst>
          </p:cNvPr>
          <p:cNvSpPr txBox="1"/>
          <p:nvPr/>
        </p:nvSpPr>
        <p:spPr>
          <a:xfrm>
            <a:off x="685800" y="45339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22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待拍摄</a:t>
            </a:r>
          </a:p>
        </p:txBody>
      </p:sp>
      <p:sp>
        <p:nvSpPr>
          <p:cNvPr id="9" name="detail-5-1">
            <a:extLst>
              <a:ext uri="{FF2B5EF4-FFF2-40B4-BE49-F238E27FC236}">
                <a16:creationId xmlns:a16="http://schemas.microsoft.com/office/drawing/2014/main" id="{B3F26252-DA96-D548-0804-6641050E1292}"/>
              </a:ext>
            </a:extLst>
          </p:cNvPr>
          <p:cNvSpPr txBox="1"/>
          <p:nvPr/>
        </p:nvSpPr>
        <p:spPr>
          <a:xfrm>
            <a:off x="685800" y="50292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0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建议：俯视整体，拍到永久方向标记</a:t>
            </a:r>
          </a:p>
        </p:txBody>
      </p:sp>
      <p:sp>
        <p:nvSpPr>
          <p:cNvPr id="10" name="number-5-2">
            <a:extLst>
              <a:ext uri="{FF2B5EF4-FFF2-40B4-BE49-F238E27FC236}">
                <a16:creationId xmlns:a16="http://schemas.microsoft.com/office/drawing/2014/main" id="{5F626A81-F6FD-FC53-8F6F-C29A966FBF8E}"/>
              </a:ext>
            </a:extLst>
          </p:cNvPr>
          <p:cNvSpPr txBox="1"/>
          <p:nvPr/>
        </p:nvSpPr>
        <p:spPr>
          <a:xfrm>
            <a:off x="4324350" y="1847850"/>
            <a:ext cx="876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6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photo-placeholder-5-2">
            <a:extLst>
              <a:ext uri="{FF2B5EF4-FFF2-40B4-BE49-F238E27FC236}">
                <a16:creationId xmlns:a16="http://schemas.microsoft.com/office/drawing/2014/main" id="{0A1996D1-3923-5F1E-6318-7BAA1E43BA5B}"/>
              </a:ext>
            </a:extLst>
          </p:cNvPr>
          <p:cNvSpPr/>
          <p:nvPr/>
        </p:nvSpPr>
        <p:spPr>
          <a:xfrm>
            <a:off x="4324350" y="2095500"/>
            <a:ext cx="3143250" cy="1447800"/>
          </a:xfrm>
          <a:prstGeom prst="rect">
            <a:avLst/>
          </a:prstGeom>
          <a:solidFill>
            <a:srgbClr val="F3F8FD"/>
          </a:solidFill>
          <a:ln w="19050"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Autofit/>
          </a:bodyPr>
          <a:lstStyle/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照片位置</a:t>
            </a:r>
          </a:p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机臂近拍 </a:t>
            </a:r>
            <a:r>
              <a:rPr lang="en-US" altLang="zh-CN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紧固件</a:t>
            </a:r>
          </a:p>
        </p:txBody>
      </p:sp>
      <p:sp>
        <p:nvSpPr>
          <p:cNvPr id="12" name="name-5-2">
            <a:extLst>
              <a:ext uri="{FF2B5EF4-FFF2-40B4-BE49-F238E27FC236}">
                <a16:creationId xmlns:a16="http://schemas.microsoft.com/office/drawing/2014/main" id="{4A09F12D-9B74-05D2-CD5A-052CD6CFE416}"/>
              </a:ext>
            </a:extLst>
          </p:cNvPr>
          <p:cNvSpPr txBox="1"/>
          <p:nvPr/>
        </p:nvSpPr>
        <p:spPr>
          <a:xfrm>
            <a:off x="4324350" y="36957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25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电机座与电调固定</a:t>
            </a:r>
          </a:p>
        </p:txBody>
      </p:sp>
      <p:sp>
        <p:nvSpPr>
          <p:cNvPr id="13" name="spec-5-2">
            <a:extLst>
              <a:ext uri="{FF2B5EF4-FFF2-40B4-BE49-F238E27FC236}">
                <a16:creationId xmlns:a16="http://schemas.microsoft.com/office/drawing/2014/main" id="{65A82448-4842-6041-57ED-8707694276A3}"/>
              </a:ext>
            </a:extLst>
          </p:cNvPr>
          <p:cNvSpPr txBox="1"/>
          <p:nvPr/>
        </p:nvSpPr>
        <p:spPr>
          <a:xfrm>
            <a:off x="4324350" y="417195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核对方向与紧固件</a:t>
            </a:r>
          </a:p>
        </p:txBody>
      </p:sp>
      <p:sp>
        <p:nvSpPr>
          <p:cNvPr id="14" name="status-5-2">
            <a:extLst>
              <a:ext uri="{FF2B5EF4-FFF2-40B4-BE49-F238E27FC236}">
                <a16:creationId xmlns:a16="http://schemas.microsoft.com/office/drawing/2014/main" id="{F2655764-592D-A2E9-E9F9-F0F5F90A2FBC}"/>
              </a:ext>
            </a:extLst>
          </p:cNvPr>
          <p:cNvSpPr txBox="1"/>
          <p:nvPr/>
        </p:nvSpPr>
        <p:spPr>
          <a:xfrm>
            <a:off x="4324350" y="45339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22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待拍摄</a:t>
            </a:r>
          </a:p>
        </p:txBody>
      </p:sp>
      <p:sp>
        <p:nvSpPr>
          <p:cNvPr id="15" name="detail-5-2">
            <a:extLst>
              <a:ext uri="{FF2B5EF4-FFF2-40B4-BE49-F238E27FC236}">
                <a16:creationId xmlns:a16="http://schemas.microsoft.com/office/drawing/2014/main" id="{559FB905-E119-E8E5-E9AF-9CADF8076A0D}"/>
              </a:ext>
            </a:extLst>
          </p:cNvPr>
          <p:cNvSpPr txBox="1"/>
          <p:nvPr/>
        </p:nvSpPr>
        <p:spPr>
          <a:xfrm>
            <a:off x="4324350" y="50292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0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建议：近拍单个机臂和安装细节</a:t>
            </a:r>
          </a:p>
        </p:txBody>
      </p:sp>
      <p:sp>
        <p:nvSpPr>
          <p:cNvPr id="16" name="number-5-3">
            <a:extLst>
              <a:ext uri="{FF2B5EF4-FFF2-40B4-BE49-F238E27FC236}">
                <a16:creationId xmlns:a16="http://schemas.microsoft.com/office/drawing/2014/main" id="{234E5068-B134-235A-F8CF-3680546AB720}"/>
              </a:ext>
            </a:extLst>
          </p:cNvPr>
          <p:cNvSpPr txBox="1"/>
          <p:nvPr/>
        </p:nvSpPr>
        <p:spPr>
          <a:xfrm>
            <a:off x="7962900" y="1847850"/>
            <a:ext cx="876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6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photo-placeholder-5-3">
            <a:extLst>
              <a:ext uri="{FF2B5EF4-FFF2-40B4-BE49-F238E27FC236}">
                <a16:creationId xmlns:a16="http://schemas.microsoft.com/office/drawing/2014/main" id="{E5ECBC44-9012-A770-2BA2-F056E9AF1988}"/>
              </a:ext>
            </a:extLst>
          </p:cNvPr>
          <p:cNvSpPr/>
          <p:nvPr/>
        </p:nvSpPr>
        <p:spPr>
          <a:xfrm>
            <a:off x="7962900" y="2095500"/>
            <a:ext cx="3143250" cy="1447800"/>
          </a:xfrm>
          <a:prstGeom prst="rect">
            <a:avLst/>
          </a:prstGeom>
          <a:solidFill>
            <a:srgbClr val="F3F8FD"/>
          </a:solidFill>
          <a:ln w="19050"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Autofit/>
          </a:bodyPr>
          <a:lstStyle/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照片位置</a:t>
            </a:r>
          </a:p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走线全景 </a:t>
            </a:r>
            <a:r>
              <a:rPr lang="en-US" altLang="zh-CN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防松</a:t>
            </a:r>
          </a:p>
        </p:txBody>
      </p:sp>
      <p:sp>
        <p:nvSpPr>
          <p:cNvPr id="18" name="name-5-3">
            <a:extLst>
              <a:ext uri="{FF2B5EF4-FFF2-40B4-BE49-F238E27FC236}">
                <a16:creationId xmlns:a16="http://schemas.microsoft.com/office/drawing/2014/main" id="{8F9E8347-F303-E378-B11A-D97F74DE66EC}"/>
              </a:ext>
            </a:extLst>
          </p:cNvPr>
          <p:cNvSpPr txBox="1"/>
          <p:nvPr/>
        </p:nvSpPr>
        <p:spPr>
          <a:xfrm>
            <a:off x="7962900" y="36957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25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动力线与桨区边界</a:t>
            </a:r>
          </a:p>
        </p:txBody>
      </p:sp>
      <p:sp>
        <p:nvSpPr>
          <p:cNvPr id="19" name="spec-5-3">
            <a:extLst>
              <a:ext uri="{FF2B5EF4-FFF2-40B4-BE49-F238E27FC236}">
                <a16:creationId xmlns:a16="http://schemas.microsoft.com/office/drawing/2014/main" id="{4EF71054-3FAC-609E-89D0-DB4F33B72DA9}"/>
              </a:ext>
            </a:extLst>
          </p:cNvPr>
          <p:cNvSpPr txBox="1"/>
          <p:nvPr/>
        </p:nvSpPr>
        <p:spPr>
          <a:xfrm>
            <a:off x="7962900" y="417195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线缆不得进入扫掠区</a:t>
            </a:r>
          </a:p>
        </p:txBody>
      </p:sp>
      <p:sp>
        <p:nvSpPr>
          <p:cNvPr id="20" name="status-5-3">
            <a:extLst>
              <a:ext uri="{FF2B5EF4-FFF2-40B4-BE49-F238E27FC236}">
                <a16:creationId xmlns:a16="http://schemas.microsoft.com/office/drawing/2014/main" id="{B47EB29D-5B88-0BA3-A35C-1340AB21712D}"/>
              </a:ext>
            </a:extLst>
          </p:cNvPr>
          <p:cNvSpPr txBox="1"/>
          <p:nvPr/>
        </p:nvSpPr>
        <p:spPr>
          <a:xfrm>
            <a:off x="7962900" y="45339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22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待拍摄</a:t>
            </a:r>
          </a:p>
        </p:txBody>
      </p:sp>
      <p:sp>
        <p:nvSpPr>
          <p:cNvPr id="21" name="detail-5-3">
            <a:extLst>
              <a:ext uri="{FF2B5EF4-FFF2-40B4-BE49-F238E27FC236}">
                <a16:creationId xmlns:a16="http://schemas.microsoft.com/office/drawing/2014/main" id="{AA41C6E3-12F8-1AEF-0322-F9156FD02FA5}"/>
              </a:ext>
            </a:extLst>
          </p:cNvPr>
          <p:cNvSpPr txBox="1"/>
          <p:nvPr/>
        </p:nvSpPr>
        <p:spPr>
          <a:xfrm>
            <a:off x="7962900" y="50292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0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建议：从上方拍清走线与防松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E27B1E0-5213-B781-49E0-876514AF6DA5}"/>
              </a:ext>
            </a:extLst>
          </p:cNvPr>
          <p:cNvCxnSpPr/>
          <p:nvPr/>
        </p:nvCxnSpPr>
        <p:spPr>
          <a:xfrm>
            <a:off x="4057650" y="1847850"/>
            <a:ext cx="0" cy="3295650"/>
          </a:xfrm>
          <a:prstGeom prst="line">
            <a:avLst/>
          </a:prstGeom>
          <a:ln w="12700">
            <a:solidFill>
              <a:srgbClr val="B8BE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51BC10E-FC67-F3A8-EF28-0D9172119E61}"/>
              </a:ext>
            </a:extLst>
          </p:cNvPr>
          <p:cNvCxnSpPr/>
          <p:nvPr/>
        </p:nvCxnSpPr>
        <p:spPr>
          <a:xfrm>
            <a:off x="7696200" y="1847850"/>
            <a:ext cx="0" cy="3295650"/>
          </a:xfrm>
          <a:prstGeom prst="line">
            <a:avLst/>
          </a:prstGeom>
          <a:ln w="12700">
            <a:solidFill>
              <a:srgbClr val="B8BE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bottom-band-5">
            <a:extLst>
              <a:ext uri="{FF2B5EF4-FFF2-40B4-BE49-F238E27FC236}">
                <a16:creationId xmlns:a16="http://schemas.microsoft.com/office/drawing/2014/main" id="{387A02C3-FFAF-7E36-FC79-406336F852DE}"/>
              </a:ext>
            </a:extLst>
          </p:cNvPr>
          <p:cNvSpPr/>
          <p:nvPr/>
        </p:nvSpPr>
        <p:spPr>
          <a:xfrm>
            <a:off x="685800" y="5391150"/>
            <a:ext cx="10820400" cy="571500"/>
          </a:xfrm>
          <a:prstGeom prst="rect">
            <a:avLst/>
          </a:prstGeom>
          <a:solidFill>
            <a:srgbClr val="D7F0F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50800" rIns="152400" bIns="50800" rtlCol="0" anchor="ctr"/>
          <a:lstStyle/>
          <a:p>
            <a:pPr algn="ctr"/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后续直接在照片框上方插入实拍图；保留方向参照、标签和关键尺寸。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7C5CAF2-0772-B0F9-56D6-41EC99B9B3C1}"/>
              </a:ext>
            </a:extLst>
          </p:cNvPr>
          <p:cNvCxnSpPr/>
          <p:nvPr/>
        </p:nvCxnSpPr>
        <p:spPr>
          <a:xfrm>
            <a:off x="685800" y="6305550"/>
            <a:ext cx="10820400" cy="0"/>
          </a:xfrm>
          <a:prstGeom prst="line">
            <a:avLst/>
          </a:prstGeom>
          <a:ln w="9525">
            <a:solidFill>
              <a:srgbClr val="B8BE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oter-5">
            <a:extLst>
              <a:ext uri="{FF2B5EF4-FFF2-40B4-BE49-F238E27FC236}">
                <a16:creationId xmlns:a16="http://schemas.microsoft.com/office/drawing/2014/main" id="{D6CE051A-A88A-5A52-662D-58A174184E54}"/>
              </a:ext>
            </a:extLst>
          </p:cNvPr>
          <p:cNvSpPr txBox="1"/>
          <p:nvPr/>
        </p:nvSpPr>
        <p:spPr>
          <a:xfrm>
            <a:off x="685800" y="6419850"/>
            <a:ext cx="400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</a:t>
            </a:r>
            <a:r>
              <a:rPr lang="zh-CN" altLang="en-US" sz="10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无人机组装</a:t>
            </a:r>
          </a:p>
        </p:txBody>
      </p:sp>
      <p:sp>
        <p:nvSpPr>
          <p:cNvPr id="27" name="page-5">
            <a:extLst>
              <a:ext uri="{FF2B5EF4-FFF2-40B4-BE49-F238E27FC236}">
                <a16:creationId xmlns:a16="http://schemas.microsoft.com/office/drawing/2014/main" id="{49C7DFDD-8D01-BE7E-ACB2-9D730937DD9A}"/>
              </a:ext>
            </a:extLst>
          </p:cNvPr>
          <p:cNvSpPr txBox="1"/>
          <p:nvPr/>
        </p:nvSpPr>
        <p:spPr>
          <a:xfrm>
            <a:off x="10934700" y="641985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10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222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6">
            <a:extLst>
              <a:ext uri="{FF2B5EF4-FFF2-40B4-BE49-F238E27FC236}">
                <a16:creationId xmlns:a16="http://schemas.microsoft.com/office/drawing/2014/main" id="{1560BAD9-8E30-E8D2-03DF-E1C3BC7C26CB}"/>
              </a:ext>
            </a:extLst>
          </p:cNvPr>
          <p:cNvSpPr txBox="1"/>
          <p:nvPr/>
        </p:nvSpPr>
        <p:spPr>
          <a:xfrm>
            <a:off x="685800" y="400050"/>
            <a:ext cx="590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机械安装 </a:t>
            </a:r>
            <a:r>
              <a:rPr lang="en-US" altLang="zh-CN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照片记录</a:t>
            </a:r>
          </a:p>
        </p:txBody>
      </p:sp>
      <p:sp>
        <p:nvSpPr>
          <p:cNvPr id="3" name="title-6">
            <a:extLst>
              <a:ext uri="{FF2B5EF4-FFF2-40B4-BE49-F238E27FC236}">
                <a16:creationId xmlns:a16="http://schemas.microsoft.com/office/drawing/2014/main" id="{8B882F78-A273-8485-1FC0-EAC049D54B08}"/>
              </a:ext>
            </a:extLst>
          </p:cNvPr>
          <p:cNvSpPr txBox="1"/>
          <p:nvPr/>
        </p:nvSpPr>
        <p:spPr>
          <a:xfrm>
            <a:off x="685800" y="7620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飞控与 </a:t>
            </a:r>
            <a:r>
              <a:rPr lang="en-US" altLang="zh-CN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GPS</a:t>
            </a:r>
            <a:r>
              <a:rPr lang="zh-CN" altLang="en-US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：方向、减震和线缆都要拍清楚</a:t>
            </a:r>
          </a:p>
        </p:txBody>
      </p:sp>
      <p:sp>
        <p:nvSpPr>
          <p:cNvPr id="4" name="number-6-1">
            <a:extLst>
              <a:ext uri="{FF2B5EF4-FFF2-40B4-BE49-F238E27FC236}">
                <a16:creationId xmlns:a16="http://schemas.microsoft.com/office/drawing/2014/main" id="{C3936F4A-09D1-A127-A94F-FAC2EFE9334F}"/>
              </a:ext>
            </a:extLst>
          </p:cNvPr>
          <p:cNvSpPr txBox="1"/>
          <p:nvPr/>
        </p:nvSpPr>
        <p:spPr>
          <a:xfrm>
            <a:off x="685800" y="1847850"/>
            <a:ext cx="876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16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photo-placeholder-6-1">
            <a:extLst>
              <a:ext uri="{FF2B5EF4-FFF2-40B4-BE49-F238E27FC236}">
                <a16:creationId xmlns:a16="http://schemas.microsoft.com/office/drawing/2014/main" id="{3FCE2C8F-A8AC-8C61-FABE-8485A17BD69C}"/>
              </a:ext>
            </a:extLst>
          </p:cNvPr>
          <p:cNvSpPr/>
          <p:nvPr/>
        </p:nvSpPr>
        <p:spPr>
          <a:xfrm>
            <a:off x="685800" y="2095500"/>
            <a:ext cx="4953000" cy="1447800"/>
          </a:xfrm>
          <a:prstGeom prst="rect">
            <a:avLst/>
          </a:prstGeom>
          <a:solidFill>
            <a:srgbClr val="F3F8FD"/>
          </a:solidFill>
          <a:ln w="19050"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Autofit/>
          </a:bodyPr>
          <a:lstStyle/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照片位置</a:t>
            </a:r>
          </a:p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俯视整体 </a:t>
            </a:r>
            <a:r>
              <a:rPr lang="en-US" altLang="zh-CN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两个箭头</a:t>
            </a:r>
          </a:p>
        </p:txBody>
      </p:sp>
      <p:sp>
        <p:nvSpPr>
          <p:cNvPr id="6" name="name-6-1">
            <a:extLst>
              <a:ext uri="{FF2B5EF4-FFF2-40B4-BE49-F238E27FC236}">
                <a16:creationId xmlns:a16="http://schemas.microsoft.com/office/drawing/2014/main" id="{4766B05C-E7FA-2CDF-5D90-7ECD95601E05}"/>
              </a:ext>
            </a:extLst>
          </p:cNvPr>
          <p:cNvSpPr txBox="1"/>
          <p:nvPr/>
        </p:nvSpPr>
        <p:spPr>
          <a:xfrm>
            <a:off x="685800" y="36957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25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飞控安装与方向箭头</a:t>
            </a:r>
          </a:p>
        </p:txBody>
      </p:sp>
      <p:sp>
        <p:nvSpPr>
          <p:cNvPr id="7" name="spec-6-1">
            <a:extLst>
              <a:ext uri="{FF2B5EF4-FFF2-40B4-BE49-F238E27FC236}">
                <a16:creationId xmlns:a16="http://schemas.microsoft.com/office/drawing/2014/main" id="{301A3F0C-2BDB-B212-A5CF-9872E3E8FA29}"/>
              </a:ext>
            </a:extLst>
          </p:cNvPr>
          <p:cNvSpPr txBox="1"/>
          <p:nvPr/>
        </p:nvSpPr>
        <p:spPr>
          <a:xfrm>
            <a:off x="685800" y="417195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靠近中心 </a:t>
            </a:r>
            <a:r>
              <a:rPr lang="en-US" altLang="zh-CN" sz="12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合适减震</a:t>
            </a:r>
          </a:p>
        </p:txBody>
      </p:sp>
      <p:sp>
        <p:nvSpPr>
          <p:cNvPr id="8" name="status-6-1">
            <a:extLst>
              <a:ext uri="{FF2B5EF4-FFF2-40B4-BE49-F238E27FC236}">
                <a16:creationId xmlns:a16="http://schemas.microsoft.com/office/drawing/2014/main" id="{5481191C-4AD8-0689-E5FC-04C9DE186FE0}"/>
              </a:ext>
            </a:extLst>
          </p:cNvPr>
          <p:cNvSpPr txBox="1"/>
          <p:nvPr/>
        </p:nvSpPr>
        <p:spPr>
          <a:xfrm>
            <a:off x="685800" y="45339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22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待拍摄</a:t>
            </a:r>
          </a:p>
        </p:txBody>
      </p:sp>
      <p:sp>
        <p:nvSpPr>
          <p:cNvPr id="9" name="detail-6-1">
            <a:extLst>
              <a:ext uri="{FF2B5EF4-FFF2-40B4-BE49-F238E27FC236}">
                <a16:creationId xmlns:a16="http://schemas.microsoft.com/office/drawing/2014/main" id="{600F362B-1E9B-9B4C-4C81-21DBA8DCCED1}"/>
              </a:ext>
            </a:extLst>
          </p:cNvPr>
          <p:cNvSpPr txBox="1"/>
          <p:nvPr/>
        </p:nvSpPr>
        <p:spPr>
          <a:xfrm>
            <a:off x="685800" y="50292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0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建议：俯视拍到机头与飞控箭头</a:t>
            </a:r>
          </a:p>
        </p:txBody>
      </p:sp>
      <p:sp>
        <p:nvSpPr>
          <p:cNvPr id="10" name="number-6-2">
            <a:extLst>
              <a:ext uri="{FF2B5EF4-FFF2-40B4-BE49-F238E27FC236}">
                <a16:creationId xmlns:a16="http://schemas.microsoft.com/office/drawing/2014/main" id="{F051BC20-E174-A675-9F6C-95C446CAAF2F}"/>
              </a:ext>
            </a:extLst>
          </p:cNvPr>
          <p:cNvSpPr txBox="1"/>
          <p:nvPr/>
        </p:nvSpPr>
        <p:spPr>
          <a:xfrm>
            <a:off x="6553200" y="1847850"/>
            <a:ext cx="876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6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photo-placeholder-6-2">
            <a:extLst>
              <a:ext uri="{FF2B5EF4-FFF2-40B4-BE49-F238E27FC236}">
                <a16:creationId xmlns:a16="http://schemas.microsoft.com/office/drawing/2014/main" id="{2B7B16BC-2D3A-7D13-B3DA-E735C4F51600}"/>
              </a:ext>
            </a:extLst>
          </p:cNvPr>
          <p:cNvSpPr/>
          <p:nvPr/>
        </p:nvSpPr>
        <p:spPr>
          <a:xfrm>
            <a:off x="6553200" y="2095500"/>
            <a:ext cx="4953000" cy="1447800"/>
          </a:xfrm>
          <a:prstGeom prst="rect">
            <a:avLst/>
          </a:prstGeom>
          <a:solidFill>
            <a:srgbClr val="F3F8FD"/>
          </a:solidFill>
          <a:ln w="19050"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Autofit/>
          </a:bodyPr>
          <a:lstStyle/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照片位置</a:t>
            </a:r>
          </a:p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杆高 </a:t>
            </a:r>
            <a:r>
              <a:rPr lang="en-US" altLang="zh-CN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线缆 </a:t>
            </a:r>
            <a:r>
              <a:rPr lang="en-US" altLang="zh-CN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接口标签</a:t>
            </a:r>
          </a:p>
        </p:txBody>
      </p:sp>
      <p:sp>
        <p:nvSpPr>
          <p:cNvPr id="12" name="name-6-2">
            <a:extLst>
              <a:ext uri="{FF2B5EF4-FFF2-40B4-BE49-F238E27FC236}">
                <a16:creationId xmlns:a16="http://schemas.microsoft.com/office/drawing/2014/main" id="{20A2F62E-3DDE-1DAA-C813-739D4D91B26B}"/>
              </a:ext>
            </a:extLst>
          </p:cNvPr>
          <p:cNvSpPr txBox="1"/>
          <p:nvPr/>
        </p:nvSpPr>
        <p:spPr>
          <a:xfrm>
            <a:off x="6553200" y="36957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25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GPS / </a:t>
            </a:r>
            <a:r>
              <a:rPr lang="zh-CN" altLang="en-US" sz="1725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罗盘与接口标签</a:t>
            </a:r>
          </a:p>
        </p:txBody>
      </p:sp>
      <p:sp>
        <p:nvSpPr>
          <p:cNvPr id="13" name="spec-6-2">
            <a:extLst>
              <a:ext uri="{FF2B5EF4-FFF2-40B4-BE49-F238E27FC236}">
                <a16:creationId xmlns:a16="http://schemas.microsoft.com/office/drawing/2014/main" id="{74A70CE6-B8B3-8F56-97AD-6E74860A6230}"/>
              </a:ext>
            </a:extLst>
          </p:cNvPr>
          <p:cNvSpPr txBox="1"/>
          <p:nvPr/>
        </p:nvSpPr>
        <p:spPr>
          <a:xfrm>
            <a:off x="6553200" y="417195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远离动力线；记录 </a:t>
            </a:r>
            <a:r>
              <a:rPr lang="en-US" altLang="zh-CN" sz="12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GPS / MAVLink / SERVO</a:t>
            </a:r>
            <a:endParaRPr lang="zh-CN" altLang="en-US" sz="120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status-6-2">
            <a:extLst>
              <a:ext uri="{FF2B5EF4-FFF2-40B4-BE49-F238E27FC236}">
                <a16:creationId xmlns:a16="http://schemas.microsoft.com/office/drawing/2014/main" id="{F49BAFEF-715A-BBB9-A102-DE91CEE3E4FC}"/>
              </a:ext>
            </a:extLst>
          </p:cNvPr>
          <p:cNvSpPr txBox="1"/>
          <p:nvPr/>
        </p:nvSpPr>
        <p:spPr>
          <a:xfrm>
            <a:off x="6553200" y="45339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22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待拍摄</a:t>
            </a:r>
          </a:p>
        </p:txBody>
      </p:sp>
      <p:sp>
        <p:nvSpPr>
          <p:cNvPr id="15" name="detail-6-2">
            <a:extLst>
              <a:ext uri="{FF2B5EF4-FFF2-40B4-BE49-F238E27FC236}">
                <a16:creationId xmlns:a16="http://schemas.microsoft.com/office/drawing/2014/main" id="{D171C65E-4BC4-557D-52BD-9CB15CD00B84}"/>
              </a:ext>
            </a:extLst>
          </p:cNvPr>
          <p:cNvSpPr txBox="1"/>
          <p:nvPr/>
        </p:nvSpPr>
        <p:spPr>
          <a:xfrm>
            <a:off x="6553200" y="50292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0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建议：侧拍杆高、方向、线缆和永久标签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1F4B72F-86D9-DB5E-B512-9FB0567690FF}"/>
              </a:ext>
            </a:extLst>
          </p:cNvPr>
          <p:cNvCxnSpPr/>
          <p:nvPr/>
        </p:nvCxnSpPr>
        <p:spPr>
          <a:xfrm>
            <a:off x="6096000" y="1847850"/>
            <a:ext cx="0" cy="3295650"/>
          </a:xfrm>
          <a:prstGeom prst="line">
            <a:avLst/>
          </a:prstGeom>
          <a:ln w="12700">
            <a:solidFill>
              <a:srgbClr val="B8BE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bottom-band-6">
            <a:extLst>
              <a:ext uri="{FF2B5EF4-FFF2-40B4-BE49-F238E27FC236}">
                <a16:creationId xmlns:a16="http://schemas.microsoft.com/office/drawing/2014/main" id="{B7D7ECF5-882F-C19B-1C46-0570E08390DE}"/>
              </a:ext>
            </a:extLst>
          </p:cNvPr>
          <p:cNvSpPr/>
          <p:nvPr/>
        </p:nvSpPr>
        <p:spPr>
          <a:xfrm>
            <a:off x="685800" y="5391150"/>
            <a:ext cx="10820400" cy="571500"/>
          </a:xfrm>
          <a:prstGeom prst="rect">
            <a:avLst/>
          </a:prstGeom>
          <a:solidFill>
            <a:srgbClr val="D7F0F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50800" rIns="152400" bIns="50800" rtlCol="0" anchor="ctr"/>
          <a:lstStyle/>
          <a:p>
            <a:pPr algn="ctr"/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不能按默认方向安装时，记录真实方向，并在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ArduPilot </a:t>
            </a: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中配置板载方向。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52A26F8-907E-C52A-B564-1F65B27A3C36}"/>
              </a:ext>
            </a:extLst>
          </p:cNvPr>
          <p:cNvCxnSpPr/>
          <p:nvPr/>
        </p:nvCxnSpPr>
        <p:spPr>
          <a:xfrm>
            <a:off x="685800" y="6305550"/>
            <a:ext cx="10820400" cy="0"/>
          </a:xfrm>
          <a:prstGeom prst="line">
            <a:avLst/>
          </a:prstGeom>
          <a:ln w="9525">
            <a:solidFill>
              <a:srgbClr val="B8BE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ooter-6">
            <a:extLst>
              <a:ext uri="{FF2B5EF4-FFF2-40B4-BE49-F238E27FC236}">
                <a16:creationId xmlns:a16="http://schemas.microsoft.com/office/drawing/2014/main" id="{E754EE7C-C99B-49A6-0EED-EF1D773B75FF}"/>
              </a:ext>
            </a:extLst>
          </p:cNvPr>
          <p:cNvSpPr txBox="1"/>
          <p:nvPr/>
        </p:nvSpPr>
        <p:spPr>
          <a:xfrm>
            <a:off x="685800" y="6419850"/>
            <a:ext cx="400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</a:t>
            </a:r>
            <a:r>
              <a:rPr lang="zh-CN" altLang="en-US" sz="10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无人机组装</a:t>
            </a:r>
          </a:p>
        </p:txBody>
      </p:sp>
      <p:sp>
        <p:nvSpPr>
          <p:cNvPr id="20" name="page-6">
            <a:extLst>
              <a:ext uri="{FF2B5EF4-FFF2-40B4-BE49-F238E27FC236}">
                <a16:creationId xmlns:a16="http://schemas.microsoft.com/office/drawing/2014/main" id="{9AEE90F1-4035-AF0F-09DF-B055AAB35ABD}"/>
              </a:ext>
            </a:extLst>
          </p:cNvPr>
          <p:cNvSpPr txBox="1"/>
          <p:nvPr/>
        </p:nvSpPr>
        <p:spPr>
          <a:xfrm>
            <a:off x="10934700" y="641985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endParaRPr lang="zh-CN" altLang="en-US" sz="10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4692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7">
            <a:extLst>
              <a:ext uri="{FF2B5EF4-FFF2-40B4-BE49-F238E27FC236}">
                <a16:creationId xmlns:a16="http://schemas.microsoft.com/office/drawing/2014/main" id="{D9D398D2-4722-B123-ECD7-9A01883C7772}"/>
              </a:ext>
            </a:extLst>
          </p:cNvPr>
          <p:cNvSpPr txBox="1"/>
          <p:nvPr/>
        </p:nvSpPr>
        <p:spPr>
          <a:xfrm>
            <a:off x="685800" y="400050"/>
            <a:ext cx="590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机械安装 </a:t>
            </a:r>
            <a:r>
              <a:rPr lang="en-US" altLang="zh-CN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照片记录</a:t>
            </a:r>
          </a:p>
        </p:txBody>
      </p:sp>
      <p:sp>
        <p:nvSpPr>
          <p:cNvPr id="3" name="title-7">
            <a:extLst>
              <a:ext uri="{FF2B5EF4-FFF2-40B4-BE49-F238E27FC236}">
                <a16:creationId xmlns:a16="http://schemas.microsoft.com/office/drawing/2014/main" id="{0A051B32-7D82-83D5-3434-90D448BF6314}"/>
              </a:ext>
            </a:extLst>
          </p:cNvPr>
          <p:cNvSpPr txBox="1"/>
          <p:nvPr/>
        </p:nvSpPr>
        <p:spPr>
          <a:xfrm>
            <a:off x="685800" y="7620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RK3588</a:t>
            </a:r>
            <a:r>
              <a:rPr lang="zh-CN" altLang="en-US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：散热、绝缘和维护空间缺一不可</a:t>
            </a:r>
          </a:p>
        </p:txBody>
      </p:sp>
      <p:sp>
        <p:nvSpPr>
          <p:cNvPr id="4" name="number-7-1">
            <a:extLst>
              <a:ext uri="{FF2B5EF4-FFF2-40B4-BE49-F238E27FC236}">
                <a16:creationId xmlns:a16="http://schemas.microsoft.com/office/drawing/2014/main" id="{F57D993C-B561-79F4-DAF9-F5A41F13A20B}"/>
              </a:ext>
            </a:extLst>
          </p:cNvPr>
          <p:cNvSpPr txBox="1"/>
          <p:nvPr/>
        </p:nvSpPr>
        <p:spPr>
          <a:xfrm>
            <a:off x="685800" y="1847850"/>
            <a:ext cx="876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16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photo-placeholder-7-1">
            <a:extLst>
              <a:ext uri="{FF2B5EF4-FFF2-40B4-BE49-F238E27FC236}">
                <a16:creationId xmlns:a16="http://schemas.microsoft.com/office/drawing/2014/main" id="{99F67562-46FE-8984-D1C9-FAD1792837BF}"/>
              </a:ext>
            </a:extLst>
          </p:cNvPr>
          <p:cNvSpPr/>
          <p:nvPr/>
        </p:nvSpPr>
        <p:spPr>
          <a:xfrm>
            <a:off x="685800" y="2095500"/>
            <a:ext cx="3143250" cy="1447800"/>
          </a:xfrm>
          <a:prstGeom prst="rect">
            <a:avLst/>
          </a:prstGeom>
          <a:solidFill>
            <a:srgbClr val="F3F8FD"/>
          </a:solidFill>
          <a:ln w="19050"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Autofit/>
          </a:bodyPr>
          <a:lstStyle/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照片位置</a:t>
            </a:r>
          </a:p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整板位置 </a:t>
            </a:r>
            <a:r>
              <a:rPr lang="en-US" altLang="zh-CN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周边间隙</a:t>
            </a:r>
          </a:p>
        </p:txBody>
      </p:sp>
      <p:sp>
        <p:nvSpPr>
          <p:cNvPr id="6" name="name-7-1">
            <a:extLst>
              <a:ext uri="{FF2B5EF4-FFF2-40B4-BE49-F238E27FC236}">
                <a16:creationId xmlns:a16="http://schemas.microsoft.com/office/drawing/2014/main" id="{D414BE40-0641-31C6-9AAC-2D997E4F12E8}"/>
              </a:ext>
            </a:extLst>
          </p:cNvPr>
          <p:cNvSpPr txBox="1"/>
          <p:nvPr/>
        </p:nvSpPr>
        <p:spPr>
          <a:xfrm>
            <a:off x="685800" y="36957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25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板卡安装位置</a:t>
            </a:r>
          </a:p>
        </p:txBody>
      </p:sp>
      <p:sp>
        <p:nvSpPr>
          <p:cNvPr id="7" name="spec-7-1">
            <a:extLst>
              <a:ext uri="{FF2B5EF4-FFF2-40B4-BE49-F238E27FC236}">
                <a16:creationId xmlns:a16="http://schemas.microsoft.com/office/drawing/2014/main" id="{E0199797-9D41-8D15-2F56-CE6D74FB9BF2}"/>
              </a:ext>
            </a:extLst>
          </p:cNvPr>
          <p:cNvSpPr txBox="1"/>
          <p:nvPr/>
        </p:nvSpPr>
        <p:spPr>
          <a:xfrm>
            <a:off x="685800" y="417195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避开投放机构运动区</a:t>
            </a:r>
          </a:p>
        </p:txBody>
      </p:sp>
      <p:sp>
        <p:nvSpPr>
          <p:cNvPr id="8" name="status-7-1">
            <a:extLst>
              <a:ext uri="{FF2B5EF4-FFF2-40B4-BE49-F238E27FC236}">
                <a16:creationId xmlns:a16="http://schemas.microsoft.com/office/drawing/2014/main" id="{1DCFAB6E-B4DC-4A05-C8BE-A60262E51C59}"/>
              </a:ext>
            </a:extLst>
          </p:cNvPr>
          <p:cNvSpPr txBox="1"/>
          <p:nvPr/>
        </p:nvSpPr>
        <p:spPr>
          <a:xfrm>
            <a:off x="685800" y="45339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22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待拍摄</a:t>
            </a:r>
          </a:p>
        </p:txBody>
      </p:sp>
      <p:sp>
        <p:nvSpPr>
          <p:cNvPr id="9" name="detail-7-1">
            <a:extLst>
              <a:ext uri="{FF2B5EF4-FFF2-40B4-BE49-F238E27FC236}">
                <a16:creationId xmlns:a16="http://schemas.microsoft.com/office/drawing/2014/main" id="{AB38249F-3D58-3332-37A8-64895C78B47D}"/>
              </a:ext>
            </a:extLst>
          </p:cNvPr>
          <p:cNvSpPr txBox="1"/>
          <p:nvPr/>
        </p:nvSpPr>
        <p:spPr>
          <a:xfrm>
            <a:off x="685800" y="50292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0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建议：拍整板、支撑点和周边间隙</a:t>
            </a:r>
          </a:p>
        </p:txBody>
      </p:sp>
      <p:sp>
        <p:nvSpPr>
          <p:cNvPr id="10" name="number-7-2">
            <a:extLst>
              <a:ext uri="{FF2B5EF4-FFF2-40B4-BE49-F238E27FC236}">
                <a16:creationId xmlns:a16="http://schemas.microsoft.com/office/drawing/2014/main" id="{C9F7E6A6-9214-AE74-011C-4F627A32D038}"/>
              </a:ext>
            </a:extLst>
          </p:cNvPr>
          <p:cNvSpPr txBox="1"/>
          <p:nvPr/>
        </p:nvSpPr>
        <p:spPr>
          <a:xfrm>
            <a:off x="4324350" y="1847850"/>
            <a:ext cx="876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6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photo-placeholder-7-2">
            <a:extLst>
              <a:ext uri="{FF2B5EF4-FFF2-40B4-BE49-F238E27FC236}">
                <a16:creationId xmlns:a16="http://schemas.microsoft.com/office/drawing/2014/main" id="{397268E7-2060-01EA-2348-3CF0E5DA6178}"/>
              </a:ext>
            </a:extLst>
          </p:cNvPr>
          <p:cNvSpPr/>
          <p:nvPr/>
        </p:nvSpPr>
        <p:spPr>
          <a:xfrm>
            <a:off x="4324350" y="2095500"/>
            <a:ext cx="3143250" cy="1447800"/>
          </a:xfrm>
          <a:prstGeom prst="rect">
            <a:avLst/>
          </a:prstGeom>
          <a:solidFill>
            <a:srgbClr val="F3F8FD"/>
          </a:solidFill>
          <a:ln w="19050"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Autofit/>
          </a:bodyPr>
          <a:lstStyle/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照片位置</a:t>
            </a:r>
          </a:p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散热近拍 </a:t>
            </a:r>
            <a:r>
              <a:rPr lang="en-US" altLang="zh-CN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风扇线</a:t>
            </a:r>
          </a:p>
        </p:txBody>
      </p:sp>
      <p:sp>
        <p:nvSpPr>
          <p:cNvPr id="12" name="name-7-2">
            <a:extLst>
              <a:ext uri="{FF2B5EF4-FFF2-40B4-BE49-F238E27FC236}">
                <a16:creationId xmlns:a16="http://schemas.microsoft.com/office/drawing/2014/main" id="{4B1BDCED-DA8A-95E6-FD67-BD92C7D1C520}"/>
              </a:ext>
            </a:extLst>
          </p:cNvPr>
          <p:cNvSpPr txBox="1"/>
          <p:nvPr/>
        </p:nvSpPr>
        <p:spPr>
          <a:xfrm>
            <a:off x="4324350" y="36957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25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散热器与风扇</a:t>
            </a:r>
          </a:p>
        </p:txBody>
      </p:sp>
      <p:sp>
        <p:nvSpPr>
          <p:cNvPr id="13" name="spec-7-2">
            <a:extLst>
              <a:ext uri="{FF2B5EF4-FFF2-40B4-BE49-F238E27FC236}">
                <a16:creationId xmlns:a16="http://schemas.microsoft.com/office/drawing/2014/main" id="{62739B4A-97CE-645F-3E54-DC83E661CFD0}"/>
              </a:ext>
            </a:extLst>
          </p:cNvPr>
          <p:cNvSpPr txBox="1"/>
          <p:nvPr/>
        </p:nvSpPr>
        <p:spPr>
          <a:xfrm>
            <a:off x="4324350" y="417195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风扇线固定并应力释放</a:t>
            </a:r>
          </a:p>
        </p:txBody>
      </p:sp>
      <p:sp>
        <p:nvSpPr>
          <p:cNvPr id="14" name="status-7-2">
            <a:extLst>
              <a:ext uri="{FF2B5EF4-FFF2-40B4-BE49-F238E27FC236}">
                <a16:creationId xmlns:a16="http://schemas.microsoft.com/office/drawing/2014/main" id="{FB89091B-7DDF-66E5-7573-9E539B3A8947}"/>
              </a:ext>
            </a:extLst>
          </p:cNvPr>
          <p:cNvSpPr txBox="1"/>
          <p:nvPr/>
        </p:nvSpPr>
        <p:spPr>
          <a:xfrm>
            <a:off x="4324350" y="45339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22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待拍摄</a:t>
            </a:r>
          </a:p>
        </p:txBody>
      </p:sp>
      <p:sp>
        <p:nvSpPr>
          <p:cNvPr id="15" name="detail-7-2">
            <a:extLst>
              <a:ext uri="{FF2B5EF4-FFF2-40B4-BE49-F238E27FC236}">
                <a16:creationId xmlns:a16="http://schemas.microsoft.com/office/drawing/2014/main" id="{AAC8CABE-2790-F30C-D17F-E284D7CF832C}"/>
              </a:ext>
            </a:extLst>
          </p:cNvPr>
          <p:cNvSpPr txBox="1"/>
          <p:nvPr/>
        </p:nvSpPr>
        <p:spPr>
          <a:xfrm>
            <a:off x="4324350" y="50292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0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建议：近拍散热器、风扇和线夹</a:t>
            </a:r>
          </a:p>
        </p:txBody>
      </p:sp>
      <p:sp>
        <p:nvSpPr>
          <p:cNvPr id="16" name="number-7-3">
            <a:extLst>
              <a:ext uri="{FF2B5EF4-FFF2-40B4-BE49-F238E27FC236}">
                <a16:creationId xmlns:a16="http://schemas.microsoft.com/office/drawing/2014/main" id="{3443D870-B1B5-38DE-0FF6-FF719595190F}"/>
              </a:ext>
            </a:extLst>
          </p:cNvPr>
          <p:cNvSpPr txBox="1"/>
          <p:nvPr/>
        </p:nvSpPr>
        <p:spPr>
          <a:xfrm>
            <a:off x="7962900" y="1847850"/>
            <a:ext cx="876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6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photo-placeholder-7-3">
            <a:extLst>
              <a:ext uri="{FF2B5EF4-FFF2-40B4-BE49-F238E27FC236}">
                <a16:creationId xmlns:a16="http://schemas.microsoft.com/office/drawing/2014/main" id="{45FECA6C-B309-F6E0-A683-D01B86CA644E}"/>
              </a:ext>
            </a:extLst>
          </p:cNvPr>
          <p:cNvSpPr/>
          <p:nvPr/>
        </p:nvSpPr>
        <p:spPr>
          <a:xfrm>
            <a:off x="7962900" y="2095500"/>
            <a:ext cx="3143250" cy="1447800"/>
          </a:xfrm>
          <a:prstGeom prst="rect">
            <a:avLst/>
          </a:prstGeom>
          <a:solidFill>
            <a:srgbClr val="F3F8FD"/>
          </a:solidFill>
          <a:ln w="19050"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Autofit/>
          </a:bodyPr>
          <a:lstStyle/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照片位置</a:t>
            </a:r>
          </a:p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底部绝缘 </a:t>
            </a:r>
            <a:r>
              <a:rPr lang="en-US" altLang="zh-CN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端口</a:t>
            </a:r>
          </a:p>
        </p:txBody>
      </p:sp>
      <p:sp>
        <p:nvSpPr>
          <p:cNvPr id="18" name="name-7-3">
            <a:extLst>
              <a:ext uri="{FF2B5EF4-FFF2-40B4-BE49-F238E27FC236}">
                <a16:creationId xmlns:a16="http://schemas.microsoft.com/office/drawing/2014/main" id="{1EE04F71-825F-FDC4-4D19-E02EA7A7F850}"/>
              </a:ext>
            </a:extLst>
          </p:cNvPr>
          <p:cNvSpPr txBox="1"/>
          <p:nvPr/>
        </p:nvSpPr>
        <p:spPr>
          <a:xfrm>
            <a:off x="7962900" y="36957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25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绝缘与接口维护</a:t>
            </a:r>
          </a:p>
        </p:txBody>
      </p:sp>
      <p:sp>
        <p:nvSpPr>
          <p:cNvPr id="19" name="spec-7-3">
            <a:extLst>
              <a:ext uri="{FF2B5EF4-FFF2-40B4-BE49-F238E27FC236}">
                <a16:creationId xmlns:a16="http://schemas.microsoft.com/office/drawing/2014/main" id="{0D2D866F-5C44-2840-B08B-EC04D43306FE}"/>
              </a:ext>
            </a:extLst>
          </p:cNvPr>
          <p:cNvSpPr txBox="1"/>
          <p:nvPr/>
        </p:nvSpPr>
        <p:spPr>
          <a:xfrm>
            <a:off x="7962900" y="417195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底部不得碰导电物</a:t>
            </a:r>
          </a:p>
        </p:txBody>
      </p:sp>
      <p:sp>
        <p:nvSpPr>
          <p:cNvPr id="20" name="status-7-3">
            <a:extLst>
              <a:ext uri="{FF2B5EF4-FFF2-40B4-BE49-F238E27FC236}">
                <a16:creationId xmlns:a16="http://schemas.microsoft.com/office/drawing/2014/main" id="{5677C648-21AB-BFF9-2439-E7C86FA6057A}"/>
              </a:ext>
            </a:extLst>
          </p:cNvPr>
          <p:cNvSpPr txBox="1"/>
          <p:nvPr/>
        </p:nvSpPr>
        <p:spPr>
          <a:xfrm>
            <a:off x="7962900" y="45339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22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待拍摄</a:t>
            </a:r>
          </a:p>
        </p:txBody>
      </p:sp>
      <p:sp>
        <p:nvSpPr>
          <p:cNvPr id="21" name="detail-7-3">
            <a:extLst>
              <a:ext uri="{FF2B5EF4-FFF2-40B4-BE49-F238E27FC236}">
                <a16:creationId xmlns:a16="http://schemas.microsoft.com/office/drawing/2014/main" id="{5FA9C858-374B-86AB-FEE2-C8746D33B064}"/>
              </a:ext>
            </a:extLst>
          </p:cNvPr>
          <p:cNvSpPr txBox="1"/>
          <p:nvPr/>
        </p:nvSpPr>
        <p:spPr>
          <a:xfrm>
            <a:off x="7962900" y="50292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0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建议：拍底部绝缘和 </a:t>
            </a:r>
            <a:r>
              <a:rPr lang="en-US" altLang="zh-CN" sz="10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USB/</a:t>
            </a:r>
            <a:r>
              <a:rPr lang="zh-CN" altLang="en-US" sz="10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网口</a:t>
            </a:r>
            <a:r>
              <a:rPr lang="en-US" altLang="zh-CN" sz="10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0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电源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1E0649E-2142-4F87-34B9-B93263A48136}"/>
              </a:ext>
            </a:extLst>
          </p:cNvPr>
          <p:cNvCxnSpPr/>
          <p:nvPr/>
        </p:nvCxnSpPr>
        <p:spPr>
          <a:xfrm>
            <a:off x="4057650" y="1847850"/>
            <a:ext cx="0" cy="3295650"/>
          </a:xfrm>
          <a:prstGeom prst="line">
            <a:avLst/>
          </a:prstGeom>
          <a:ln w="12700">
            <a:solidFill>
              <a:srgbClr val="B8BE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BB5A05E-65CA-B0A2-8D9F-F91E3CB8C78F}"/>
              </a:ext>
            </a:extLst>
          </p:cNvPr>
          <p:cNvCxnSpPr/>
          <p:nvPr/>
        </p:nvCxnSpPr>
        <p:spPr>
          <a:xfrm>
            <a:off x="7696200" y="1847850"/>
            <a:ext cx="0" cy="3295650"/>
          </a:xfrm>
          <a:prstGeom prst="line">
            <a:avLst/>
          </a:prstGeom>
          <a:ln w="12700">
            <a:solidFill>
              <a:srgbClr val="B8BE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bottom-band-7">
            <a:extLst>
              <a:ext uri="{FF2B5EF4-FFF2-40B4-BE49-F238E27FC236}">
                <a16:creationId xmlns:a16="http://schemas.microsoft.com/office/drawing/2014/main" id="{13814A96-8EE5-E5FD-9E5F-D9412EFECE2E}"/>
              </a:ext>
            </a:extLst>
          </p:cNvPr>
          <p:cNvSpPr/>
          <p:nvPr/>
        </p:nvSpPr>
        <p:spPr>
          <a:xfrm>
            <a:off x="685800" y="5391150"/>
            <a:ext cx="10820400" cy="571500"/>
          </a:xfrm>
          <a:prstGeom prst="rect">
            <a:avLst/>
          </a:prstGeom>
          <a:solidFill>
            <a:srgbClr val="D7F0F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50800" rIns="152400" bIns="50800" rtlCol="0" anchor="ctr"/>
          <a:lstStyle/>
          <a:p>
            <a:pPr algn="ctr"/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计算板、飞控和电池尽量具备独立断电能力；安装位置不能被投放机构撞击。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0FB0E52-7274-655B-CF08-080166D8B128}"/>
              </a:ext>
            </a:extLst>
          </p:cNvPr>
          <p:cNvCxnSpPr/>
          <p:nvPr/>
        </p:nvCxnSpPr>
        <p:spPr>
          <a:xfrm>
            <a:off x="685800" y="6305550"/>
            <a:ext cx="10820400" cy="0"/>
          </a:xfrm>
          <a:prstGeom prst="line">
            <a:avLst/>
          </a:prstGeom>
          <a:ln w="9525">
            <a:solidFill>
              <a:srgbClr val="B8BE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oter-7">
            <a:extLst>
              <a:ext uri="{FF2B5EF4-FFF2-40B4-BE49-F238E27FC236}">
                <a16:creationId xmlns:a16="http://schemas.microsoft.com/office/drawing/2014/main" id="{F94FDF37-EC74-A932-B5AF-3F395EF3D904}"/>
              </a:ext>
            </a:extLst>
          </p:cNvPr>
          <p:cNvSpPr txBox="1"/>
          <p:nvPr/>
        </p:nvSpPr>
        <p:spPr>
          <a:xfrm>
            <a:off x="685800" y="6419850"/>
            <a:ext cx="400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</a:t>
            </a:r>
            <a:r>
              <a:rPr lang="zh-CN" altLang="en-US" sz="10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无人机组装</a:t>
            </a:r>
          </a:p>
        </p:txBody>
      </p:sp>
      <p:sp>
        <p:nvSpPr>
          <p:cNvPr id="27" name="page-7">
            <a:extLst>
              <a:ext uri="{FF2B5EF4-FFF2-40B4-BE49-F238E27FC236}">
                <a16:creationId xmlns:a16="http://schemas.microsoft.com/office/drawing/2014/main" id="{0949BD0A-F26F-3B08-9D84-62576C58BDF8}"/>
              </a:ext>
            </a:extLst>
          </p:cNvPr>
          <p:cNvSpPr txBox="1"/>
          <p:nvPr/>
        </p:nvSpPr>
        <p:spPr>
          <a:xfrm>
            <a:off x="10934700" y="641985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</a:t>
            </a:r>
            <a:endParaRPr lang="zh-CN" altLang="en-US" sz="10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752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8">
            <a:extLst>
              <a:ext uri="{FF2B5EF4-FFF2-40B4-BE49-F238E27FC236}">
                <a16:creationId xmlns:a16="http://schemas.microsoft.com/office/drawing/2014/main" id="{23EA6E79-0982-18E0-7C1E-5EA3300D1373}"/>
              </a:ext>
            </a:extLst>
          </p:cNvPr>
          <p:cNvSpPr txBox="1"/>
          <p:nvPr/>
        </p:nvSpPr>
        <p:spPr>
          <a:xfrm>
            <a:off x="685800" y="400050"/>
            <a:ext cx="590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机械安装 </a:t>
            </a:r>
            <a:r>
              <a:rPr lang="en-US" altLang="zh-CN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照片记录</a:t>
            </a:r>
          </a:p>
        </p:txBody>
      </p:sp>
      <p:sp>
        <p:nvSpPr>
          <p:cNvPr id="3" name="title-8">
            <a:extLst>
              <a:ext uri="{FF2B5EF4-FFF2-40B4-BE49-F238E27FC236}">
                <a16:creationId xmlns:a16="http://schemas.microsoft.com/office/drawing/2014/main" id="{11235354-D5FF-B58E-5869-06C4C15D7745}"/>
              </a:ext>
            </a:extLst>
          </p:cNvPr>
          <p:cNvSpPr txBox="1"/>
          <p:nvPr/>
        </p:nvSpPr>
        <p:spPr>
          <a:xfrm>
            <a:off x="685800" y="7620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下视相机：先修正机械方向，再测真实偏移</a:t>
            </a:r>
          </a:p>
        </p:txBody>
      </p:sp>
      <p:sp>
        <p:nvSpPr>
          <p:cNvPr id="4" name="number-8-1">
            <a:extLst>
              <a:ext uri="{FF2B5EF4-FFF2-40B4-BE49-F238E27FC236}">
                <a16:creationId xmlns:a16="http://schemas.microsoft.com/office/drawing/2014/main" id="{078D4B27-44F4-CA82-A3B7-D40A60FF23AA}"/>
              </a:ext>
            </a:extLst>
          </p:cNvPr>
          <p:cNvSpPr txBox="1"/>
          <p:nvPr/>
        </p:nvSpPr>
        <p:spPr>
          <a:xfrm>
            <a:off x="685800" y="1847850"/>
            <a:ext cx="876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16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photo-placeholder-8-1">
            <a:extLst>
              <a:ext uri="{FF2B5EF4-FFF2-40B4-BE49-F238E27FC236}">
                <a16:creationId xmlns:a16="http://schemas.microsoft.com/office/drawing/2014/main" id="{B79D6A87-D216-5827-C192-818FA29EEBFB}"/>
              </a:ext>
            </a:extLst>
          </p:cNvPr>
          <p:cNvSpPr/>
          <p:nvPr/>
        </p:nvSpPr>
        <p:spPr>
          <a:xfrm>
            <a:off x="685800" y="2095500"/>
            <a:ext cx="4953000" cy="1447800"/>
          </a:xfrm>
          <a:prstGeom prst="rect">
            <a:avLst/>
          </a:prstGeom>
          <a:solidFill>
            <a:srgbClr val="F3F8FD"/>
          </a:solidFill>
          <a:ln w="19050"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Autofit/>
          </a:bodyPr>
          <a:lstStyle/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照片位置</a:t>
            </a:r>
          </a:p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机腹全景 </a:t>
            </a:r>
            <a:r>
              <a:rPr lang="en-US" altLang="zh-CN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侧视角度</a:t>
            </a:r>
          </a:p>
        </p:txBody>
      </p:sp>
      <p:sp>
        <p:nvSpPr>
          <p:cNvPr id="6" name="name-8-1">
            <a:extLst>
              <a:ext uri="{FF2B5EF4-FFF2-40B4-BE49-F238E27FC236}">
                <a16:creationId xmlns:a16="http://schemas.microsoft.com/office/drawing/2014/main" id="{C8B652BA-CBB8-73C3-FFAD-647B959270D7}"/>
              </a:ext>
            </a:extLst>
          </p:cNvPr>
          <p:cNvSpPr txBox="1"/>
          <p:nvPr/>
        </p:nvSpPr>
        <p:spPr>
          <a:xfrm>
            <a:off x="685800" y="36957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25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下视安装与光轴垂直度</a:t>
            </a:r>
          </a:p>
        </p:txBody>
      </p:sp>
      <p:sp>
        <p:nvSpPr>
          <p:cNvPr id="7" name="spec-8-1">
            <a:extLst>
              <a:ext uri="{FF2B5EF4-FFF2-40B4-BE49-F238E27FC236}">
                <a16:creationId xmlns:a16="http://schemas.microsoft.com/office/drawing/2014/main" id="{B3A0AAB9-0A5E-C050-2471-02A845EB458D}"/>
              </a:ext>
            </a:extLst>
          </p:cNvPr>
          <p:cNvSpPr txBox="1"/>
          <p:nvPr/>
        </p:nvSpPr>
        <p:spPr>
          <a:xfrm>
            <a:off x="685800" y="417195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光轴向下；不使用软件镜像掩盖装反</a:t>
            </a:r>
          </a:p>
        </p:txBody>
      </p:sp>
      <p:sp>
        <p:nvSpPr>
          <p:cNvPr id="8" name="status-8-1">
            <a:extLst>
              <a:ext uri="{FF2B5EF4-FFF2-40B4-BE49-F238E27FC236}">
                <a16:creationId xmlns:a16="http://schemas.microsoft.com/office/drawing/2014/main" id="{AAC071A2-1191-4383-E38D-848EB162A712}"/>
              </a:ext>
            </a:extLst>
          </p:cNvPr>
          <p:cNvSpPr txBox="1"/>
          <p:nvPr/>
        </p:nvSpPr>
        <p:spPr>
          <a:xfrm>
            <a:off x="685800" y="45339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22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待拍摄</a:t>
            </a:r>
          </a:p>
        </p:txBody>
      </p:sp>
      <p:sp>
        <p:nvSpPr>
          <p:cNvPr id="9" name="detail-8-1">
            <a:extLst>
              <a:ext uri="{FF2B5EF4-FFF2-40B4-BE49-F238E27FC236}">
                <a16:creationId xmlns:a16="http://schemas.microsoft.com/office/drawing/2014/main" id="{B6FF3E46-0008-1D22-036D-7902743D9158}"/>
              </a:ext>
            </a:extLst>
          </p:cNvPr>
          <p:cNvSpPr txBox="1"/>
          <p:nvPr/>
        </p:nvSpPr>
        <p:spPr>
          <a:xfrm>
            <a:off x="685800" y="50292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0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建议：拍机腹全景和侧视垂直参照</a:t>
            </a:r>
          </a:p>
        </p:txBody>
      </p:sp>
      <p:sp>
        <p:nvSpPr>
          <p:cNvPr id="10" name="number-8-2">
            <a:extLst>
              <a:ext uri="{FF2B5EF4-FFF2-40B4-BE49-F238E27FC236}">
                <a16:creationId xmlns:a16="http://schemas.microsoft.com/office/drawing/2014/main" id="{C6EC8D5E-6432-D11A-3D9B-A382D426187B}"/>
              </a:ext>
            </a:extLst>
          </p:cNvPr>
          <p:cNvSpPr txBox="1"/>
          <p:nvPr/>
        </p:nvSpPr>
        <p:spPr>
          <a:xfrm>
            <a:off x="6553200" y="1847850"/>
            <a:ext cx="876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6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photo-placeholder-8-2">
            <a:extLst>
              <a:ext uri="{FF2B5EF4-FFF2-40B4-BE49-F238E27FC236}">
                <a16:creationId xmlns:a16="http://schemas.microsoft.com/office/drawing/2014/main" id="{8C3404EB-3B7F-D302-8934-18D4490BD98A}"/>
              </a:ext>
            </a:extLst>
          </p:cNvPr>
          <p:cNvSpPr/>
          <p:nvPr/>
        </p:nvSpPr>
        <p:spPr>
          <a:xfrm>
            <a:off x="6553200" y="2095500"/>
            <a:ext cx="4953000" cy="1447800"/>
          </a:xfrm>
          <a:prstGeom prst="rect">
            <a:avLst/>
          </a:prstGeom>
          <a:solidFill>
            <a:srgbClr val="F3F8FD"/>
          </a:solidFill>
          <a:ln w="19050"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Autofit/>
          </a:bodyPr>
          <a:lstStyle/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照片位置</a:t>
            </a:r>
          </a:p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尺具入镜 </a:t>
            </a:r>
            <a:r>
              <a:rPr lang="en-US" altLang="zh-CN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前右方向</a:t>
            </a:r>
          </a:p>
        </p:txBody>
      </p:sp>
      <p:sp>
        <p:nvSpPr>
          <p:cNvPr id="12" name="name-8-2">
            <a:extLst>
              <a:ext uri="{FF2B5EF4-FFF2-40B4-BE49-F238E27FC236}">
                <a16:creationId xmlns:a16="http://schemas.microsoft.com/office/drawing/2014/main" id="{CFD9CB45-A72D-554C-3BA6-A582F0A67D89}"/>
              </a:ext>
            </a:extLst>
          </p:cNvPr>
          <p:cNvSpPr txBox="1"/>
          <p:nvPr/>
        </p:nvSpPr>
        <p:spPr>
          <a:xfrm>
            <a:off x="6553200" y="36957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25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偏移测量</a:t>
            </a:r>
          </a:p>
        </p:txBody>
      </p:sp>
      <p:sp>
        <p:nvSpPr>
          <p:cNvPr id="13" name="spec-8-2">
            <a:extLst>
              <a:ext uri="{FF2B5EF4-FFF2-40B4-BE49-F238E27FC236}">
                <a16:creationId xmlns:a16="http://schemas.microsoft.com/office/drawing/2014/main" id="{461FB236-3265-C5AF-7D85-1605F02AFA02}"/>
              </a:ext>
            </a:extLst>
          </p:cNvPr>
          <p:cNvSpPr txBox="1"/>
          <p:nvPr/>
        </p:nvSpPr>
        <p:spPr>
          <a:xfrm>
            <a:off x="6553200" y="417195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中心 </a:t>
            </a:r>
            <a:r>
              <a:rPr lang="en-US" altLang="zh-CN" sz="12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payload 1 / 2</a:t>
            </a:r>
            <a:endParaRPr lang="zh-CN" altLang="en-US" sz="120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status-8-2">
            <a:extLst>
              <a:ext uri="{FF2B5EF4-FFF2-40B4-BE49-F238E27FC236}">
                <a16:creationId xmlns:a16="http://schemas.microsoft.com/office/drawing/2014/main" id="{2181F05E-6554-D96B-5133-D42637DF018F}"/>
              </a:ext>
            </a:extLst>
          </p:cNvPr>
          <p:cNvSpPr txBox="1"/>
          <p:nvPr/>
        </p:nvSpPr>
        <p:spPr>
          <a:xfrm>
            <a:off x="6553200" y="45339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22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待拍摄</a:t>
            </a:r>
          </a:p>
        </p:txBody>
      </p:sp>
      <p:sp>
        <p:nvSpPr>
          <p:cNvPr id="15" name="detail-8-2">
            <a:extLst>
              <a:ext uri="{FF2B5EF4-FFF2-40B4-BE49-F238E27FC236}">
                <a16:creationId xmlns:a16="http://schemas.microsoft.com/office/drawing/2014/main" id="{B6E41941-6E90-A01D-03DD-30A5E2120376}"/>
              </a:ext>
            </a:extLst>
          </p:cNvPr>
          <p:cNvSpPr txBox="1"/>
          <p:nvPr/>
        </p:nvSpPr>
        <p:spPr>
          <a:xfrm>
            <a:off x="6553200" y="50292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0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建议：尺具入镜，标出前、右方向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B6DD6F0-839A-9744-98DD-8E4FBFA2F40B}"/>
              </a:ext>
            </a:extLst>
          </p:cNvPr>
          <p:cNvCxnSpPr/>
          <p:nvPr/>
        </p:nvCxnSpPr>
        <p:spPr>
          <a:xfrm>
            <a:off x="6096000" y="1847850"/>
            <a:ext cx="0" cy="3295650"/>
          </a:xfrm>
          <a:prstGeom prst="line">
            <a:avLst/>
          </a:prstGeom>
          <a:ln w="12700">
            <a:solidFill>
              <a:srgbClr val="B8BE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bottom-band-8">
            <a:extLst>
              <a:ext uri="{FF2B5EF4-FFF2-40B4-BE49-F238E27FC236}">
                <a16:creationId xmlns:a16="http://schemas.microsoft.com/office/drawing/2014/main" id="{1F859305-E0B8-9AE7-4560-FA1AF5A83027}"/>
              </a:ext>
            </a:extLst>
          </p:cNvPr>
          <p:cNvSpPr/>
          <p:nvPr/>
        </p:nvSpPr>
        <p:spPr>
          <a:xfrm>
            <a:off x="685800" y="5391150"/>
            <a:ext cx="10820400" cy="571500"/>
          </a:xfrm>
          <a:prstGeom prst="rect">
            <a:avLst/>
          </a:prstGeom>
          <a:solidFill>
            <a:srgbClr val="D7F0F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50800" rIns="152400" bIns="50800" rtlCol="0" anchor="ctr"/>
          <a:lstStyle/>
          <a:p>
            <a:pPr algn="ctr"/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原始检测输入不镜像；记录相机相对机体中心和两个投放点的前、右偏移。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B6C3B1E-3103-7B2C-198F-8F2331A4C893}"/>
              </a:ext>
            </a:extLst>
          </p:cNvPr>
          <p:cNvCxnSpPr/>
          <p:nvPr/>
        </p:nvCxnSpPr>
        <p:spPr>
          <a:xfrm>
            <a:off x="685800" y="6305550"/>
            <a:ext cx="10820400" cy="0"/>
          </a:xfrm>
          <a:prstGeom prst="line">
            <a:avLst/>
          </a:prstGeom>
          <a:ln w="9525">
            <a:solidFill>
              <a:srgbClr val="B8BE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ooter-8">
            <a:extLst>
              <a:ext uri="{FF2B5EF4-FFF2-40B4-BE49-F238E27FC236}">
                <a16:creationId xmlns:a16="http://schemas.microsoft.com/office/drawing/2014/main" id="{9982D633-11A8-6DBC-5389-AA86A6322E67}"/>
              </a:ext>
            </a:extLst>
          </p:cNvPr>
          <p:cNvSpPr txBox="1"/>
          <p:nvPr/>
        </p:nvSpPr>
        <p:spPr>
          <a:xfrm>
            <a:off x="685800" y="6419850"/>
            <a:ext cx="400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</a:t>
            </a:r>
            <a:r>
              <a:rPr lang="zh-CN" altLang="en-US" sz="10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无人机组装</a:t>
            </a:r>
          </a:p>
        </p:txBody>
      </p:sp>
      <p:sp>
        <p:nvSpPr>
          <p:cNvPr id="20" name="page-8">
            <a:extLst>
              <a:ext uri="{FF2B5EF4-FFF2-40B4-BE49-F238E27FC236}">
                <a16:creationId xmlns:a16="http://schemas.microsoft.com/office/drawing/2014/main" id="{1B7D44BB-015E-517F-2B90-0016F663CD0D}"/>
              </a:ext>
            </a:extLst>
          </p:cNvPr>
          <p:cNvSpPr txBox="1"/>
          <p:nvPr/>
        </p:nvSpPr>
        <p:spPr>
          <a:xfrm>
            <a:off x="10934700" y="641985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</a:t>
            </a:r>
            <a:endParaRPr lang="zh-CN" altLang="en-US" sz="10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9204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9">
            <a:extLst>
              <a:ext uri="{FF2B5EF4-FFF2-40B4-BE49-F238E27FC236}">
                <a16:creationId xmlns:a16="http://schemas.microsoft.com/office/drawing/2014/main" id="{BFB0E246-7EC2-31F0-87DD-3A1E447C9C38}"/>
              </a:ext>
            </a:extLst>
          </p:cNvPr>
          <p:cNvSpPr txBox="1"/>
          <p:nvPr/>
        </p:nvSpPr>
        <p:spPr>
          <a:xfrm>
            <a:off x="685800" y="400050"/>
            <a:ext cx="590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机械安装 </a:t>
            </a:r>
            <a:r>
              <a:rPr lang="en-US" altLang="zh-CN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照片记录</a:t>
            </a:r>
          </a:p>
        </p:txBody>
      </p:sp>
      <p:sp>
        <p:nvSpPr>
          <p:cNvPr id="3" name="title-9">
            <a:extLst>
              <a:ext uri="{FF2B5EF4-FFF2-40B4-BE49-F238E27FC236}">
                <a16:creationId xmlns:a16="http://schemas.microsoft.com/office/drawing/2014/main" id="{E45F19F6-1154-B321-E478-B2BD0635ECA3}"/>
              </a:ext>
            </a:extLst>
          </p:cNvPr>
          <p:cNvSpPr txBox="1"/>
          <p:nvPr/>
        </p:nvSpPr>
        <p:spPr>
          <a:xfrm>
            <a:off x="685800" y="7620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投放机构与重心：两路分别记录，三种状态复核</a:t>
            </a:r>
          </a:p>
        </p:txBody>
      </p:sp>
      <p:sp>
        <p:nvSpPr>
          <p:cNvPr id="4" name="number-9-1">
            <a:extLst>
              <a:ext uri="{FF2B5EF4-FFF2-40B4-BE49-F238E27FC236}">
                <a16:creationId xmlns:a16="http://schemas.microsoft.com/office/drawing/2014/main" id="{C0B94B6D-308C-115D-E61D-CC7624446FB3}"/>
              </a:ext>
            </a:extLst>
          </p:cNvPr>
          <p:cNvSpPr txBox="1"/>
          <p:nvPr/>
        </p:nvSpPr>
        <p:spPr>
          <a:xfrm>
            <a:off x="685800" y="1847850"/>
            <a:ext cx="876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16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photo-placeholder-9-1">
            <a:extLst>
              <a:ext uri="{FF2B5EF4-FFF2-40B4-BE49-F238E27FC236}">
                <a16:creationId xmlns:a16="http://schemas.microsoft.com/office/drawing/2014/main" id="{7E74C727-B66E-E3E1-1BF4-4FC4E64A0127}"/>
              </a:ext>
            </a:extLst>
          </p:cNvPr>
          <p:cNvSpPr/>
          <p:nvPr/>
        </p:nvSpPr>
        <p:spPr>
          <a:xfrm>
            <a:off x="685800" y="2095500"/>
            <a:ext cx="3143250" cy="1447800"/>
          </a:xfrm>
          <a:prstGeom prst="rect">
            <a:avLst/>
          </a:prstGeom>
          <a:solidFill>
            <a:srgbClr val="F3F8FD"/>
          </a:solidFill>
          <a:ln w="19050"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Autofit/>
          </a:bodyPr>
          <a:lstStyle/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照片位置</a:t>
            </a:r>
          </a:p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保持位 </a:t>
            </a:r>
            <a:r>
              <a:rPr lang="en-US" altLang="zh-CN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释放位</a:t>
            </a:r>
          </a:p>
        </p:txBody>
      </p:sp>
      <p:sp>
        <p:nvSpPr>
          <p:cNvPr id="6" name="name-9-1">
            <a:extLst>
              <a:ext uri="{FF2B5EF4-FFF2-40B4-BE49-F238E27FC236}">
                <a16:creationId xmlns:a16="http://schemas.microsoft.com/office/drawing/2014/main" id="{7DB8F448-C4B4-73B4-1FC1-44A23B05AD23}"/>
              </a:ext>
            </a:extLst>
          </p:cNvPr>
          <p:cNvSpPr txBox="1"/>
          <p:nvPr/>
        </p:nvSpPr>
        <p:spPr>
          <a:xfrm>
            <a:off x="685800" y="36957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25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payload 1 </a:t>
            </a:r>
            <a:r>
              <a:rPr lang="zh-CN" altLang="en-US" sz="1725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保持 </a:t>
            </a:r>
            <a:r>
              <a:rPr lang="en-US" altLang="zh-CN" sz="1725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725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释放</a:t>
            </a:r>
          </a:p>
        </p:txBody>
      </p:sp>
      <p:sp>
        <p:nvSpPr>
          <p:cNvPr id="7" name="spec-9-1">
            <a:extLst>
              <a:ext uri="{FF2B5EF4-FFF2-40B4-BE49-F238E27FC236}">
                <a16:creationId xmlns:a16="http://schemas.microsoft.com/office/drawing/2014/main" id="{C27500DF-CF26-C904-86C7-407B521CE25C}"/>
              </a:ext>
            </a:extLst>
          </p:cNvPr>
          <p:cNvSpPr txBox="1"/>
          <p:nvPr/>
        </p:nvSpPr>
        <p:spPr>
          <a:xfrm>
            <a:off x="685800" y="417195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标记编号与安全机械范围</a:t>
            </a:r>
          </a:p>
        </p:txBody>
      </p:sp>
      <p:sp>
        <p:nvSpPr>
          <p:cNvPr id="8" name="status-9-1">
            <a:extLst>
              <a:ext uri="{FF2B5EF4-FFF2-40B4-BE49-F238E27FC236}">
                <a16:creationId xmlns:a16="http://schemas.microsoft.com/office/drawing/2014/main" id="{80C0EA29-A999-3947-4F1A-8BD185946EA7}"/>
              </a:ext>
            </a:extLst>
          </p:cNvPr>
          <p:cNvSpPr txBox="1"/>
          <p:nvPr/>
        </p:nvSpPr>
        <p:spPr>
          <a:xfrm>
            <a:off x="685800" y="45339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22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待拍摄</a:t>
            </a:r>
          </a:p>
        </p:txBody>
      </p:sp>
      <p:sp>
        <p:nvSpPr>
          <p:cNvPr id="9" name="detail-9-1">
            <a:extLst>
              <a:ext uri="{FF2B5EF4-FFF2-40B4-BE49-F238E27FC236}">
                <a16:creationId xmlns:a16="http://schemas.microsoft.com/office/drawing/2014/main" id="{974812D6-A3D7-21FF-5565-B17C910EC5B3}"/>
              </a:ext>
            </a:extLst>
          </p:cNvPr>
          <p:cNvSpPr txBox="1"/>
          <p:nvPr/>
        </p:nvSpPr>
        <p:spPr>
          <a:xfrm>
            <a:off x="685800" y="50292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0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建议：分别拍保持位与释放位</a:t>
            </a:r>
          </a:p>
        </p:txBody>
      </p:sp>
      <p:sp>
        <p:nvSpPr>
          <p:cNvPr id="10" name="number-9-2">
            <a:extLst>
              <a:ext uri="{FF2B5EF4-FFF2-40B4-BE49-F238E27FC236}">
                <a16:creationId xmlns:a16="http://schemas.microsoft.com/office/drawing/2014/main" id="{8347B3C4-7A1F-2117-1215-8DB4EE3C7A2F}"/>
              </a:ext>
            </a:extLst>
          </p:cNvPr>
          <p:cNvSpPr txBox="1"/>
          <p:nvPr/>
        </p:nvSpPr>
        <p:spPr>
          <a:xfrm>
            <a:off x="4324350" y="1847850"/>
            <a:ext cx="876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6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photo-placeholder-9-2">
            <a:extLst>
              <a:ext uri="{FF2B5EF4-FFF2-40B4-BE49-F238E27FC236}">
                <a16:creationId xmlns:a16="http://schemas.microsoft.com/office/drawing/2014/main" id="{B175E72F-B7EA-0623-BD6F-6D9B4B57B879}"/>
              </a:ext>
            </a:extLst>
          </p:cNvPr>
          <p:cNvSpPr/>
          <p:nvPr/>
        </p:nvSpPr>
        <p:spPr>
          <a:xfrm>
            <a:off x="4324350" y="2095500"/>
            <a:ext cx="3143250" cy="1447800"/>
          </a:xfrm>
          <a:prstGeom prst="rect">
            <a:avLst/>
          </a:prstGeom>
          <a:solidFill>
            <a:srgbClr val="F3F8FD"/>
          </a:solidFill>
          <a:ln w="19050"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Autofit/>
          </a:bodyPr>
          <a:lstStyle/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照片位置</a:t>
            </a:r>
          </a:p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保持位 </a:t>
            </a:r>
            <a:r>
              <a:rPr lang="en-US" altLang="zh-CN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释放位</a:t>
            </a:r>
          </a:p>
        </p:txBody>
      </p:sp>
      <p:sp>
        <p:nvSpPr>
          <p:cNvPr id="12" name="name-9-2">
            <a:extLst>
              <a:ext uri="{FF2B5EF4-FFF2-40B4-BE49-F238E27FC236}">
                <a16:creationId xmlns:a16="http://schemas.microsoft.com/office/drawing/2014/main" id="{2BA0D5B8-DE6F-DDB2-52FC-C576430A66E0}"/>
              </a:ext>
            </a:extLst>
          </p:cNvPr>
          <p:cNvSpPr txBox="1"/>
          <p:nvPr/>
        </p:nvSpPr>
        <p:spPr>
          <a:xfrm>
            <a:off x="4324350" y="36957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25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payload 2 </a:t>
            </a:r>
            <a:r>
              <a:rPr lang="zh-CN" altLang="en-US" sz="1725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保持 </a:t>
            </a:r>
            <a:r>
              <a:rPr lang="en-US" altLang="zh-CN" sz="1725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725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释放</a:t>
            </a:r>
          </a:p>
        </p:txBody>
      </p:sp>
      <p:sp>
        <p:nvSpPr>
          <p:cNvPr id="13" name="spec-9-2">
            <a:extLst>
              <a:ext uri="{FF2B5EF4-FFF2-40B4-BE49-F238E27FC236}">
                <a16:creationId xmlns:a16="http://schemas.microsoft.com/office/drawing/2014/main" id="{860CC2C6-F197-E377-74FD-DE72E0018B5F}"/>
              </a:ext>
            </a:extLst>
          </p:cNvPr>
          <p:cNvSpPr txBox="1"/>
          <p:nvPr/>
        </p:nvSpPr>
        <p:spPr>
          <a:xfrm>
            <a:off x="4324350" y="417195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摇臂不得在极限处堵转</a:t>
            </a:r>
          </a:p>
        </p:txBody>
      </p:sp>
      <p:sp>
        <p:nvSpPr>
          <p:cNvPr id="14" name="status-9-2">
            <a:extLst>
              <a:ext uri="{FF2B5EF4-FFF2-40B4-BE49-F238E27FC236}">
                <a16:creationId xmlns:a16="http://schemas.microsoft.com/office/drawing/2014/main" id="{77C616B3-96F4-28BC-7EBC-AC73055B02C2}"/>
              </a:ext>
            </a:extLst>
          </p:cNvPr>
          <p:cNvSpPr txBox="1"/>
          <p:nvPr/>
        </p:nvSpPr>
        <p:spPr>
          <a:xfrm>
            <a:off x="4324350" y="45339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22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待拍摄</a:t>
            </a:r>
          </a:p>
        </p:txBody>
      </p:sp>
      <p:sp>
        <p:nvSpPr>
          <p:cNvPr id="15" name="detail-9-2">
            <a:extLst>
              <a:ext uri="{FF2B5EF4-FFF2-40B4-BE49-F238E27FC236}">
                <a16:creationId xmlns:a16="http://schemas.microsoft.com/office/drawing/2014/main" id="{AB4E046B-C5BA-2B74-D636-75EEFBBAD0E2}"/>
              </a:ext>
            </a:extLst>
          </p:cNvPr>
          <p:cNvSpPr txBox="1"/>
          <p:nvPr/>
        </p:nvSpPr>
        <p:spPr>
          <a:xfrm>
            <a:off x="4324350" y="50292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0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建议：分别拍保持位与释放位</a:t>
            </a:r>
          </a:p>
        </p:txBody>
      </p:sp>
      <p:sp>
        <p:nvSpPr>
          <p:cNvPr id="16" name="number-9-3">
            <a:extLst>
              <a:ext uri="{FF2B5EF4-FFF2-40B4-BE49-F238E27FC236}">
                <a16:creationId xmlns:a16="http://schemas.microsoft.com/office/drawing/2014/main" id="{65D00E71-21E8-B27D-70D3-3A6A7747038A}"/>
              </a:ext>
            </a:extLst>
          </p:cNvPr>
          <p:cNvSpPr txBox="1"/>
          <p:nvPr/>
        </p:nvSpPr>
        <p:spPr>
          <a:xfrm>
            <a:off x="7962900" y="1847850"/>
            <a:ext cx="876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6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photo-placeholder-9-3">
            <a:extLst>
              <a:ext uri="{FF2B5EF4-FFF2-40B4-BE49-F238E27FC236}">
                <a16:creationId xmlns:a16="http://schemas.microsoft.com/office/drawing/2014/main" id="{E43AB8AD-FE53-5C0A-E165-5EE2C8C0CF71}"/>
              </a:ext>
            </a:extLst>
          </p:cNvPr>
          <p:cNvSpPr/>
          <p:nvPr/>
        </p:nvSpPr>
        <p:spPr>
          <a:xfrm>
            <a:off x="7962900" y="2095500"/>
            <a:ext cx="3143250" cy="1447800"/>
          </a:xfrm>
          <a:prstGeom prst="rect">
            <a:avLst/>
          </a:prstGeom>
          <a:solidFill>
            <a:srgbClr val="F3F8FD"/>
          </a:solidFill>
          <a:ln w="19050"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>
            <a:noAutofit/>
          </a:bodyPr>
          <a:lstStyle/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照片位置</a:t>
            </a:r>
          </a:p>
          <a:p>
            <a:pPr algn="ctr"/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重心基准 </a:t>
            </a:r>
            <a:r>
              <a:rPr lang="en-US" altLang="zh-CN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走线全景</a:t>
            </a:r>
          </a:p>
        </p:txBody>
      </p:sp>
      <p:sp>
        <p:nvSpPr>
          <p:cNvPr id="18" name="name-9-3">
            <a:extLst>
              <a:ext uri="{FF2B5EF4-FFF2-40B4-BE49-F238E27FC236}">
                <a16:creationId xmlns:a16="http://schemas.microsoft.com/office/drawing/2014/main" id="{78532BCF-1A2B-5909-A2A1-FD7E3B12D3E1}"/>
              </a:ext>
            </a:extLst>
          </p:cNvPr>
          <p:cNvSpPr txBox="1"/>
          <p:nvPr/>
        </p:nvSpPr>
        <p:spPr>
          <a:xfrm>
            <a:off x="7962900" y="36957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25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重心与总走线</a:t>
            </a:r>
          </a:p>
        </p:txBody>
      </p:sp>
      <p:sp>
        <p:nvSpPr>
          <p:cNvPr id="19" name="spec-9-3">
            <a:extLst>
              <a:ext uri="{FF2B5EF4-FFF2-40B4-BE49-F238E27FC236}">
                <a16:creationId xmlns:a16="http://schemas.microsoft.com/office/drawing/2014/main" id="{ABF8370E-5293-0C1A-4F1A-3EF810EF5330}"/>
              </a:ext>
            </a:extLst>
          </p:cNvPr>
          <p:cNvSpPr txBox="1"/>
          <p:nvPr/>
        </p:nvSpPr>
        <p:spPr>
          <a:xfrm>
            <a:off x="7962900" y="417195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满载 → 放 </a:t>
            </a:r>
            <a:r>
              <a:rPr lang="en-US" altLang="zh-CN" sz="12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→ </a:t>
            </a:r>
            <a:r>
              <a:rPr lang="zh-CN" altLang="en-US" sz="12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放 </a:t>
            </a:r>
            <a:r>
              <a:rPr lang="en-US" altLang="zh-CN" sz="120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20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status-9-3">
            <a:extLst>
              <a:ext uri="{FF2B5EF4-FFF2-40B4-BE49-F238E27FC236}">
                <a16:creationId xmlns:a16="http://schemas.microsoft.com/office/drawing/2014/main" id="{2D969BC5-52C3-064C-8199-211B9FAC63FB}"/>
              </a:ext>
            </a:extLst>
          </p:cNvPr>
          <p:cNvSpPr txBox="1"/>
          <p:nvPr/>
        </p:nvSpPr>
        <p:spPr>
          <a:xfrm>
            <a:off x="7962900" y="45339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22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待拍摄</a:t>
            </a:r>
          </a:p>
        </p:txBody>
      </p:sp>
      <p:sp>
        <p:nvSpPr>
          <p:cNvPr id="21" name="detail-9-3">
            <a:extLst>
              <a:ext uri="{FF2B5EF4-FFF2-40B4-BE49-F238E27FC236}">
                <a16:creationId xmlns:a16="http://schemas.microsoft.com/office/drawing/2014/main" id="{3765A4D6-B719-FFEA-697E-0A3ABE65D6C8}"/>
              </a:ext>
            </a:extLst>
          </p:cNvPr>
          <p:cNvSpPr txBox="1"/>
          <p:nvPr/>
        </p:nvSpPr>
        <p:spPr>
          <a:xfrm>
            <a:off x="7962900" y="5029200"/>
            <a:ext cx="3143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0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建议：拍重心基准、标签和防松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ED3BD1D-5BD3-7D1E-6661-890D930A14ED}"/>
              </a:ext>
            </a:extLst>
          </p:cNvPr>
          <p:cNvCxnSpPr/>
          <p:nvPr/>
        </p:nvCxnSpPr>
        <p:spPr>
          <a:xfrm>
            <a:off x="4057650" y="1847850"/>
            <a:ext cx="0" cy="3295650"/>
          </a:xfrm>
          <a:prstGeom prst="line">
            <a:avLst/>
          </a:prstGeom>
          <a:ln w="12700">
            <a:solidFill>
              <a:srgbClr val="B8BE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D5EAB28-C2E2-D61C-4BCA-FD1D6A885B27}"/>
              </a:ext>
            </a:extLst>
          </p:cNvPr>
          <p:cNvCxnSpPr/>
          <p:nvPr/>
        </p:nvCxnSpPr>
        <p:spPr>
          <a:xfrm>
            <a:off x="7696200" y="1847850"/>
            <a:ext cx="0" cy="3295650"/>
          </a:xfrm>
          <a:prstGeom prst="line">
            <a:avLst/>
          </a:prstGeom>
          <a:ln w="12700">
            <a:solidFill>
              <a:srgbClr val="B8BE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bottom-band-9">
            <a:extLst>
              <a:ext uri="{FF2B5EF4-FFF2-40B4-BE49-F238E27FC236}">
                <a16:creationId xmlns:a16="http://schemas.microsoft.com/office/drawing/2014/main" id="{E696CFF7-E526-2C17-3EF9-C23E7676193D}"/>
              </a:ext>
            </a:extLst>
          </p:cNvPr>
          <p:cNvSpPr/>
          <p:nvPr/>
        </p:nvSpPr>
        <p:spPr>
          <a:xfrm>
            <a:off x="685800" y="5391150"/>
            <a:ext cx="10820400" cy="571500"/>
          </a:xfrm>
          <a:prstGeom prst="rect">
            <a:avLst/>
          </a:prstGeom>
          <a:solidFill>
            <a:srgbClr val="D7F0F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50800" rIns="152400" bIns="50800" rtlCol="0" anchor="ctr"/>
          <a:lstStyle/>
          <a:p>
            <a:pPr algn="ctr"/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机构不得碰撞机臂、相机、地面或桨区；用等重模拟载荷完成重心检查。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84C4DB2-BD99-4018-D89F-21896FEB2365}"/>
              </a:ext>
            </a:extLst>
          </p:cNvPr>
          <p:cNvCxnSpPr/>
          <p:nvPr/>
        </p:nvCxnSpPr>
        <p:spPr>
          <a:xfrm>
            <a:off x="685800" y="6305550"/>
            <a:ext cx="10820400" cy="0"/>
          </a:xfrm>
          <a:prstGeom prst="line">
            <a:avLst/>
          </a:prstGeom>
          <a:ln w="9525">
            <a:solidFill>
              <a:srgbClr val="B8BE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oter-9">
            <a:extLst>
              <a:ext uri="{FF2B5EF4-FFF2-40B4-BE49-F238E27FC236}">
                <a16:creationId xmlns:a16="http://schemas.microsoft.com/office/drawing/2014/main" id="{A77602D4-034D-A608-9EB0-0E301D87EEA7}"/>
              </a:ext>
            </a:extLst>
          </p:cNvPr>
          <p:cNvSpPr txBox="1"/>
          <p:nvPr/>
        </p:nvSpPr>
        <p:spPr>
          <a:xfrm>
            <a:off x="685800" y="6419850"/>
            <a:ext cx="400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</a:t>
            </a:r>
            <a:r>
              <a:rPr lang="zh-CN" altLang="en-US" sz="10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无人机组装</a:t>
            </a:r>
          </a:p>
        </p:txBody>
      </p:sp>
      <p:sp>
        <p:nvSpPr>
          <p:cNvPr id="27" name="page-9">
            <a:extLst>
              <a:ext uri="{FF2B5EF4-FFF2-40B4-BE49-F238E27FC236}">
                <a16:creationId xmlns:a16="http://schemas.microsoft.com/office/drawing/2014/main" id="{F8569FFF-DBAB-A38A-042E-D4C0AFA78578}"/>
              </a:ext>
            </a:extLst>
          </p:cNvPr>
          <p:cNvSpPr txBox="1"/>
          <p:nvPr/>
        </p:nvSpPr>
        <p:spPr>
          <a:xfrm>
            <a:off x="10934700" y="641985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</a:t>
            </a:r>
            <a:endParaRPr lang="zh-CN" altLang="en-US" sz="10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6320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-0188">
            <a:extLst>
              <a:ext uri="{FF2B5EF4-FFF2-40B4-BE49-F238E27FC236}">
                <a16:creationId xmlns:a16="http://schemas.microsoft.com/office/drawing/2014/main" id="{C80CA00D-E03A-4976-9680-E9DDDD26B62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真实值记录</a:t>
            </a:r>
          </a:p>
        </p:txBody>
      </p:sp>
      <p:sp>
        <p:nvSpPr>
          <p:cNvPr id="2" name="text-0189">
            <a:extLst>
              <a:ext uri="{FF2B5EF4-FFF2-40B4-BE49-F238E27FC236}">
                <a16:creationId xmlns:a16="http://schemas.microsoft.com/office/drawing/2014/main" id="{3ADB9F3C-C5A3-40A3-8759-16AE78FCDED7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上电前，至少把这 7 类真实值写清楚</a:t>
            </a:r>
          </a:p>
        </p:txBody>
      </p:sp>
      <p:sp>
        <p:nvSpPr>
          <p:cNvPr id="3" name="shape-0190">
            <a:extLst>
              <a:ext uri="{FF2B5EF4-FFF2-40B4-BE49-F238E27FC236}">
                <a16:creationId xmlns:a16="http://schemas.microsoft.com/office/drawing/2014/main" id="{2129EA69-D92C-49EF-95C7-B7143C2A0244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191">
            <a:extLst>
              <a:ext uri="{FF2B5EF4-FFF2-40B4-BE49-F238E27FC236}">
                <a16:creationId xmlns:a16="http://schemas.microsoft.com/office/drawing/2014/main" id="{2F82D8BA-7CE5-4102-884E-58F925A01DB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03 无人机组装</a:t>
            </a:r>
          </a:p>
        </p:txBody>
      </p:sp>
      <p:sp>
        <p:nvSpPr>
          <p:cNvPr id="5" name="text-0192">
            <a:extLst>
              <a:ext uri="{FF2B5EF4-FFF2-40B4-BE49-F238E27FC236}">
                <a16:creationId xmlns:a16="http://schemas.microsoft.com/office/drawing/2014/main" id="{C8F26085-55E5-4F93-9888-7C08DDE6635E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text-0193">
            <a:extLst>
              <a:ext uri="{FF2B5EF4-FFF2-40B4-BE49-F238E27FC236}">
                <a16:creationId xmlns:a16="http://schemas.microsoft.com/office/drawing/2014/main" id="{3676A76A-17E1-4EFE-BF5D-B477E995F6A1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194">
            <a:extLst>
              <a:ext uri="{FF2B5EF4-FFF2-40B4-BE49-F238E27FC236}">
                <a16:creationId xmlns:a16="http://schemas.microsoft.com/office/drawing/2014/main" id="{28CEE24B-D7C9-4730-A1E7-CDABA9EE04F8}"/>
              </a:ext>
            </a:extLst>
          </p:cNvPr>
          <p:cNvSpPr>
            <a:spLocks noGrp="1"/>
          </p:cNvSpPr>
          <p:nvPr/>
        </p:nvSpPr>
        <p:spPr>
          <a:xfrm>
            <a:off x="1295400" y="1676400"/>
            <a:ext cx="4438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飞控与方向</a:t>
            </a:r>
          </a:p>
        </p:txBody>
      </p:sp>
      <p:sp>
        <p:nvSpPr>
          <p:cNvPr id="8" name="text-0195">
            <a:extLst>
              <a:ext uri="{FF2B5EF4-FFF2-40B4-BE49-F238E27FC236}">
                <a16:creationId xmlns:a16="http://schemas.microsoft.com/office/drawing/2014/main" id="{376AB46A-67ED-40EC-A544-5E9E0864A6DD}"/>
              </a:ext>
            </a:extLst>
          </p:cNvPr>
          <p:cNvSpPr>
            <a:spLocks noGrp="1"/>
          </p:cNvSpPr>
          <p:nvPr/>
        </p:nvSpPr>
        <p:spPr>
          <a:xfrm>
            <a:off x="1295400" y="201930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型号、硬件版本、安装方向，以及 GPS / MAVLink / SERVO 接口。</a:t>
            </a:r>
          </a:p>
        </p:txBody>
      </p:sp>
      <p:sp>
        <p:nvSpPr>
          <p:cNvPr id="9" name="text-0196">
            <a:extLst>
              <a:ext uri="{FF2B5EF4-FFF2-40B4-BE49-F238E27FC236}">
                <a16:creationId xmlns:a16="http://schemas.microsoft.com/office/drawing/2014/main" id="{3845A8B6-F23D-4CD0-A452-A20F9A208305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-0197">
            <a:extLst>
              <a:ext uri="{FF2B5EF4-FFF2-40B4-BE49-F238E27FC236}">
                <a16:creationId xmlns:a16="http://schemas.microsoft.com/office/drawing/2014/main" id="{71EAA490-8399-499E-A12F-C9C02D967112}"/>
              </a:ext>
            </a:extLst>
          </p:cNvPr>
          <p:cNvSpPr>
            <a:spLocks noGrp="1"/>
          </p:cNvSpPr>
          <p:nvPr/>
        </p:nvSpPr>
        <p:spPr>
          <a:xfrm>
            <a:off x="1295400" y="2686050"/>
            <a:ext cx="4438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GPS / 罗盘</a:t>
            </a:r>
          </a:p>
        </p:txBody>
      </p:sp>
      <p:sp>
        <p:nvSpPr>
          <p:cNvPr id="11" name="text-0198">
            <a:extLst>
              <a:ext uri="{FF2B5EF4-FFF2-40B4-BE49-F238E27FC236}">
                <a16:creationId xmlns:a16="http://schemas.microsoft.com/office/drawing/2014/main" id="{09DE1EAD-1C4D-4AC9-8934-8056218C10E1}"/>
              </a:ext>
            </a:extLst>
          </p:cNvPr>
          <p:cNvSpPr>
            <a:spLocks noGrp="1"/>
          </p:cNvSpPr>
          <p:nvPr/>
        </p:nvSpPr>
        <p:spPr>
          <a:xfrm>
            <a:off x="1295400" y="30289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杆高、箭头方向和线缆走向。</a:t>
            </a:r>
          </a:p>
        </p:txBody>
      </p:sp>
      <p:sp>
        <p:nvSpPr>
          <p:cNvPr id="12" name="text-0199">
            <a:extLst>
              <a:ext uri="{FF2B5EF4-FFF2-40B4-BE49-F238E27FC236}">
                <a16:creationId xmlns:a16="http://schemas.microsoft.com/office/drawing/2014/main" id="{AA62EAC2-4E7D-4522-B89F-50768236D187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-0200">
            <a:extLst>
              <a:ext uri="{FF2B5EF4-FFF2-40B4-BE49-F238E27FC236}">
                <a16:creationId xmlns:a16="http://schemas.microsoft.com/office/drawing/2014/main" id="{80B1E18E-B857-4D9C-BE53-5C67839CA9CC}"/>
              </a:ext>
            </a:extLst>
          </p:cNvPr>
          <p:cNvSpPr>
            <a:spLocks noGrp="1"/>
          </p:cNvSpPr>
          <p:nvPr/>
        </p:nvSpPr>
        <p:spPr>
          <a:xfrm>
            <a:off x="1295400" y="3695700"/>
            <a:ext cx="4438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下视相机</a:t>
            </a:r>
          </a:p>
        </p:txBody>
      </p:sp>
      <p:sp>
        <p:nvSpPr>
          <p:cNvPr id="14" name="text-0201">
            <a:extLst>
              <a:ext uri="{FF2B5EF4-FFF2-40B4-BE49-F238E27FC236}">
                <a16:creationId xmlns:a16="http://schemas.microsoft.com/office/drawing/2014/main" id="{A7EC9044-3A30-4597-AB88-46CF3F10B5C6}"/>
              </a:ext>
            </a:extLst>
          </p:cNvPr>
          <p:cNvSpPr>
            <a:spLocks noGrp="1"/>
          </p:cNvSpPr>
          <p:nvPr/>
        </p:nvSpPr>
        <p:spPr>
          <a:xfrm>
            <a:off x="1295400" y="403860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型号、接口、安装方式、光轴方向与实际 FOV。</a:t>
            </a:r>
          </a:p>
        </p:txBody>
      </p:sp>
      <p:sp>
        <p:nvSpPr>
          <p:cNvPr id="15" name="text-0202">
            <a:extLst>
              <a:ext uri="{FF2B5EF4-FFF2-40B4-BE49-F238E27FC236}">
                <a16:creationId xmlns:a16="http://schemas.microsoft.com/office/drawing/2014/main" id="{A38B0179-9637-45E4-95C8-9F596DCC350D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text-0203">
            <a:extLst>
              <a:ext uri="{FF2B5EF4-FFF2-40B4-BE49-F238E27FC236}">
                <a16:creationId xmlns:a16="http://schemas.microsoft.com/office/drawing/2014/main" id="{06A576AE-7E56-4C92-A131-44D3994ED786}"/>
              </a:ext>
            </a:extLst>
          </p:cNvPr>
          <p:cNvSpPr>
            <a:spLocks noGrp="1"/>
          </p:cNvSpPr>
          <p:nvPr/>
        </p:nvSpPr>
        <p:spPr>
          <a:xfrm>
            <a:off x="1295400" y="4705350"/>
            <a:ext cx="4438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相机偏移</a:t>
            </a:r>
          </a:p>
        </p:txBody>
      </p:sp>
      <p:sp>
        <p:nvSpPr>
          <p:cNvPr id="17" name="text-0204">
            <a:extLst>
              <a:ext uri="{FF2B5EF4-FFF2-40B4-BE49-F238E27FC236}">
                <a16:creationId xmlns:a16="http://schemas.microsoft.com/office/drawing/2014/main" id="{D7290035-BAF3-4247-9171-3AED1D976037}"/>
              </a:ext>
            </a:extLst>
          </p:cNvPr>
          <p:cNvSpPr>
            <a:spLocks noGrp="1"/>
          </p:cNvSpPr>
          <p:nvPr/>
        </p:nvSpPr>
        <p:spPr>
          <a:xfrm>
            <a:off x="1295400" y="50482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相对机体中心和 payload 1 / 2 的前、右偏移。</a:t>
            </a:r>
          </a:p>
        </p:txBody>
      </p:sp>
      <p:sp>
        <p:nvSpPr>
          <p:cNvPr id="18" name="shape-0205">
            <a:extLst>
              <a:ext uri="{FF2B5EF4-FFF2-40B4-BE49-F238E27FC236}">
                <a16:creationId xmlns:a16="http://schemas.microsoft.com/office/drawing/2014/main" id="{BDA2C280-62BF-4A73-951D-2EC59E77CA1F}"/>
              </a:ext>
            </a:extLst>
          </p:cNvPr>
          <p:cNvSpPr>
            <a:spLocks noGrp="1"/>
          </p:cNvSpPr>
          <p:nvPr/>
        </p:nvSpPr>
        <p:spPr>
          <a:xfrm>
            <a:off x="5981700" y="1676400"/>
            <a:ext cx="14288" cy="39052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9" name="text-0206">
            <a:extLst>
              <a:ext uri="{FF2B5EF4-FFF2-40B4-BE49-F238E27FC236}">
                <a16:creationId xmlns:a16="http://schemas.microsoft.com/office/drawing/2014/main" id="{C47ED014-F5E0-4076-8905-460EDA3FE0B9}"/>
              </a:ext>
            </a:extLst>
          </p:cNvPr>
          <p:cNvSpPr>
            <a:spLocks noGrp="1"/>
          </p:cNvSpPr>
          <p:nvPr/>
        </p:nvSpPr>
        <p:spPr>
          <a:xfrm>
            <a:off x="6400800" y="19621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0" name="text-0207">
            <a:extLst>
              <a:ext uri="{FF2B5EF4-FFF2-40B4-BE49-F238E27FC236}">
                <a16:creationId xmlns:a16="http://schemas.microsoft.com/office/drawing/2014/main" id="{C3453E7C-B483-444B-BB20-1219DD2A75D8}"/>
              </a:ext>
            </a:extLst>
          </p:cNvPr>
          <p:cNvSpPr>
            <a:spLocks noGrp="1"/>
          </p:cNvSpPr>
          <p:nvPr/>
        </p:nvSpPr>
        <p:spPr>
          <a:xfrm>
            <a:off x="7010400" y="1962150"/>
            <a:ext cx="449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payload 1</a:t>
            </a:r>
          </a:p>
        </p:txBody>
      </p:sp>
      <p:sp>
        <p:nvSpPr>
          <p:cNvPr id="21" name="text-0208">
            <a:extLst>
              <a:ext uri="{FF2B5EF4-FFF2-40B4-BE49-F238E27FC236}">
                <a16:creationId xmlns:a16="http://schemas.microsoft.com/office/drawing/2014/main" id="{AAB703CD-88CB-402E-9E77-8CA0C2022732}"/>
              </a:ext>
            </a:extLst>
          </p:cNvPr>
          <p:cNvSpPr>
            <a:spLocks noGrp="1"/>
          </p:cNvSpPr>
          <p:nvPr/>
        </p:nvSpPr>
        <p:spPr>
          <a:xfrm>
            <a:off x="7010400" y="2305050"/>
            <a:ext cx="449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SERVO 输出、保持 / 释放 PWM 和机械范围。</a:t>
            </a:r>
          </a:p>
        </p:txBody>
      </p:sp>
      <p:sp>
        <p:nvSpPr>
          <p:cNvPr id="22" name="text-0209">
            <a:extLst>
              <a:ext uri="{FF2B5EF4-FFF2-40B4-BE49-F238E27FC236}">
                <a16:creationId xmlns:a16="http://schemas.microsoft.com/office/drawing/2014/main" id="{EAEE40C4-9369-4595-BD25-7240F5130979}"/>
              </a:ext>
            </a:extLst>
          </p:cNvPr>
          <p:cNvSpPr>
            <a:spLocks noGrp="1"/>
          </p:cNvSpPr>
          <p:nvPr/>
        </p:nvSpPr>
        <p:spPr>
          <a:xfrm>
            <a:off x="6400800" y="33337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3" name="text-0210">
            <a:extLst>
              <a:ext uri="{FF2B5EF4-FFF2-40B4-BE49-F238E27FC236}">
                <a16:creationId xmlns:a16="http://schemas.microsoft.com/office/drawing/2014/main" id="{405C1778-7323-4807-BEDD-370E6BA7DD2C}"/>
              </a:ext>
            </a:extLst>
          </p:cNvPr>
          <p:cNvSpPr>
            <a:spLocks noGrp="1"/>
          </p:cNvSpPr>
          <p:nvPr/>
        </p:nvSpPr>
        <p:spPr>
          <a:xfrm>
            <a:off x="7010400" y="3333750"/>
            <a:ext cx="449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payload 2</a:t>
            </a:r>
          </a:p>
        </p:txBody>
      </p:sp>
      <p:sp>
        <p:nvSpPr>
          <p:cNvPr id="24" name="text-0211">
            <a:extLst>
              <a:ext uri="{FF2B5EF4-FFF2-40B4-BE49-F238E27FC236}">
                <a16:creationId xmlns:a16="http://schemas.microsoft.com/office/drawing/2014/main" id="{3BBB3E29-C6DB-4CA6-B931-1AFA18623F5E}"/>
              </a:ext>
            </a:extLst>
          </p:cNvPr>
          <p:cNvSpPr>
            <a:spLocks noGrp="1"/>
          </p:cNvSpPr>
          <p:nvPr/>
        </p:nvSpPr>
        <p:spPr>
          <a:xfrm>
            <a:off x="7010400" y="3676650"/>
            <a:ext cx="449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SERVO 输出、保持 / 释放 PWM 和机械范围。</a:t>
            </a:r>
          </a:p>
        </p:txBody>
      </p:sp>
      <p:sp>
        <p:nvSpPr>
          <p:cNvPr id="25" name="text-0212">
            <a:extLst>
              <a:ext uri="{FF2B5EF4-FFF2-40B4-BE49-F238E27FC236}">
                <a16:creationId xmlns:a16="http://schemas.microsoft.com/office/drawing/2014/main" id="{0A0E2565-24E8-472A-983F-F8E3E8D24EA9}"/>
              </a:ext>
            </a:extLst>
          </p:cNvPr>
          <p:cNvSpPr>
            <a:spLocks noGrp="1"/>
          </p:cNvSpPr>
          <p:nvPr/>
        </p:nvSpPr>
        <p:spPr>
          <a:xfrm>
            <a:off x="6400800" y="47053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6" name="text-0213">
            <a:extLst>
              <a:ext uri="{FF2B5EF4-FFF2-40B4-BE49-F238E27FC236}">
                <a16:creationId xmlns:a16="http://schemas.microsoft.com/office/drawing/2014/main" id="{9B1CABD9-4545-480F-AE09-EF8489A73826}"/>
              </a:ext>
            </a:extLst>
          </p:cNvPr>
          <p:cNvSpPr>
            <a:spLocks noGrp="1"/>
          </p:cNvSpPr>
          <p:nvPr/>
        </p:nvSpPr>
        <p:spPr>
          <a:xfrm>
            <a:off x="7010400" y="4705350"/>
            <a:ext cx="449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三种重心状态</a:t>
            </a:r>
          </a:p>
        </p:txBody>
      </p:sp>
      <p:sp>
        <p:nvSpPr>
          <p:cNvPr id="27" name="text-0214">
            <a:extLst>
              <a:ext uri="{FF2B5EF4-FFF2-40B4-BE49-F238E27FC236}">
                <a16:creationId xmlns:a16="http://schemas.microsoft.com/office/drawing/2014/main" id="{C64A91F2-00E4-41E0-AED8-4E08B5342506}"/>
              </a:ext>
            </a:extLst>
          </p:cNvPr>
          <p:cNvSpPr>
            <a:spLocks noGrp="1"/>
          </p:cNvSpPr>
          <p:nvPr/>
        </p:nvSpPr>
        <p:spPr>
          <a:xfrm>
            <a:off x="7010400" y="5048250"/>
            <a:ext cx="449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满载、释放第 1 路、释放第 2 路；使用等重模拟载荷。</a:t>
            </a:r>
          </a:p>
        </p:txBody>
      </p:sp>
    </p:spTree>
    <p:extLst>
      <p:ext uri="{BB962C8B-B14F-4D97-AF65-F5344CB8AC3E}">
        <p14:creationId xmlns:p14="http://schemas.microsoft.com/office/powerpoint/2010/main" val="1229812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075">
            <a:extLst>
              <a:ext uri="{FF2B5EF4-FFF2-40B4-BE49-F238E27FC236}">
                <a16:creationId xmlns:a16="http://schemas.microsoft.com/office/drawing/2014/main" id="{1E1C1F65-53CB-46D7-BF95-7B2B0B265A7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接线总表 / 电源</a:t>
            </a:r>
          </a:p>
        </p:txBody>
      </p:sp>
      <p:sp>
        <p:nvSpPr>
          <p:cNvPr id="2" name="text-0076">
            <a:extLst>
              <a:ext uri="{FF2B5EF4-FFF2-40B4-BE49-F238E27FC236}">
                <a16:creationId xmlns:a16="http://schemas.microsoft.com/office/drawing/2014/main" id="{17F169DC-1DB6-460E-B7E9-3CB985442D4A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电源线必须写清来源、目标、电压和验证状态</a:t>
            </a:r>
          </a:p>
        </p:txBody>
      </p:sp>
      <p:sp>
        <p:nvSpPr>
          <p:cNvPr id="3" name="shape-0077">
            <a:extLst>
              <a:ext uri="{FF2B5EF4-FFF2-40B4-BE49-F238E27FC236}">
                <a16:creationId xmlns:a16="http://schemas.microsoft.com/office/drawing/2014/main" id="{BAF59583-7F2E-4E1B-8260-EFFEE6A8E7E3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078">
            <a:extLst>
              <a:ext uri="{FF2B5EF4-FFF2-40B4-BE49-F238E27FC236}">
                <a16:creationId xmlns:a16="http://schemas.microsoft.com/office/drawing/2014/main" id="{3092A5E2-BB64-4F79-9193-531CDF0AD0B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03 无人机组装</a:t>
            </a:r>
          </a:p>
        </p:txBody>
      </p:sp>
      <p:sp>
        <p:nvSpPr>
          <p:cNvPr id="5" name="text-0079">
            <a:extLst>
              <a:ext uri="{FF2B5EF4-FFF2-40B4-BE49-F238E27FC236}">
                <a16:creationId xmlns:a16="http://schemas.microsoft.com/office/drawing/2014/main" id="{D81FD68A-60B5-4D74-A3D5-0B23FE1680F2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text-0080">
            <a:extLst>
              <a:ext uri="{FF2B5EF4-FFF2-40B4-BE49-F238E27FC236}">
                <a16:creationId xmlns:a16="http://schemas.microsoft.com/office/drawing/2014/main" id="{A944FAEC-252C-4779-9DD4-EB61F5C27A3D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不要只写“接 5V”；每一行都要能由第二人按实机复核。</a:t>
            </a:r>
          </a:p>
        </p:txBody>
      </p:sp>
      <p:graphicFrame>
        <p:nvGraphicFramePr>
          <p:cNvPr id="16" name="表格 13"/>
          <p:cNvGraphicFramePr/>
          <p:nvPr/>
        </p:nvGraphicFramePr>
        <p:xfrm>
          <a:off x="685800" y="1847850"/>
          <a:ext cx="10820400" cy="4000500"/>
        </p:xfrm>
        <a:graphic>
          <a:graphicData uri="http://schemas.openxmlformats.org/drawingml/2006/table">
            <a:tbl>
              <a:tblPr firstRow="1"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4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 → 目标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电压 / 引脚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标签 / 验证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PWR-01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动力电池 → 电源分配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 / 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 / 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PWR-02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电源分配 → 飞控电源模块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 / 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 / 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PWR-03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电源分配 / DC-DC → RK3588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 / 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 / 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PWR-04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舵机电源 / BEC → payload 1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 / 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 / 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PWR-05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舵机电源 / BEC → payload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 / 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 / 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扩展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电机 / 电调 / GPS / 风扇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按实机增加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逐根登记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3248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075">
            <a:extLst>
              <a:ext uri="{FF2B5EF4-FFF2-40B4-BE49-F238E27FC236}">
                <a16:creationId xmlns:a16="http://schemas.microsoft.com/office/drawing/2014/main" id="{1E1C1F65-53CB-46D7-BF95-7B2B0B265A7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接线总表 / 信号</a:t>
            </a:r>
          </a:p>
        </p:txBody>
      </p:sp>
      <p:sp>
        <p:nvSpPr>
          <p:cNvPr id="2" name="text-0076">
            <a:extLst>
              <a:ext uri="{FF2B5EF4-FFF2-40B4-BE49-F238E27FC236}">
                <a16:creationId xmlns:a16="http://schemas.microsoft.com/office/drawing/2014/main" id="{17F169DC-1DB6-460E-B7E9-3CB985442D4A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MAVLink、相机、舵机和 RC 也要逐根登记</a:t>
            </a:r>
          </a:p>
        </p:txBody>
      </p:sp>
      <p:sp>
        <p:nvSpPr>
          <p:cNvPr id="3" name="shape-0077">
            <a:extLst>
              <a:ext uri="{FF2B5EF4-FFF2-40B4-BE49-F238E27FC236}">
                <a16:creationId xmlns:a16="http://schemas.microsoft.com/office/drawing/2014/main" id="{BAF59583-7F2E-4E1B-8260-EFFEE6A8E7E3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078">
            <a:extLst>
              <a:ext uri="{FF2B5EF4-FFF2-40B4-BE49-F238E27FC236}">
                <a16:creationId xmlns:a16="http://schemas.microsoft.com/office/drawing/2014/main" id="{3092A5E2-BB64-4F79-9193-531CDF0AD0B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03 无人机组装</a:t>
            </a:r>
          </a:p>
        </p:txBody>
      </p:sp>
      <p:sp>
        <p:nvSpPr>
          <p:cNvPr id="5" name="text-0079">
            <a:extLst>
              <a:ext uri="{FF2B5EF4-FFF2-40B4-BE49-F238E27FC236}">
                <a16:creationId xmlns:a16="http://schemas.microsoft.com/office/drawing/2014/main" id="{D81FD68A-60B5-4D74-A3D5-0B23FE1680F2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text-0080">
            <a:extLst>
              <a:ext uri="{FF2B5EF4-FFF2-40B4-BE49-F238E27FC236}">
                <a16:creationId xmlns:a16="http://schemas.microsoft.com/office/drawing/2014/main" id="{A944FAEC-252C-4779-9DD4-EB61F5C27A3D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SERVO 行必须区分飞控输出编号、PWM / GND 和舵机独立供电。</a:t>
            </a:r>
          </a:p>
        </p:txBody>
      </p:sp>
      <p:graphicFrame>
        <p:nvGraphicFramePr>
          <p:cNvPr id="16" name="表格 13"/>
          <p:cNvGraphicFramePr/>
          <p:nvPr/>
        </p:nvGraphicFramePr>
        <p:xfrm>
          <a:off x="685800" y="1847850"/>
          <a:ext cx="10820400" cy="4000500"/>
        </p:xfrm>
        <a:graphic>
          <a:graphicData uri="http://schemas.openxmlformats.org/drawingml/2006/table">
            <a:tbl>
              <a:tblPr firstRow="1"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4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 → 目标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 / 电平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标签 / 验证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飞控 → RK3588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Ethernet / UART 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端口 / 参数 / 验证待确认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CAM-01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下视相机 → RK3588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USB / CSI 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 / 标签 / 验证待确认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SERVO-01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飞控 SERVO → payload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PWM / GND / 电源待确认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输出编号 / 验证待确认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SERVO-02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飞控 SERVO → payload 2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PWM / GND / 电源待确认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输出编号 / 验证待确认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RC-01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RC 接收机 → 飞控 RC 输入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 / 电平待确认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标签 / 验证待确认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扩展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GPS / 罗盘 / 测距 / 网络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按实机增加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逐根登记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3248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-0007">
            <a:extLst>
              <a:ext uri="{FF2B5EF4-FFF2-40B4-BE49-F238E27FC236}">
                <a16:creationId xmlns:a16="http://schemas.microsoft.com/office/drawing/2014/main" id="{DD1C9856-0378-4E4E-87E0-0EB95437D03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MAVLink 记录</a:t>
            </a:r>
          </a:p>
        </p:txBody>
      </p:sp>
      <p:sp>
        <p:nvSpPr>
          <p:cNvPr id="2" name="text-0008">
            <a:extLst>
              <a:ext uri="{FF2B5EF4-FFF2-40B4-BE49-F238E27FC236}">
                <a16:creationId xmlns:a16="http://schemas.microsoft.com/office/drawing/2014/main" id="{B54E9B9B-206A-4A69-BB94-079369856726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UART 和 Ethernet/UDP 都必须写到“可复核”</a:t>
            </a:r>
          </a:p>
        </p:txBody>
      </p:sp>
      <p:sp>
        <p:nvSpPr>
          <p:cNvPr id="3" name="shape-0009">
            <a:extLst>
              <a:ext uri="{FF2B5EF4-FFF2-40B4-BE49-F238E27FC236}">
                <a16:creationId xmlns:a16="http://schemas.microsoft.com/office/drawing/2014/main" id="{C7D14521-4540-433A-98F0-058A4950F8AD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010">
            <a:extLst>
              <a:ext uri="{FF2B5EF4-FFF2-40B4-BE49-F238E27FC236}">
                <a16:creationId xmlns:a16="http://schemas.microsoft.com/office/drawing/2014/main" id="{8CD465E1-1FFC-4356-A964-72A84C2C0DD7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03 无人机组装</a:t>
            </a:r>
          </a:p>
        </p:txBody>
      </p:sp>
      <p:sp>
        <p:nvSpPr>
          <p:cNvPr id="5" name="text-0011">
            <a:extLst>
              <a:ext uri="{FF2B5EF4-FFF2-40B4-BE49-F238E27FC236}">
                <a16:creationId xmlns:a16="http://schemas.microsoft.com/office/drawing/2014/main" id="{94937174-F92B-4031-B8EE-CFFE39978842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text-0012">
            <a:extLst>
              <a:ext uri="{FF2B5EF4-FFF2-40B4-BE49-F238E27FC236}">
                <a16:creationId xmlns:a16="http://schemas.microsoft.com/office/drawing/2014/main" id="{F31FB618-5CA8-4648-BC99-477431EA4072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1143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6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7" name="text-0013">
            <a:extLst>
              <a:ext uri="{FF2B5EF4-FFF2-40B4-BE49-F238E27FC236}">
                <a16:creationId xmlns:a16="http://schemas.microsoft.com/office/drawing/2014/main" id="{F47F98F3-41D7-438A-9181-1410042DE527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8" name="text-0014">
            <a:extLst>
              <a:ext uri="{FF2B5EF4-FFF2-40B4-BE49-F238E27FC236}">
                <a16:creationId xmlns:a16="http://schemas.microsoft.com/office/drawing/2014/main" id="{2B089F06-FDFC-4149-A9D2-E19058AA062B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44767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飞控串口名称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RK3588 设备路径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波特率与逻辑电平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TX → RX / RX ← TX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信号 GND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是否含电源线</a:t>
            </a:r>
          </a:p>
        </p:txBody>
      </p:sp>
      <p:sp>
        <p:nvSpPr>
          <p:cNvPr id="9" name="text-0015">
            <a:extLst>
              <a:ext uri="{FF2B5EF4-FFF2-40B4-BE49-F238E27FC236}">
                <a16:creationId xmlns:a16="http://schemas.microsoft.com/office/drawing/2014/main" id="{115CF58D-43C8-435B-BA0B-17C151CC79B5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TX ↔ RX + GND</a:t>
            </a:r>
          </a:p>
        </p:txBody>
      </p:sp>
      <p:sp>
        <p:nvSpPr>
          <p:cNvPr id="10" name="text-0016">
            <a:extLst>
              <a:ext uri="{FF2B5EF4-FFF2-40B4-BE49-F238E27FC236}">
                <a16:creationId xmlns:a16="http://schemas.microsoft.com/office/drawing/2014/main" id="{390BBD4D-B01A-4C87-A735-34C3B8F6E4AD}"/>
              </a:ext>
            </a:extLst>
          </p:cNvPr>
          <p:cNvSpPr>
            <a:spLocks noGrp="1"/>
          </p:cNvSpPr>
          <p:nvPr/>
        </p:nvSpPr>
        <p:spPr>
          <a:xfrm>
            <a:off x="685800" y="5362575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不确定电源针脚时不要连接</a:t>
            </a:r>
          </a:p>
        </p:txBody>
      </p:sp>
      <p:sp>
        <p:nvSpPr>
          <p:cNvPr id="11" name="shape-0017">
            <a:extLst>
              <a:ext uri="{FF2B5EF4-FFF2-40B4-BE49-F238E27FC236}">
                <a16:creationId xmlns:a16="http://schemas.microsoft.com/office/drawing/2014/main" id="{F2B24EAF-12BE-4A3C-9C6C-F075E2C04E08}"/>
              </a:ext>
            </a:extLst>
          </p:cNvPr>
          <p:cNvSpPr>
            <a:spLocks noGrp="1"/>
          </p:cNvSpPr>
          <p:nvPr/>
        </p:nvSpPr>
        <p:spPr>
          <a:xfrm>
            <a:off x="5924550" y="1752600"/>
            <a:ext cx="19050" cy="40005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text-0018">
            <a:extLst>
              <a:ext uri="{FF2B5EF4-FFF2-40B4-BE49-F238E27FC236}">
                <a16:creationId xmlns:a16="http://schemas.microsoft.com/office/drawing/2014/main" id="{7C78EF4A-A8A5-473C-B9B6-E14DCC541F7A}"/>
              </a:ext>
            </a:extLst>
          </p:cNvPr>
          <p:cNvSpPr>
            <a:spLocks noGrp="1"/>
          </p:cNvSpPr>
          <p:nvPr/>
        </p:nvSpPr>
        <p:spPr>
          <a:xfrm>
            <a:off x="6400800" y="1762125"/>
            <a:ext cx="1143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6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3" name="text-0019">
            <a:extLst>
              <a:ext uri="{FF2B5EF4-FFF2-40B4-BE49-F238E27FC236}">
                <a16:creationId xmlns:a16="http://schemas.microsoft.com/office/drawing/2014/main" id="{E3C8A18B-E17C-4BF5-9173-A3078B37C93D}"/>
              </a:ext>
            </a:extLst>
          </p:cNvPr>
          <p:cNvSpPr>
            <a:spLocks noGrp="1"/>
          </p:cNvSpPr>
          <p:nvPr/>
        </p:nvSpPr>
        <p:spPr>
          <a:xfrm>
            <a:off x="6400800" y="28956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Ethernet / UDP</a:t>
            </a:r>
          </a:p>
        </p:txBody>
      </p:sp>
      <p:sp>
        <p:nvSpPr>
          <p:cNvPr id="14" name="text-0020">
            <a:extLst>
              <a:ext uri="{FF2B5EF4-FFF2-40B4-BE49-F238E27FC236}">
                <a16:creationId xmlns:a16="http://schemas.microsoft.com/office/drawing/2014/main" id="{8D968110-998F-4C09-A940-82434CA0C6ED}"/>
              </a:ext>
            </a:extLst>
          </p:cNvPr>
          <p:cNvSpPr>
            <a:spLocks noGrp="1"/>
          </p:cNvSpPr>
          <p:nvPr/>
        </p:nvSpPr>
        <p:spPr>
          <a:xfrm>
            <a:off x="6400800" y="3429000"/>
            <a:ext cx="4762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飞控 / 网络模块 IP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RK3588 IP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UDP 方向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中间网络设备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断链恢复方式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台架恢复验证</a:t>
            </a:r>
          </a:p>
        </p:txBody>
      </p:sp>
      <p:sp>
        <p:nvSpPr>
          <p:cNvPr id="15" name="text-0021">
            <a:extLst>
              <a:ext uri="{FF2B5EF4-FFF2-40B4-BE49-F238E27FC236}">
                <a16:creationId xmlns:a16="http://schemas.microsoft.com/office/drawing/2014/main" id="{DEFDF143-B9E7-4846-9651-75D88CD5C822}"/>
              </a:ext>
            </a:extLst>
          </p:cNvPr>
          <p:cNvSpPr>
            <a:spLocks noGrp="1"/>
          </p:cNvSpPr>
          <p:nvPr/>
        </p:nvSpPr>
        <p:spPr>
          <a:xfrm>
            <a:off x="6400800" y="47625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0.0.0.0:15001</a:t>
            </a:r>
          </a:p>
        </p:txBody>
      </p:sp>
      <p:sp>
        <p:nvSpPr>
          <p:cNvPr id="16" name="text-0022">
            <a:extLst>
              <a:ext uri="{FF2B5EF4-FFF2-40B4-BE49-F238E27FC236}">
                <a16:creationId xmlns:a16="http://schemas.microsoft.com/office/drawing/2014/main" id="{6C3DC2B0-7D33-40BF-94D9-029328B42DF0}"/>
              </a:ext>
            </a:extLst>
          </p:cNvPr>
          <p:cNvSpPr>
            <a:spLocks noGrp="1"/>
          </p:cNvSpPr>
          <p:nvPr/>
        </p:nvSpPr>
        <p:spPr>
          <a:xfrm>
            <a:off x="6400800" y="536257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仅是当前软件默认监听，不代表飞控已向此端口发送</a:t>
            </a:r>
          </a:p>
        </p:txBody>
      </p:sp>
    </p:spTree>
    <p:extLst>
      <p:ext uri="{BB962C8B-B14F-4D97-AF65-F5344CB8AC3E}">
        <p14:creationId xmlns:p14="http://schemas.microsoft.com/office/powerpoint/2010/main" val="848799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087">
            <a:extLst>
              <a:ext uri="{FF2B5EF4-FFF2-40B4-BE49-F238E27FC236}">
                <a16:creationId xmlns:a16="http://schemas.microsoft.com/office/drawing/2014/main" id="{4C190768-A5FC-493A-B567-13660F8300A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供电预算 / 设备</a:t>
            </a:r>
          </a:p>
        </p:txBody>
      </p:sp>
      <p:sp>
        <p:nvSpPr>
          <p:cNvPr id="2" name="text-0088">
            <a:extLst>
              <a:ext uri="{FF2B5EF4-FFF2-40B4-BE49-F238E27FC236}">
                <a16:creationId xmlns:a16="http://schemas.microsoft.com/office/drawing/2014/main" id="{88F36349-FD9C-4B6D-AD4E-726CD8EBCDF7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输入范围、电流和实测电压必须来自说明书或测量</a:t>
            </a:r>
          </a:p>
        </p:txBody>
      </p:sp>
      <p:sp>
        <p:nvSpPr>
          <p:cNvPr id="3" name="shape-0089">
            <a:extLst>
              <a:ext uri="{FF2B5EF4-FFF2-40B4-BE49-F238E27FC236}">
                <a16:creationId xmlns:a16="http://schemas.microsoft.com/office/drawing/2014/main" id="{94326F56-C394-42FF-A14D-9FF19A77B95F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090">
            <a:extLst>
              <a:ext uri="{FF2B5EF4-FFF2-40B4-BE49-F238E27FC236}">
                <a16:creationId xmlns:a16="http://schemas.microsoft.com/office/drawing/2014/main" id="{16DC1650-35C4-46F3-866C-A57A2BF4018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03 无人机组装</a:t>
            </a:r>
          </a:p>
        </p:txBody>
      </p:sp>
      <p:sp>
        <p:nvSpPr>
          <p:cNvPr id="5" name="text-0091">
            <a:extLst>
              <a:ext uri="{FF2B5EF4-FFF2-40B4-BE49-F238E27FC236}">
                <a16:creationId xmlns:a16="http://schemas.microsoft.com/office/drawing/2014/main" id="{EA658928-C93E-401B-86F2-E4F52574BB15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text-0092">
            <a:extLst>
              <a:ext uri="{FF2B5EF4-FFF2-40B4-BE49-F238E27FC236}">
                <a16:creationId xmlns:a16="http://schemas.microsoft.com/office/drawing/2014/main" id="{90C378B4-58B2-44D9-8A5E-C8A61B12B73C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每个设备都需要填写允许输入、典型和峰值电流、电源来源、线缆或保险以及实测状态。</a:t>
            </a:r>
          </a:p>
        </p:txBody>
      </p:sp>
      <p:graphicFrame>
        <p:nvGraphicFramePr>
          <p:cNvPr id="16" name="表格 13"/>
          <p:cNvGraphicFramePr/>
          <p:nvPr/>
        </p:nvGraphicFramePr>
        <p:xfrm>
          <a:off x="685800" y="1847850"/>
          <a:ext cx="10820400" cy="4000500"/>
        </p:xfrm>
        <a:graphic>
          <a:graphicData uri="http://schemas.openxmlformats.org/drawingml/2006/table">
            <a:tbl>
              <a:tblPr firstRow="1"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2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/ 电流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电源来源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 / 状态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飞控 / 电源模块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 / 典型 / 峰值待确认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电压 / 状态待确认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RK3588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 / 典型 / 峰值待确认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 DC-DC 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电压 / 状态待确认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RK3588 风扇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 / 电流待确认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电压 / 温度待确认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下视相机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 / 电流待确认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USB / 独立待确认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电压 / 状态待确认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网络模块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 / 电流待确认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电压 / 状态待确认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GPS / 罗盘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 / 电流待确认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飞控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电压 / 状态待确认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160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087">
            <a:extLst>
              <a:ext uri="{FF2B5EF4-FFF2-40B4-BE49-F238E27FC236}">
                <a16:creationId xmlns:a16="http://schemas.microsoft.com/office/drawing/2014/main" id="{4C190768-A5FC-493A-B567-13660F8300A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供电预算 / DC-DC</a:t>
            </a:r>
          </a:p>
        </p:txBody>
      </p:sp>
      <p:sp>
        <p:nvSpPr>
          <p:cNvPr id="2" name="text-0088">
            <a:extLst>
              <a:ext uri="{FF2B5EF4-FFF2-40B4-BE49-F238E27FC236}">
                <a16:creationId xmlns:a16="http://schemas.microsoft.com/office/drawing/2014/main" id="{88F36349-FD9C-4B6D-AD4E-726CD8EBCDF7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舵机与 DC-DC 要覆盖峰值、启动和满载工况</a:t>
            </a:r>
          </a:p>
        </p:txBody>
      </p:sp>
      <p:sp>
        <p:nvSpPr>
          <p:cNvPr id="3" name="shape-0089">
            <a:extLst>
              <a:ext uri="{FF2B5EF4-FFF2-40B4-BE49-F238E27FC236}">
                <a16:creationId xmlns:a16="http://schemas.microsoft.com/office/drawing/2014/main" id="{94326F56-C394-42FF-A14D-9FF19A77B95F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090">
            <a:extLst>
              <a:ext uri="{FF2B5EF4-FFF2-40B4-BE49-F238E27FC236}">
                <a16:creationId xmlns:a16="http://schemas.microsoft.com/office/drawing/2014/main" id="{16DC1650-35C4-46F3-866C-A57A2BF4018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03 无人机组装</a:t>
            </a:r>
          </a:p>
        </p:txBody>
      </p:sp>
      <p:sp>
        <p:nvSpPr>
          <p:cNvPr id="5" name="text-0091">
            <a:extLst>
              <a:ext uri="{FF2B5EF4-FFF2-40B4-BE49-F238E27FC236}">
                <a16:creationId xmlns:a16="http://schemas.microsoft.com/office/drawing/2014/main" id="{EA658928-C93E-401B-86F2-E4F52574BB15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text-0092">
            <a:extLst>
              <a:ext uri="{FF2B5EF4-FFF2-40B4-BE49-F238E27FC236}">
                <a16:creationId xmlns:a16="http://schemas.microsoft.com/office/drawing/2014/main" id="{90C378B4-58B2-44D9-8A5E-C8A61B12B73C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重点记录舵机堵转风险、DC-DC 输入范围、空载输出和 RK3588 启动及视觉满载工况。</a:t>
            </a:r>
          </a:p>
        </p:txBody>
      </p:sp>
      <p:graphicFrame>
        <p:nvGraphicFramePr>
          <p:cNvPr id="16" name="表格 13"/>
          <p:cNvGraphicFramePr/>
          <p:nvPr/>
        </p:nvGraphicFramePr>
        <p:xfrm>
          <a:off x="685800" y="1847850"/>
          <a:ext cx="10820400" cy="4000500"/>
        </p:xfrm>
        <a:graphic>
          <a:graphicData uri="http://schemas.openxmlformats.org/drawingml/2006/table">
            <a:tbl>
              <a:tblPr firstRow="1"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2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 / 工况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 / 电流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电源 / 保护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 / 状态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payload 1 舵机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允许电压 / 堵转电流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BEC 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压降 / 温度待确认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payload 2 舵机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允许电压 / 堵转电流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BEC 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压降 / 温度待确认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DC-DC 输入范围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必须覆盖电池满电电压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型号待确认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DC-DC 设置输出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 / 连续 / 峰值待确认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保护能力待确认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DC-DC 空载输出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先测电压与极性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限流 / 保险待确认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RK3588 启动 / 满载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最低电压 / 峰值工况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YOLO + 录像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电压 / 温度待确认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160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-0023">
            <a:extLst>
              <a:ext uri="{FF2B5EF4-FFF2-40B4-BE49-F238E27FC236}">
                <a16:creationId xmlns:a16="http://schemas.microsoft.com/office/drawing/2014/main" id="{6BB59B33-2948-422F-9E12-90EAE56D2DF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电气集成</a:t>
            </a:r>
          </a:p>
        </p:txBody>
      </p:sp>
      <p:sp>
        <p:nvSpPr>
          <p:cNvPr id="2" name="text-0024">
            <a:extLst>
              <a:ext uri="{FF2B5EF4-FFF2-40B4-BE49-F238E27FC236}">
                <a16:creationId xmlns:a16="http://schemas.microsoft.com/office/drawing/2014/main" id="{8895FB4A-CBA2-4582-8536-A4D7289B5DB4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只认说明书与实测，不认经验猜测</a:t>
            </a:r>
          </a:p>
        </p:txBody>
      </p:sp>
      <p:sp>
        <p:nvSpPr>
          <p:cNvPr id="3" name="shape-0025">
            <a:extLst>
              <a:ext uri="{FF2B5EF4-FFF2-40B4-BE49-F238E27FC236}">
                <a16:creationId xmlns:a16="http://schemas.microsoft.com/office/drawing/2014/main" id="{393F2391-B542-4E3D-B03C-4AC36A584078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026">
            <a:extLst>
              <a:ext uri="{FF2B5EF4-FFF2-40B4-BE49-F238E27FC236}">
                <a16:creationId xmlns:a16="http://schemas.microsoft.com/office/drawing/2014/main" id="{BA614A08-5314-4E7A-ABB2-7827E084B552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03 无人机组装</a:t>
            </a:r>
          </a:p>
        </p:txBody>
      </p:sp>
      <p:sp>
        <p:nvSpPr>
          <p:cNvPr id="5" name="text-0027">
            <a:extLst>
              <a:ext uri="{FF2B5EF4-FFF2-40B4-BE49-F238E27FC236}">
                <a16:creationId xmlns:a16="http://schemas.microsoft.com/office/drawing/2014/main" id="{4D183B89-D856-4642-B20C-198283998525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shape-0028">
            <a:extLst>
              <a:ext uri="{FF2B5EF4-FFF2-40B4-BE49-F238E27FC236}">
                <a16:creationId xmlns:a16="http://schemas.microsoft.com/office/drawing/2014/main" id="{1C0815B1-E0C2-4EDF-AB6D-EC373578BFD8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4095750" cy="381000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7" name="text-0029">
            <a:extLst>
              <a:ext uri="{FF2B5EF4-FFF2-40B4-BE49-F238E27FC236}">
                <a16:creationId xmlns:a16="http://schemas.microsoft.com/office/drawing/2014/main" id="{7B6689FC-B5F3-4A87-8E57-F6E2FE4EBF1D}"/>
              </a:ext>
            </a:extLst>
          </p:cNvPr>
          <p:cNvSpPr>
            <a:spLocks noGrp="1"/>
          </p:cNvSpPr>
          <p:nvPr/>
        </p:nvSpPr>
        <p:spPr>
          <a:xfrm>
            <a:off x="990600" y="2286000"/>
            <a:ext cx="348615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不猜</a:t>
            </a:r>
          </a:p>
          <a:p>
            <a:pPr algn="ctr">
              <a:buNone/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不并</a:t>
            </a:r>
          </a:p>
          <a:p>
            <a:pPr algn="ctr">
              <a:buNone/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不断地</a:t>
            </a:r>
          </a:p>
        </p:txBody>
      </p:sp>
      <p:sp>
        <p:nvSpPr>
          <p:cNvPr id="8" name="text-0030">
            <a:extLst>
              <a:ext uri="{FF2B5EF4-FFF2-40B4-BE49-F238E27FC236}">
                <a16:creationId xmlns:a16="http://schemas.microsoft.com/office/drawing/2014/main" id="{6C5A79A0-6AF9-4692-A4AE-9282952E9E39}"/>
              </a:ext>
            </a:extLst>
          </p:cNvPr>
          <p:cNvSpPr>
            <a:spLocks noGrp="1"/>
          </p:cNvSpPr>
          <p:nvPr/>
        </p:nvSpPr>
        <p:spPr>
          <a:xfrm>
            <a:off x="990600" y="4953000"/>
            <a:ext cx="3486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三条硬门禁</a:t>
            </a:r>
          </a:p>
        </p:txBody>
      </p:sp>
      <p:sp>
        <p:nvSpPr>
          <p:cNvPr id="9" name="text-0031">
            <a:extLst>
              <a:ext uri="{FF2B5EF4-FFF2-40B4-BE49-F238E27FC236}">
                <a16:creationId xmlns:a16="http://schemas.microsoft.com/office/drawing/2014/main" id="{4B670FEE-0A85-4346-BA82-16CE4DC6E684}"/>
              </a:ext>
            </a:extLst>
          </p:cNvPr>
          <p:cNvSpPr>
            <a:spLocks noGrp="1"/>
          </p:cNvSpPr>
          <p:nvPr/>
        </p:nvSpPr>
        <p:spPr>
          <a:xfrm>
            <a:off x="5353050" y="18097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-0032">
            <a:extLst>
              <a:ext uri="{FF2B5EF4-FFF2-40B4-BE49-F238E27FC236}">
                <a16:creationId xmlns:a16="http://schemas.microsoft.com/office/drawing/2014/main" id="{23413D25-F3CE-43DF-81DD-864967C3A2D9}"/>
              </a:ext>
            </a:extLst>
          </p:cNvPr>
          <p:cNvSpPr>
            <a:spLocks noGrp="1"/>
          </p:cNvSpPr>
          <p:nvPr/>
        </p:nvSpPr>
        <p:spPr>
          <a:xfrm>
            <a:off x="5962650" y="1809750"/>
            <a:ext cx="529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线色不能代替极性测量</a:t>
            </a:r>
          </a:p>
        </p:txBody>
      </p:sp>
      <p:sp>
        <p:nvSpPr>
          <p:cNvPr id="11" name="text-0033">
            <a:extLst>
              <a:ext uri="{FF2B5EF4-FFF2-40B4-BE49-F238E27FC236}">
                <a16:creationId xmlns:a16="http://schemas.microsoft.com/office/drawing/2014/main" id="{2DE4AB5F-7415-4E79-98E0-303468CA60DA}"/>
              </a:ext>
            </a:extLst>
          </p:cNvPr>
          <p:cNvSpPr>
            <a:spLocks noGrp="1"/>
          </p:cNvSpPr>
          <p:nvPr/>
        </p:nvSpPr>
        <p:spPr>
          <a:xfrm>
            <a:off x="5962650" y="2152650"/>
            <a:ext cx="529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电压、极性、接口均查说明书并用万用表确认。</a:t>
            </a:r>
          </a:p>
        </p:txBody>
      </p:sp>
      <p:sp>
        <p:nvSpPr>
          <p:cNvPr id="12" name="text-0034">
            <a:extLst>
              <a:ext uri="{FF2B5EF4-FFF2-40B4-BE49-F238E27FC236}">
                <a16:creationId xmlns:a16="http://schemas.microsoft.com/office/drawing/2014/main" id="{B4652DEE-EE36-4570-9D10-7DAF6BABF3BB}"/>
              </a:ext>
            </a:extLst>
          </p:cNvPr>
          <p:cNvSpPr>
            <a:spLocks noGrp="1"/>
          </p:cNvSpPr>
          <p:nvPr/>
        </p:nvSpPr>
        <p:spPr>
          <a:xfrm>
            <a:off x="5353050" y="274320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-0035">
            <a:extLst>
              <a:ext uri="{FF2B5EF4-FFF2-40B4-BE49-F238E27FC236}">
                <a16:creationId xmlns:a16="http://schemas.microsoft.com/office/drawing/2014/main" id="{72DA7459-8D28-4B93-81B9-88321A61968A}"/>
              </a:ext>
            </a:extLst>
          </p:cNvPr>
          <p:cNvSpPr>
            <a:spLocks noGrp="1"/>
          </p:cNvSpPr>
          <p:nvPr/>
        </p:nvSpPr>
        <p:spPr>
          <a:xfrm>
            <a:off x="5962650" y="2743200"/>
            <a:ext cx="529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两路稳压输出不能直接并联</a:t>
            </a:r>
          </a:p>
        </p:txBody>
      </p:sp>
      <p:sp>
        <p:nvSpPr>
          <p:cNvPr id="14" name="text-0036">
            <a:extLst>
              <a:ext uri="{FF2B5EF4-FFF2-40B4-BE49-F238E27FC236}">
                <a16:creationId xmlns:a16="http://schemas.microsoft.com/office/drawing/2014/main" id="{7CBB6333-6295-43FB-935C-AAE20F872AD2}"/>
              </a:ext>
            </a:extLst>
          </p:cNvPr>
          <p:cNvSpPr>
            <a:spLocks noGrp="1"/>
          </p:cNvSpPr>
          <p:nvPr/>
        </p:nvSpPr>
        <p:spPr>
          <a:xfrm>
            <a:off x="5962650" y="3086100"/>
            <a:ext cx="529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先确认电源架构、隔离和反灌风险。</a:t>
            </a:r>
          </a:p>
        </p:txBody>
      </p:sp>
      <p:sp>
        <p:nvSpPr>
          <p:cNvPr id="15" name="text-0037">
            <a:extLst>
              <a:ext uri="{FF2B5EF4-FFF2-40B4-BE49-F238E27FC236}">
                <a16:creationId xmlns:a16="http://schemas.microsoft.com/office/drawing/2014/main" id="{B399BF77-656A-494F-AAAC-A968B5670720}"/>
              </a:ext>
            </a:extLst>
          </p:cNvPr>
          <p:cNvSpPr>
            <a:spLocks noGrp="1"/>
          </p:cNvSpPr>
          <p:nvPr/>
        </p:nvSpPr>
        <p:spPr>
          <a:xfrm>
            <a:off x="5353050" y="36766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ext-0038">
            <a:extLst>
              <a:ext uri="{FF2B5EF4-FFF2-40B4-BE49-F238E27FC236}">
                <a16:creationId xmlns:a16="http://schemas.microsoft.com/office/drawing/2014/main" id="{D55A2A07-440A-44DD-9787-C2D693205173}"/>
              </a:ext>
            </a:extLst>
          </p:cNvPr>
          <p:cNvSpPr>
            <a:spLocks noGrp="1"/>
          </p:cNvSpPr>
          <p:nvPr/>
        </p:nvSpPr>
        <p:spPr>
          <a:xfrm>
            <a:off x="5962650" y="3676650"/>
            <a:ext cx="529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不明隔离结构时，不断开参考地</a:t>
            </a:r>
          </a:p>
        </p:txBody>
      </p:sp>
      <p:sp>
        <p:nvSpPr>
          <p:cNvPr id="17" name="text-0039">
            <a:extLst>
              <a:ext uri="{FF2B5EF4-FFF2-40B4-BE49-F238E27FC236}">
                <a16:creationId xmlns:a16="http://schemas.microsoft.com/office/drawing/2014/main" id="{9559B512-171E-4F77-90BE-F383233CD799}"/>
              </a:ext>
            </a:extLst>
          </p:cNvPr>
          <p:cNvSpPr>
            <a:spLocks noGrp="1"/>
          </p:cNvSpPr>
          <p:nvPr/>
        </p:nvSpPr>
        <p:spPr>
          <a:xfrm>
            <a:off x="5962650" y="4019550"/>
            <a:ext cx="529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共地与否按实际硬件电气设计确认。</a:t>
            </a:r>
          </a:p>
        </p:txBody>
      </p:sp>
      <p:sp>
        <p:nvSpPr>
          <p:cNvPr id="18" name="text-0040">
            <a:extLst>
              <a:ext uri="{FF2B5EF4-FFF2-40B4-BE49-F238E27FC236}">
                <a16:creationId xmlns:a16="http://schemas.microsoft.com/office/drawing/2014/main" id="{8A66380A-22E4-4941-B799-95404D67A746}"/>
              </a:ext>
            </a:extLst>
          </p:cNvPr>
          <p:cNvSpPr>
            <a:spLocks noGrp="1"/>
          </p:cNvSpPr>
          <p:nvPr/>
        </p:nvSpPr>
        <p:spPr>
          <a:xfrm>
            <a:off x="5353050" y="461010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-0041">
            <a:extLst>
              <a:ext uri="{FF2B5EF4-FFF2-40B4-BE49-F238E27FC236}">
                <a16:creationId xmlns:a16="http://schemas.microsoft.com/office/drawing/2014/main" id="{0058BE8E-00BC-4424-BD2D-DEA951E04525}"/>
              </a:ext>
            </a:extLst>
          </p:cNvPr>
          <p:cNvSpPr>
            <a:spLocks noGrp="1"/>
          </p:cNvSpPr>
          <p:nvPr/>
        </p:nvSpPr>
        <p:spPr>
          <a:xfrm>
            <a:off x="5962650" y="4610100"/>
            <a:ext cx="529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舵机供电与信号分开核对</a:t>
            </a:r>
          </a:p>
        </p:txBody>
      </p:sp>
      <p:sp>
        <p:nvSpPr>
          <p:cNvPr id="20" name="text-0042">
            <a:extLst>
              <a:ext uri="{FF2B5EF4-FFF2-40B4-BE49-F238E27FC236}">
                <a16:creationId xmlns:a16="http://schemas.microsoft.com/office/drawing/2014/main" id="{4B72C559-C190-4FD4-A112-D89A1C65CAC4}"/>
              </a:ext>
            </a:extLst>
          </p:cNvPr>
          <p:cNvSpPr>
            <a:spLocks noGrp="1"/>
          </p:cNvSpPr>
          <p:nvPr/>
        </p:nvSpPr>
        <p:spPr>
          <a:xfrm>
            <a:off x="5962650" y="4953000"/>
            <a:ext cx="529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独立 BEC、共地、飞控 SERVO 信号逐项确认。</a:t>
            </a:r>
          </a:p>
        </p:txBody>
      </p:sp>
      <p:sp>
        <p:nvSpPr>
          <p:cNvPr id="21" name="text-0043">
            <a:extLst>
              <a:ext uri="{FF2B5EF4-FFF2-40B4-BE49-F238E27FC236}">
                <a16:creationId xmlns:a16="http://schemas.microsoft.com/office/drawing/2014/main" id="{4728679B-C93B-40E2-A8B8-52928E20E0A7}"/>
              </a:ext>
            </a:extLst>
          </p:cNvPr>
          <p:cNvSpPr>
            <a:spLocks noGrp="1"/>
          </p:cNvSpPr>
          <p:nvPr/>
        </p:nvSpPr>
        <p:spPr>
          <a:xfrm>
            <a:off x="5353050" y="5657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具体供电数值必须来自硬件说明书或实测；代码与 AI 不能替代电气验证。</a:t>
            </a:r>
          </a:p>
        </p:txBody>
      </p:sp>
    </p:spTree>
    <p:extLst>
      <p:ext uri="{BB962C8B-B14F-4D97-AF65-F5344CB8AC3E}">
        <p14:creationId xmlns:p14="http://schemas.microsoft.com/office/powerpoint/2010/main" val="359808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-0188">
            <a:extLst>
              <a:ext uri="{FF2B5EF4-FFF2-40B4-BE49-F238E27FC236}">
                <a16:creationId xmlns:a16="http://schemas.microsoft.com/office/drawing/2014/main" id="{C80CA00D-E03A-4976-9680-E9DDDD26B62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分阶段通电</a:t>
            </a:r>
          </a:p>
        </p:txBody>
      </p:sp>
      <p:sp>
        <p:nvSpPr>
          <p:cNvPr id="2" name="text-0189">
            <a:extLst>
              <a:ext uri="{FF2B5EF4-FFF2-40B4-BE49-F238E27FC236}">
                <a16:creationId xmlns:a16="http://schemas.microsoft.com/office/drawing/2014/main" id="{3ADB9F3C-C5A3-40A3-8759-16AE78FCDED7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每一步只新增一类设备，并观察电压、电流和温度</a:t>
            </a:r>
          </a:p>
        </p:txBody>
      </p:sp>
      <p:sp>
        <p:nvSpPr>
          <p:cNvPr id="3" name="shape-0190">
            <a:extLst>
              <a:ext uri="{FF2B5EF4-FFF2-40B4-BE49-F238E27FC236}">
                <a16:creationId xmlns:a16="http://schemas.microsoft.com/office/drawing/2014/main" id="{2129EA69-D92C-49EF-95C7-B7143C2A0244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191">
            <a:extLst>
              <a:ext uri="{FF2B5EF4-FFF2-40B4-BE49-F238E27FC236}">
                <a16:creationId xmlns:a16="http://schemas.microsoft.com/office/drawing/2014/main" id="{2F82D8BA-7CE5-4102-884E-58F925A01DB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03 无人机组装</a:t>
            </a:r>
          </a:p>
        </p:txBody>
      </p:sp>
      <p:sp>
        <p:nvSpPr>
          <p:cNvPr id="5" name="text-0192">
            <a:extLst>
              <a:ext uri="{FF2B5EF4-FFF2-40B4-BE49-F238E27FC236}">
                <a16:creationId xmlns:a16="http://schemas.microsoft.com/office/drawing/2014/main" id="{C8F26085-55E5-4F93-9888-7C08DDE6635E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text-0193">
            <a:extLst>
              <a:ext uri="{FF2B5EF4-FFF2-40B4-BE49-F238E27FC236}">
                <a16:creationId xmlns:a16="http://schemas.microsoft.com/office/drawing/2014/main" id="{3676A76A-17E1-4EFE-BF5D-B477E995F6A1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194">
            <a:extLst>
              <a:ext uri="{FF2B5EF4-FFF2-40B4-BE49-F238E27FC236}">
                <a16:creationId xmlns:a16="http://schemas.microsoft.com/office/drawing/2014/main" id="{28CEE24B-D7C9-4730-A1E7-CDABA9EE04F8}"/>
              </a:ext>
            </a:extLst>
          </p:cNvPr>
          <p:cNvSpPr>
            <a:spLocks noGrp="1"/>
          </p:cNvSpPr>
          <p:nvPr/>
        </p:nvSpPr>
        <p:spPr>
          <a:xfrm>
            <a:off x="1295400" y="1676400"/>
            <a:ext cx="4438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主动力和飞控机械接线</a:t>
            </a:r>
          </a:p>
        </p:txBody>
      </p:sp>
      <p:sp>
        <p:nvSpPr>
          <p:cNvPr id="8" name="text-0195">
            <a:extLst>
              <a:ext uri="{FF2B5EF4-FFF2-40B4-BE49-F238E27FC236}">
                <a16:creationId xmlns:a16="http://schemas.microsoft.com/office/drawing/2014/main" id="{376AB46A-67ED-40EC-A544-5E9E0864A6DD}"/>
              </a:ext>
            </a:extLst>
          </p:cNvPr>
          <p:cNvSpPr>
            <a:spLocks noGrp="1"/>
          </p:cNvSpPr>
          <p:nvPr/>
        </p:nvSpPr>
        <p:spPr>
          <a:xfrm>
            <a:off x="1295400" y="201930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此时仍不接动力电池，也不安装螺旋桨。</a:t>
            </a:r>
          </a:p>
        </p:txBody>
      </p:sp>
      <p:sp>
        <p:nvSpPr>
          <p:cNvPr id="9" name="text-0196">
            <a:extLst>
              <a:ext uri="{FF2B5EF4-FFF2-40B4-BE49-F238E27FC236}">
                <a16:creationId xmlns:a16="http://schemas.microsoft.com/office/drawing/2014/main" id="{3845A8B6-F23D-4CD0-A452-A20F9A208305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-0197">
            <a:extLst>
              <a:ext uri="{FF2B5EF4-FFF2-40B4-BE49-F238E27FC236}">
                <a16:creationId xmlns:a16="http://schemas.microsoft.com/office/drawing/2014/main" id="{71EAA490-8399-499E-A12F-C9C02D967112}"/>
              </a:ext>
            </a:extLst>
          </p:cNvPr>
          <p:cNvSpPr>
            <a:spLocks noGrp="1"/>
          </p:cNvSpPr>
          <p:nvPr/>
        </p:nvSpPr>
        <p:spPr>
          <a:xfrm>
            <a:off x="1295400" y="2686050"/>
            <a:ext cx="4438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DC-DC 空载测量</a:t>
            </a:r>
          </a:p>
        </p:txBody>
      </p:sp>
      <p:sp>
        <p:nvSpPr>
          <p:cNvPr id="11" name="text-0198">
            <a:extLst>
              <a:ext uri="{FF2B5EF4-FFF2-40B4-BE49-F238E27FC236}">
                <a16:creationId xmlns:a16="http://schemas.microsoft.com/office/drawing/2014/main" id="{09DE1EAD-1C4D-4AC9-8934-8056218C10E1}"/>
              </a:ext>
            </a:extLst>
          </p:cNvPr>
          <p:cNvSpPr>
            <a:spLocks noGrp="1"/>
          </p:cNvSpPr>
          <p:nvPr/>
        </p:nvSpPr>
        <p:spPr>
          <a:xfrm>
            <a:off x="1295400" y="30289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覆盖满电输入；先确认输出电压和极性。</a:t>
            </a:r>
          </a:p>
        </p:txBody>
      </p:sp>
      <p:sp>
        <p:nvSpPr>
          <p:cNvPr id="12" name="text-0199">
            <a:extLst>
              <a:ext uri="{FF2B5EF4-FFF2-40B4-BE49-F238E27FC236}">
                <a16:creationId xmlns:a16="http://schemas.microsoft.com/office/drawing/2014/main" id="{AA62EAC2-4E7D-4522-B89F-50768236D187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-0200">
            <a:extLst>
              <a:ext uri="{FF2B5EF4-FFF2-40B4-BE49-F238E27FC236}">
                <a16:creationId xmlns:a16="http://schemas.microsoft.com/office/drawing/2014/main" id="{80B1E18E-B857-4D9C-BE53-5C67839CA9CC}"/>
              </a:ext>
            </a:extLst>
          </p:cNvPr>
          <p:cNvSpPr>
            <a:spLocks noGrp="1"/>
          </p:cNvSpPr>
          <p:nvPr/>
        </p:nvSpPr>
        <p:spPr>
          <a:xfrm>
            <a:off x="1295400" y="3695700"/>
            <a:ext cx="4438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RK3588 单独通电</a:t>
            </a:r>
          </a:p>
        </p:txBody>
      </p:sp>
      <p:sp>
        <p:nvSpPr>
          <p:cNvPr id="14" name="text-0201">
            <a:extLst>
              <a:ext uri="{FF2B5EF4-FFF2-40B4-BE49-F238E27FC236}">
                <a16:creationId xmlns:a16="http://schemas.microsoft.com/office/drawing/2014/main" id="{A7EC9044-3A30-4597-AB88-46CF3F10B5C6}"/>
              </a:ext>
            </a:extLst>
          </p:cNvPr>
          <p:cNvSpPr>
            <a:spLocks noGrp="1"/>
          </p:cNvSpPr>
          <p:nvPr/>
        </p:nvSpPr>
        <p:spPr>
          <a:xfrm>
            <a:off x="1295400" y="403860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观察启动、最低电压、温度和反复重启。</a:t>
            </a:r>
          </a:p>
        </p:txBody>
      </p:sp>
      <p:sp>
        <p:nvSpPr>
          <p:cNvPr id="15" name="text-0202">
            <a:extLst>
              <a:ext uri="{FF2B5EF4-FFF2-40B4-BE49-F238E27FC236}">
                <a16:creationId xmlns:a16="http://schemas.microsoft.com/office/drawing/2014/main" id="{A38B0179-9637-45E4-95C8-9F596DCC350D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text-0203">
            <a:extLst>
              <a:ext uri="{FF2B5EF4-FFF2-40B4-BE49-F238E27FC236}">
                <a16:creationId xmlns:a16="http://schemas.microsoft.com/office/drawing/2014/main" id="{06A576AE-7E56-4C92-A131-44D3994ED786}"/>
              </a:ext>
            </a:extLst>
          </p:cNvPr>
          <p:cNvSpPr>
            <a:spLocks noGrp="1"/>
          </p:cNvSpPr>
          <p:nvPr/>
        </p:nvSpPr>
        <p:spPr>
          <a:xfrm>
            <a:off x="1295400" y="4705350"/>
            <a:ext cx="4438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飞控单独通电</a:t>
            </a:r>
          </a:p>
        </p:txBody>
      </p:sp>
      <p:sp>
        <p:nvSpPr>
          <p:cNvPr id="17" name="text-0204">
            <a:extLst>
              <a:ext uri="{FF2B5EF4-FFF2-40B4-BE49-F238E27FC236}">
                <a16:creationId xmlns:a16="http://schemas.microsoft.com/office/drawing/2014/main" id="{D7290035-BAF3-4247-9171-3AED1D976037}"/>
              </a:ext>
            </a:extLst>
          </p:cNvPr>
          <p:cNvSpPr>
            <a:spLocks noGrp="1"/>
          </p:cNvSpPr>
          <p:nvPr/>
        </p:nvSpPr>
        <p:spPr>
          <a:xfrm>
            <a:off x="1295400" y="50482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核对电源模块、姿态方向与接口。</a:t>
            </a:r>
          </a:p>
        </p:txBody>
      </p:sp>
      <p:sp>
        <p:nvSpPr>
          <p:cNvPr id="18" name="shape-0205">
            <a:extLst>
              <a:ext uri="{FF2B5EF4-FFF2-40B4-BE49-F238E27FC236}">
                <a16:creationId xmlns:a16="http://schemas.microsoft.com/office/drawing/2014/main" id="{BDA2C280-62BF-4A73-951D-2EC59E77CA1F}"/>
              </a:ext>
            </a:extLst>
          </p:cNvPr>
          <p:cNvSpPr>
            <a:spLocks noGrp="1"/>
          </p:cNvSpPr>
          <p:nvPr/>
        </p:nvSpPr>
        <p:spPr>
          <a:xfrm>
            <a:off x="5981700" y="1676400"/>
            <a:ext cx="14288" cy="39052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9" name="text-0206">
            <a:extLst>
              <a:ext uri="{FF2B5EF4-FFF2-40B4-BE49-F238E27FC236}">
                <a16:creationId xmlns:a16="http://schemas.microsoft.com/office/drawing/2014/main" id="{C47ED014-F5E0-4076-8905-460EDA3FE0B9}"/>
              </a:ext>
            </a:extLst>
          </p:cNvPr>
          <p:cNvSpPr>
            <a:spLocks noGrp="1"/>
          </p:cNvSpPr>
          <p:nvPr/>
        </p:nvSpPr>
        <p:spPr>
          <a:xfrm>
            <a:off x="6400800" y="19621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0" name="text-0207">
            <a:extLst>
              <a:ext uri="{FF2B5EF4-FFF2-40B4-BE49-F238E27FC236}">
                <a16:creationId xmlns:a16="http://schemas.microsoft.com/office/drawing/2014/main" id="{C3453E7C-B483-444B-BB20-1219DD2A75D8}"/>
              </a:ext>
            </a:extLst>
          </p:cNvPr>
          <p:cNvSpPr>
            <a:spLocks noGrp="1"/>
          </p:cNvSpPr>
          <p:nvPr/>
        </p:nvSpPr>
        <p:spPr>
          <a:xfrm>
            <a:off x="7010400" y="1962150"/>
            <a:ext cx="449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MAVLink 链路</a:t>
            </a:r>
          </a:p>
        </p:txBody>
      </p:sp>
      <p:sp>
        <p:nvSpPr>
          <p:cNvPr id="21" name="text-0208">
            <a:extLst>
              <a:ext uri="{FF2B5EF4-FFF2-40B4-BE49-F238E27FC236}">
                <a16:creationId xmlns:a16="http://schemas.microsoft.com/office/drawing/2014/main" id="{AAB703CD-88CB-402E-9E77-8CA0C2022732}"/>
              </a:ext>
            </a:extLst>
          </p:cNvPr>
          <p:cNvSpPr>
            <a:spLocks noGrp="1"/>
          </p:cNvSpPr>
          <p:nvPr/>
        </p:nvSpPr>
        <p:spPr>
          <a:xfrm>
            <a:off x="7010400" y="2305050"/>
            <a:ext cx="449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只新增链路，确认参数、方向与断链恢复。</a:t>
            </a:r>
          </a:p>
        </p:txBody>
      </p:sp>
      <p:sp>
        <p:nvSpPr>
          <p:cNvPr id="22" name="text-0209">
            <a:extLst>
              <a:ext uri="{FF2B5EF4-FFF2-40B4-BE49-F238E27FC236}">
                <a16:creationId xmlns:a16="http://schemas.microsoft.com/office/drawing/2014/main" id="{EAEE40C4-9369-4595-BD25-7240F5130979}"/>
              </a:ext>
            </a:extLst>
          </p:cNvPr>
          <p:cNvSpPr>
            <a:spLocks noGrp="1"/>
          </p:cNvSpPr>
          <p:nvPr/>
        </p:nvSpPr>
        <p:spPr>
          <a:xfrm>
            <a:off x="6400800" y="33337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3" name="text-0210">
            <a:extLst>
              <a:ext uri="{FF2B5EF4-FFF2-40B4-BE49-F238E27FC236}">
                <a16:creationId xmlns:a16="http://schemas.microsoft.com/office/drawing/2014/main" id="{405C1778-7323-4807-BEDD-370E6BA7DD2C}"/>
              </a:ext>
            </a:extLst>
          </p:cNvPr>
          <p:cNvSpPr>
            <a:spLocks noGrp="1"/>
          </p:cNvSpPr>
          <p:nvPr/>
        </p:nvSpPr>
        <p:spPr>
          <a:xfrm>
            <a:off x="7010400" y="3333750"/>
            <a:ext cx="449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下视相机</a:t>
            </a:r>
          </a:p>
        </p:txBody>
      </p:sp>
      <p:sp>
        <p:nvSpPr>
          <p:cNvPr id="24" name="text-0211">
            <a:extLst>
              <a:ext uri="{FF2B5EF4-FFF2-40B4-BE49-F238E27FC236}">
                <a16:creationId xmlns:a16="http://schemas.microsoft.com/office/drawing/2014/main" id="{3BBB3E29-C6DB-4CA6-B931-1AFA18623F5E}"/>
              </a:ext>
            </a:extLst>
          </p:cNvPr>
          <p:cNvSpPr>
            <a:spLocks noGrp="1"/>
          </p:cNvSpPr>
          <p:nvPr/>
        </p:nvSpPr>
        <p:spPr>
          <a:xfrm>
            <a:off x="7010400" y="3676650"/>
            <a:ext cx="449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核对画面方向、YOLO 输入和失效状态。</a:t>
            </a:r>
          </a:p>
        </p:txBody>
      </p:sp>
      <p:sp>
        <p:nvSpPr>
          <p:cNvPr id="25" name="text-0212">
            <a:extLst>
              <a:ext uri="{FF2B5EF4-FFF2-40B4-BE49-F238E27FC236}">
                <a16:creationId xmlns:a16="http://schemas.microsoft.com/office/drawing/2014/main" id="{0A0E2565-24E8-472A-983F-F8E3E8D24EA9}"/>
              </a:ext>
            </a:extLst>
          </p:cNvPr>
          <p:cNvSpPr>
            <a:spLocks noGrp="1"/>
          </p:cNvSpPr>
          <p:nvPr/>
        </p:nvSpPr>
        <p:spPr>
          <a:xfrm>
            <a:off x="6400800" y="47053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6" name="text-0213">
            <a:extLst>
              <a:ext uri="{FF2B5EF4-FFF2-40B4-BE49-F238E27FC236}">
                <a16:creationId xmlns:a16="http://schemas.microsoft.com/office/drawing/2014/main" id="{9B1CABD9-4545-480F-AE09-EF8489A73826}"/>
              </a:ext>
            </a:extLst>
          </p:cNvPr>
          <p:cNvSpPr>
            <a:spLocks noGrp="1"/>
          </p:cNvSpPr>
          <p:nvPr/>
        </p:nvSpPr>
        <p:spPr>
          <a:xfrm>
            <a:off x="7010400" y="4705350"/>
            <a:ext cx="449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舵机 1 → 舵机 2 → 满载</a:t>
            </a:r>
          </a:p>
        </p:txBody>
      </p:sp>
      <p:sp>
        <p:nvSpPr>
          <p:cNvPr id="27" name="text-0214">
            <a:extLst>
              <a:ext uri="{FF2B5EF4-FFF2-40B4-BE49-F238E27FC236}">
                <a16:creationId xmlns:a16="http://schemas.microsoft.com/office/drawing/2014/main" id="{C64A91F2-00E4-41E0-AED8-4E08B5342506}"/>
              </a:ext>
            </a:extLst>
          </p:cNvPr>
          <p:cNvSpPr>
            <a:spLocks noGrp="1"/>
          </p:cNvSpPr>
          <p:nvPr/>
        </p:nvSpPr>
        <p:spPr>
          <a:xfrm>
            <a:off x="7010400" y="5048250"/>
            <a:ext cx="449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一次只接一路无负载舵机，最后完整系统运行。</a:t>
            </a:r>
          </a:p>
        </p:txBody>
      </p:sp>
    </p:spTree>
    <p:extLst>
      <p:ext uri="{BB962C8B-B14F-4D97-AF65-F5344CB8AC3E}">
        <p14:creationId xmlns:p14="http://schemas.microsoft.com/office/powerpoint/2010/main" val="1229812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-0168">
            <a:extLst>
              <a:ext uri="{FF2B5EF4-FFF2-40B4-BE49-F238E27FC236}">
                <a16:creationId xmlns:a16="http://schemas.microsoft.com/office/drawing/2014/main" id="{4FC1BDF5-112C-47EC-8E85-0A289124991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无桨台架</a:t>
            </a:r>
          </a:p>
        </p:txBody>
      </p:sp>
      <p:sp>
        <p:nvSpPr>
          <p:cNvPr id="2" name="text-0169">
            <a:extLst>
              <a:ext uri="{FF2B5EF4-FFF2-40B4-BE49-F238E27FC236}">
                <a16:creationId xmlns:a16="http://schemas.microsoft.com/office/drawing/2014/main" id="{744F0C0E-DD20-4B84-8A48-AA09F0D9488B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先验证方向和失效处理，再触发任何动作</a:t>
            </a:r>
          </a:p>
        </p:txBody>
      </p:sp>
      <p:sp>
        <p:nvSpPr>
          <p:cNvPr id="3" name="shape-0170">
            <a:extLst>
              <a:ext uri="{FF2B5EF4-FFF2-40B4-BE49-F238E27FC236}">
                <a16:creationId xmlns:a16="http://schemas.microsoft.com/office/drawing/2014/main" id="{EFBBF153-F242-4813-A1AF-EE4CA45CE798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171">
            <a:extLst>
              <a:ext uri="{FF2B5EF4-FFF2-40B4-BE49-F238E27FC236}">
                <a16:creationId xmlns:a16="http://schemas.microsoft.com/office/drawing/2014/main" id="{1D98FAB3-E342-4CE1-9F3B-1184557D27E4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03 无人机组装</a:t>
            </a:r>
          </a:p>
        </p:txBody>
      </p:sp>
      <p:sp>
        <p:nvSpPr>
          <p:cNvPr id="5" name="text-0172">
            <a:extLst>
              <a:ext uri="{FF2B5EF4-FFF2-40B4-BE49-F238E27FC236}">
                <a16:creationId xmlns:a16="http://schemas.microsoft.com/office/drawing/2014/main" id="{40A4D1D8-91B7-4354-9598-8FDF13C54560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text-0173">
            <a:extLst>
              <a:ext uri="{FF2B5EF4-FFF2-40B4-BE49-F238E27FC236}">
                <a16:creationId xmlns:a16="http://schemas.microsoft.com/office/drawing/2014/main" id="{105ECA7F-914C-4D53-964D-9E54417FC5D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174">
            <a:extLst>
              <a:ext uri="{FF2B5EF4-FFF2-40B4-BE49-F238E27FC236}">
                <a16:creationId xmlns:a16="http://schemas.microsoft.com/office/drawing/2014/main" id="{807CE4CB-B68B-4CA2-982D-21ABD3337A64}"/>
              </a:ext>
            </a:extLst>
          </p:cNvPr>
          <p:cNvSpPr>
            <a:spLocks noGrp="1"/>
          </p:cNvSpPr>
          <p:nvPr/>
        </p:nvSpPr>
        <p:spPr>
          <a:xfrm>
            <a:off x="1295400" y="180975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姿态与方向</a:t>
            </a:r>
          </a:p>
        </p:txBody>
      </p:sp>
      <p:sp>
        <p:nvSpPr>
          <p:cNvPr id="8" name="text-0175">
            <a:extLst>
              <a:ext uri="{FF2B5EF4-FFF2-40B4-BE49-F238E27FC236}">
                <a16:creationId xmlns:a16="http://schemas.microsoft.com/office/drawing/2014/main" id="{952C078D-45C0-42F5-ADF0-548DAFBFA212}"/>
              </a:ext>
            </a:extLst>
          </p:cNvPr>
          <p:cNvSpPr>
            <a:spLocks noGrp="1"/>
          </p:cNvSpPr>
          <p:nvPr/>
        </p:nvSpPr>
        <p:spPr>
          <a:xfrm>
            <a:off x="1295400" y="2152650"/>
            <a:ext cx="4343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在地面站或 Web UI 小角度抬起机头、右侧和机尾，核对 roll / pitch / yaw。</a:t>
            </a:r>
          </a:p>
        </p:txBody>
      </p:sp>
      <p:sp>
        <p:nvSpPr>
          <p:cNvPr id="9" name="text-0176">
            <a:extLst>
              <a:ext uri="{FF2B5EF4-FFF2-40B4-BE49-F238E27FC236}">
                <a16:creationId xmlns:a16="http://schemas.microsoft.com/office/drawing/2014/main" id="{7BB43398-BEDF-4A28-8D82-179D931FBBB8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-0177">
            <a:extLst>
              <a:ext uri="{FF2B5EF4-FFF2-40B4-BE49-F238E27FC236}">
                <a16:creationId xmlns:a16="http://schemas.microsoft.com/office/drawing/2014/main" id="{E28AEC4D-82BE-4047-971B-7A89B957D132}"/>
              </a:ext>
            </a:extLst>
          </p:cNvPr>
          <p:cNvSpPr>
            <a:spLocks noGrp="1"/>
          </p:cNvSpPr>
          <p:nvPr/>
        </p:nvSpPr>
        <p:spPr>
          <a:xfrm>
            <a:off x="1295400" y="314325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视觉正方向</a:t>
            </a:r>
          </a:p>
        </p:txBody>
      </p:sp>
      <p:sp>
        <p:nvSpPr>
          <p:cNvPr id="11" name="text-0178">
            <a:extLst>
              <a:ext uri="{FF2B5EF4-FFF2-40B4-BE49-F238E27FC236}">
                <a16:creationId xmlns:a16="http://schemas.microsoft.com/office/drawing/2014/main" id="{707798E5-AB6E-4E09-BF71-2DF5727A1292}"/>
              </a:ext>
            </a:extLst>
          </p:cNvPr>
          <p:cNvSpPr>
            <a:spLocks noGrp="1"/>
          </p:cNvSpPr>
          <p:nvPr/>
        </p:nvSpPr>
        <p:spPr>
          <a:xfrm>
            <a:off x="1295400" y="3486150"/>
            <a:ext cx="4343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pixel_x / ex_norm 向右为正；pixel_y / ey_norm 向下为正；输入不镜像。</a:t>
            </a:r>
          </a:p>
        </p:txBody>
      </p:sp>
      <p:sp>
        <p:nvSpPr>
          <p:cNvPr id="12" name="text-0179">
            <a:extLst>
              <a:ext uri="{FF2B5EF4-FFF2-40B4-BE49-F238E27FC236}">
                <a16:creationId xmlns:a16="http://schemas.microsoft.com/office/drawing/2014/main" id="{2732256E-F23C-4136-951B-6329F115165E}"/>
              </a:ext>
            </a:extLst>
          </p:cNvPr>
          <p:cNvSpPr>
            <a:spLocks noGrp="1"/>
          </p:cNvSpPr>
          <p:nvPr/>
        </p:nvSpPr>
        <p:spPr>
          <a:xfrm>
            <a:off x="6286500" y="18097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-0180">
            <a:extLst>
              <a:ext uri="{FF2B5EF4-FFF2-40B4-BE49-F238E27FC236}">
                <a16:creationId xmlns:a16="http://schemas.microsoft.com/office/drawing/2014/main" id="{0B82318F-B06F-4980-BBDB-C3EB19C750CD}"/>
              </a:ext>
            </a:extLst>
          </p:cNvPr>
          <p:cNvSpPr>
            <a:spLocks noGrp="1"/>
          </p:cNvSpPr>
          <p:nvPr/>
        </p:nvSpPr>
        <p:spPr>
          <a:xfrm>
            <a:off x="6896100" y="1809750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目标失效</a:t>
            </a:r>
          </a:p>
        </p:txBody>
      </p:sp>
      <p:sp>
        <p:nvSpPr>
          <p:cNvPr id="14" name="text-0181">
            <a:extLst>
              <a:ext uri="{FF2B5EF4-FFF2-40B4-BE49-F238E27FC236}">
                <a16:creationId xmlns:a16="http://schemas.microsoft.com/office/drawing/2014/main" id="{A909C1B7-58D3-4569-9201-2408EDA33C6D}"/>
              </a:ext>
            </a:extLst>
          </p:cNvPr>
          <p:cNvSpPr>
            <a:spLocks noGrp="1"/>
          </p:cNvSpPr>
          <p:nvPr/>
        </p:nvSpPr>
        <p:spPr>
          <a:xfrm>
            <a:off x="6896100" y="2152650"/>
            <a:ext cx="4610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移走目标应进入 lost / invalid；遮挡或断开相机不保留旧有效目标。</a:t>
            </a:r>
          </a:p>
        </p:txBody>
      </p:sp>
      <p:sp>
        <p:nvSpPr>
          <p:cNvPr id="15" name="text-0182">
            <a:extLst>
              <a:ext uri="{FF2B5EF4-FFF2-40B4-BE49-F238E27FC236}">
                <a16:creationId xmlns:a16="http://schemas.microsoft.com/office/drawing/2014/main" id="{72A16C61-A58D-44F8-BA64-9D9CF22EF0CE}"/>
              </a:ext>
            </a:extLst>
          </p:cNvPr>
          <p:cNvSpPr>
            <a:spLocks noGrp="1"/>
          </p:cNvSpPr>
          <p:nvPr/>
        </p:nvSpPr>
        <p:spPr>
          <a:xfrm>
            <a:off x="6286500" y="31432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text-0183">
            <a:extLst>
              <a:ext uri="{FF2B5EF4-FFF2-40B4-BE49-F238E27FC236}">
                <a16:creationId xmlns:a16="http://schemas.microsoft.com/office/drawing/2014/main" id="{1AEBC707-9A39-48FD-9A37-4A514ED86EC2}"/>
              </a:ext>
            </a:extLst>
          </p:cNvPr>
          <p:cNvSpPr>
            <a:spLocks noGrp="1"/>
          </p:cNvSpPr>
          <p:nvPr/>
        </p:nvSpPr>
        <p:spPr>
          <a:xfrm>
            <a:off x="6896100" y="3143250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错误处理</a:t>
            </a:r>
          </a:p>
        </p:txBody>
      </p:sp>
      <p:sp>
        <p:nvSpPr>
          <p:cNvPr id="17" name="text-0184">
            <a:extLst>
              <a:ext uri="{FF2B5EF4-FFF2-40B4-BE49-F238E27FC236}">
                <a16:creationId xmlns:a16="http://schemas.microsoft.com/office/drawing/2014/main" id="{FA2AC0C1-9977-4C00-8D67-A4A0C0517CAE}"/>
              </a:ext>
            </a:extLst>
          </p:cNvPr>
          <p:cNvSpPr>
            <a:spLocks noGrp="1"/>
          </p:cNvSpPr>
          <p:nvPr/>
        </p:nvSpPr>
        <p:spPr>
          <a:xfrm>
            <a:off x="6896100" y="3486150"/>
            <a:ext cx="4610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修正机械安装或飞控配置，不能修改比赛坐标代码补偿。</a:t>
            </a:r>
          </a:p>
        </p:txBody>
      </p:sp>
      <p:sp>
        <p:nvSpPr>
          <p:cNvPr id="18" name="shape-0185">
            <a:extLst>
              <a:ext uri="{FF2B5EF4-FFF2-40B4-BE49-F238E27FC236}">
                <a16:creationId xmlns:a16="http://schemas.microsoft.com/office/drawing/2014/main" id="{95064A42-A327-409F-93E8-1764D73AE60B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10820400" cy="10096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9" name="text-0186">
            <a:extLst>
              <a:ext uri="{FF2B5EF4-FFF2-40B4-BE49-F238E27FC236}">
                <a16:creationId xmlns:a16="http://schemas.microsoft.com/office/drawing/2014/main" id="{76299261-DB3F-4791-A404-0573C5935945}"/>
              </a:ext>
            </a:extLst>
          </p:cNvPr>
          <p:cNvSpPr>
            <a:spLocks noGrp="1"/>
          </p:cNvSpPr>
          <p:nvPr/>
        </p:nvSpPr>
        <p:spPr>
          <a:xfrm>
            <a:off x="971550" y="50673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始终无桨</a:t>
            </a:r>
          </a:p>
        </p:txBody>
      </p:sp>
      <p:sp>
        <p:nvSpPr>
          <p:cNvPr id="20" name="text-0187">
            <a:extLst>
              <a:ext uri="{FF2B5EF4-FFF2-40B4-BE49-F238E27FC236}">
                <a16:creationId xmlns:a16="http://schemas.microsoft.com/office/drawing/2014/main" id="{BF9CC2A1-B90F-4C61-8BF6-51AD7A27919E}"/>
              </a:ext>
            </a:extLst>
          </p:cNvPr>
          <p:cNvSpPr>
            <a:spLocks noGrp="1"/>
          </p:cNvSpPr>
          <p:nvPr/>
        </p:nvSpPr>
        <p:spPr>
          <a:xfrm>
            <a:off x="4171950" y="5048250"/>
            <a:ext cx="6972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出现掉压、过热、异味、异常声音或重启：立即断电，停止继续。</a:t>
            </a:r>
          </a:p>
        </p:txBody>
      </p:sp>
    </p:spTree>
    <p:extLst>
      <p:ext uri="{BB962C8B-B14F-4D97-AF65-F5344CB8AC3E}">
        <p14:creationId xmlns:p14="http://schemas.microsoft.com/office/powerpoint/2010/main" val="1526631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162">
            <a:extLst>
              <a:ext uri="{FF2B5EF4-FFF2-40B4-BE49-F238E27FC236}">
                <a16:creationId xmlns:a16="http://schemas.microsoft.com/office/drawing/2014/main" id="{8CFD6389-2833-478D-BD38-E96CA219A74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载荷空载标定</a:t>
            </a:r>
          </a:p>
        </p:txBody>
      </p:sp>
      <p:sp>
        <p:nvSpPr>
          <p:cNvPr id="2" name="text-0163">
            <a:extLst>
              <a:ext uri="{FF2B5EF4-FFF2-40B4-BE49-F238E27FC236}">
                <a16:creationId xmlns:a16="http://schemas.microsoft.com/office/drawing/2014/main" id="{65AFB2B3-8264-480A-929F-A98AD2EEC8B6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两路投放机构必须逐路空载标定</a:t>
            </a:r>
          </a:p>
        </p:txBody>
      </p:sp>
      <p:sp>
        <p:nvSpPr>
          <p:cNvPr id="3" name="shape-0164">
            <a:extLst>
              <a:ext uri="{FF2B5EF4-FFF2-40B4-BE49-F238E27FC236}">
                <a16:creationId xmlns:a16="http://schemas.microsoft.com/office/drawing/2014/main" id="{ED4CE832-BF3F-4BDF-921A-3CE62A492885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165">
            <a:extLst>
              <a:ext uri="{FF2B5EF4-FFF2-40B4-BE49-F238E27FC236}">
                <a16:creationId xmlns:a16="http://schemas.microsoft.com/office/drawing/2014/main" id="{46520745-0612-435E-994E-D312B672437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03 无人机组装</a:t>
            </a:r>
          </a:p>
        </p:txBody>
      </p:sp>
      <p:sp>
        <p:nvSpPr>
          <p:cNvPr id="5" name="text-0166">
            <a:extLst>
              <a:ext uri="{FF2B5EF4-FFF2-40B4-BE49-F238E27FC236}">
                <a16:creationId xmlns:a16="http://schemas.microsoft.com/office/drawing/2014/main" id="{0E263BB1-38E7-4A31-A794-82C764DEE667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text-0167">
            <a:extLst>
              <a:ext uri="{FF2B5EF4-FFF2-40B4-BE49-F238E27FC236}">
                <a16:creationId xmlns:a16="http://schemas.microsoft.com/office/drawing/2014/main" id="{93D11398-5AC1-4C98-9AF1-B9B81DAE1270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唯一允许：payload_release → set_servo → MAV_CMD_DO_SET_SERVO</a:t>
            </a:r>
          </a:p>
        </p:txBody>
      </p:sp>
      <p:graphicFrame>
        <p:nvGraphicFramePr>
          <p:cNvPr id="16" name="表格 13"/>
          <p:cNvGraphicFramePr/>
          <p:nvPr/>
        </p:nvGraphicFramePr>
        <p:xfrm>
          <a:off x="685800" y="1847850"/>
          <a:ext cx="10820400" cy="4000500"/>
        </p:xfrm>
        <a:graphic>
          <a:graphicData uri="http://schemas.openxmlformats.org/drawingml/2006/table">
            <a:tbl>
              <a:tblPr firstRow="1"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payload 1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payload 2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舵机型号 / 允许电压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电源 / BEC / 堵转电流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飞控 SERVO 输出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 PWM 实测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释放 PWM 实测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安全范围 / 模拟载荷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389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-0215">
            <a:extLst>
              <a:ext uri="{FF2B5EF4-FFF2-40B4-BE49-F238E27FC236}">
                <a16:creationId xmlns:a16="http://schemas.microsoft.com/office/drawing/2014/main" id="{295090BB-9062-49BB-8703-8DBD76972C8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组装验收</a:t>
            </a:r>
          </a:p>
        </p:txBody>
      </p:sp>
      <p:sp>
        <p:nvSpPr>
          <p:cNvPr id="2" name="text-0216">
            <a:extLst>
              <a:ext uri="{FF2B5EF4-FFF2-40B4-BE49-F238E27FC236}">
                <a16:creationId xmlns:a16="http://schemas.microsoft.com/office/drawing/2014/main" id="{F96F3940-7F6D-4883-9DE2-E632F78463A8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8 项全部通过，才算完成组装验收</a:t>
            </a:r>
          </a:p>
        </p:txBody>
      </p:sp>
      <p:sp>
        <p:nvSpPr>
          <p:cNvPr id="3" name="shape-0217">
            <a:extLst>
              <a:ext uri="{FF2B5EF4-FFF2-40B4-BE49-F238E27FC236}">
                <a16:creationId xmlns:a16="http://schemas.microsoft.com/office/drawing/2014/main" id="{49561647-F5CC-435B-AC87-E2126C881794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218">
            <a:extLst>
              <a:ext uri="{FF2B5EF4-FFF2-40B4-BE49-F238E27FC236}">
                <a16:creationId xmlns:a16="http://schemas.microsoft.com/office/drawing/2014/main" id="{3A9DBA14-9E11-4ACA-966B-D8681E142148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03 无人机组装</a:t>
            </a:r>
          </a:p>
        </p:txBody>
      </p:sp>
      <p:sp>
        <p:nvSpPr>
          <p:cNvPr id="5" name="text-0219">
            <a:extLst>
              <a:ext uri="{FF2B5EF4-FFF2-40B4-BE49-F238E27FC236}">
                <a16:creationId xmlns:a16="http://schemas.microsoft.com/office/drawing/2014/main" id="{C2F9B5AA-7EA4-4609-BE0F-89626BE73ECB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shape-0220">
            <a:extLst>
              <a:ext uri="{FF2B5EF4-FFF2-40B4-BE49-F238E27FC236}">
                <a16:creationId xmlns:a16="http://schemas.microsoft.com/office/drawing/2014/main" id="{0CCF9B4F-3C28-4B81-9018-7FC2DA708356}"/>
              </a:ext>
            </a:extLst>
          </p:cNvPr>
          <p:cNvSpPr>
            <a:spLocks noGrp="1"/>
          </p:cNvSpPr>
          <p:nvPr/>
        </p:nvSpPr>
        <p:spPr>
          <a:xfrm>
            <a:off x="685800" y="1800225"/>
            <a:ext cx="238125" cy="2381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7" name="text-0221">
            <a:extLst>
              <a:ext uri="{FF2B5EF4-FFF2-40B4-BE49-F238E27FC236}">
                <a16:creationId xmlns:a16="http://schemas.microsoft.com/office/drawing/2014/main" id="{6F212384-490A-49BB-A4E4-5DC0FBA5BC43}"/>
              </a:ext>
            </a:extLst>
          </p:cNvPr>
          <p:cNvSpPr>
            <a:spLocks noGrp="1"/>
          </p:cNvSpPr>
          <p:nvPr/>
        </p:nvSpPr>
        <p:spPr>
          <a:xfrm>
            <a:off x="685800" y="1771650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8" name="text-0222">
            <a:extLst>
              <a:ext uri="{FF2B5EF4-FFF2-40B4-BE49-F238E27FC236}">
                <a16:creationId xmlns:a16="http://schemas.microsoft.com/office/drawing/2014/main" id="{E7B935A1-03D3-403B-9A32-21FD8327195C}"/>
              </a:ext>
            </a:extLst>
          </p:cNvPr>
          <p:cNvSpPr>
            <a:spLocks noGrp="1"/>
          </p:cNvSpPr>
          <p:nvPr/>
        </p:nvSpPr>
        <p:spPr>
          <a:xfrm>
            <a:off x="1066800" y="1790700"/>
            <a:ext cx="457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螺旋桨和正式载荷仍未安装</a:t>
            </a:r>
          </a:p>
        </p:txBody>
      </p:sp>
      <p:sp>
        <p:nvSpPr>
          <p:cNvPr id="9" name="shape-0223">
            <a:extLst>
              <a:ext uri="{FF2B5EF4-FFF2-40B4-BE49-F238E27FC236}">
                <a16:creationId xmlns:a16="http://schemas.microsoft.com/office/drawing/2014/main" id="{5A2D9627-214F-41C2-9E7A-AEF67C3A940B}"/>
              </a:ext>
            </a:extLst>
          </p:cNvPr>
          <p:cNvSpPr>
            <a:spLocks noGrp="1"/>
          </p:cNvSpPr>
          <p:nvPr/>
        </p:nvSpPr>
        <p:spPr>
          <a:xfrm>
            <a:off x="685800" y="2447925"/>
            <a:ext cx="238125" cy="2381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text-0224">
            <a:extLst>
              <a:ext uri="{FF2B5EF4-FFF2-40B4-BE49-F238E27FC236}">
                <a16:creationId xmlns:a16="http://schemas.microsoft.com/office/drawing/2014/main" id="{3AE0F2F4-7659-4747-B31D-64588347EBCB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1" name="text-0225">
            <a:extLst>
              <a:ext uri="{FF2B5EF4-FFF2-40B4-BE49-F238E27FC236}">
                <a16:creationId xmlns:a16="http://schemas.microsoft.com/office/drawing/2014/main" id="{BABAC0A1-DE57-40F2-8DDD-614386023B7C}"/>
              </a:ext>
            </a:extLst>
          </p:cNvPr>
          <p:cNvSpPr>
            <a:spLocks noGrp="1"/>
          </p:cNvSpPr>
          <p:nvPr/>
        </p:nvSpPr>
        <p:spPr>
          <a:xfrm>
            <a:off x="1066800" y="2438400"/>
            <a:ext cx="457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飞控、机头、GPS、相机方向已标记并拍照</a:t>
            </a:r>
          </a:p>
        </p:txBody>
      </p:sp>
      <p:sp>
        <p:nvSpPr>
          <p:cNvPr id="12" name="shape-0226">
            <a:extLst>
              <a:ext uri="{FF2B5EF4-FFF2-40B4-BE49-F238E27FC236}">
                <a16:creationId xmlns:a16="http://schemas.microsoft.com/office/drawing/2014/main" id="{93308993-2325-45F0-BDE0-49AF5ED89468}"/>
              </a:ext>
            </a:extLst>
          </p:cNvPr>
          <p:cNvSpPr>
            <a:spLocks noGrp="1"/>
          </p:cNvSpPr>
          <p:nvPr/>
        </p:nvSpPr>
        <p:spPr>
          <a:xfrm>
            <a:off x="685800" y="3095625"/>
            <a:ext cx="238125" cy="2381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3" name="text-0227">
            <a:extLst>
              <a:ext uri="{FF2B5EF4-FFF2-40B4-BE49-F238E27FC236}">
                <a16:creationId xmlns:a16="http://schemas.microsoft.com/office/drawing/2014/main" id="{B9F87E1B-B35A-4F55-AA64-2412FB6CE61F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4" name="text-0228">
            <a:extLst>
              <a:ext uri="{FF2B5EF4-FFF2-40B4-BE49-F238E27FC236}">
                <a16:creationId xmlns:a16="http://schemas.microsoft.com/office/drawing/2014/main" id="{594E6F33-EDE1-415F-99FE-C5FAD7AF37A9}"/>
              </a:ext>
            </a:extLst>
          </p:cNvPr>
          <p:cNvSpPr>
            <a:spLocks noGrp="1"/>
          </p:cNvSpPr>
          <p:nvPr/>
        </p:nvSpPr>
        <p:spPr>
          <a:xfrm>
            <a:off x="1066800" y="3086100"/>
            <a:ext cx="457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RK3588 具备散热、绝缘和应力释放</a:t>
            </a:r>
          </a:p>
        </p:txBody>
      </p:sp>
      <p:sp>
        <p:nvSpPr>
          <p:cNvPr id="15" name="shape-0229">
            <a:extLst>
              <a:ext uri="{FF2B5EF4-FFF2-40B4-BE49-F238E27FC236}">
                <a16:creationId xmlns:a16="http://schemas.microsoft.com/office/drawing/2014/main" id="{32A65A95-C375-4223-81DF-CE25FFB20624}"/>
              </a:ext>
            </a:extLst>
          </p:cNvPr>
          <p:cNvSpPr>
            <a:spLocks noGrp="1"/>
          </p:cNvSpPr>
          <p:nvPr/>
        </p:nvSpPr>
        <p:spPr>
          <a:xfrm>
            <a:off x="685800" y="3743325"/>
            <a:ext cx="238125" cy="2381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6" name="text-0230">
            <a:extLst>
              <a:ext uri="{FF2B5EF4-FFF2-40B4-BE49-F238E27FC236}">
                <a16:creationId xmlns:a16="http://schemas.microsoft.com/office/drawing/2014/main" id="{4D6B5153-45AD-4AFC-805B-4EB7EE6D1DFF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" name="text-0231">
            <a:extLst>
              <a:ext uri="{FF2B5EF4-FFF2-40B4-BE49-F238E27FC236}">
                <a16:creationId xmlns:a16="http://schemas.microsoft.com/office/drawing/2014/main" id="{48D45C0F-71AE-4509-A31B-CC61DFF2BF02}"/>
              </a:ext>
            </a:extLst>
          </p:cNvPr>
          <p:cNvSpPr>
            <a:spLocks noGrp="1"/>
          </p:cNvSpPr>
          <p:nvPr/>
        </p:nvSpPr>
        <p:spPr>
          <a:xfrm>
            <a:off x="1066800" y="3733800"/>
            <a:ext cx="457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满载与两次模拟释放后的重心符合要求</a:t>
            </a:r>
          </a:p>
        </p:txBody>
      </p:sp>
      <p:sp>
        <p:nvSpPr>
          <p:cNvPr id="18" name="shape-0232">
            <a:extLst>
              <a:ext uri="{FF2B5EF4-FFF2-40B4-BE49-F238E27FC236}">
                <a16:creationId xmlns:a16="http://schemas.microsoft.com/office/drawing/2014/main" id="{69420469-BBC7-467B-A601-604F07341EF3}"/>
              </a:ext>
            </a:extLst>
          </p:cNvPr>
          <p:cNvSpPr>
            <a:spLocks noGrp="1"/>
          </p:cNvSpPr>
          <p:nvPr/>
        </p:nvSpPr>
        <p:spPr>
          <a:xfrm>
            <a:off x="6286500" y="1800225"/>
            <a:ext cx="238125" cy="2381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9" name="text-0233">
            <a:extLst>
              <a:ext uri="{FF2B5EF4-FFF2-40B4-BE49-F238E27FC236}">
                <a16:creationId xmlns:a16="http://schemas.microsoft.com/office/drawing/2014/main" id="{8E9ABC3B-68A9-4007-BB2F-29B207FF412F}"/>
              </a:ext>
            </a:extLst>
          </p:cNvPr>
          <p:cNvSpPr>
            <a:spLocks noGrp="1"/>
          </p:cNvSpPr>
          <p:nvPr/>
        </p:nvSpPr>
        <p:spPr>
          <a:xfrm>
            <a:off x="6286500" y="1771650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text-0234">
            <a:extLst>
              <a:ext uri="{FF2B5EF4-FFF2-40B4-BE49-F238E27FC236}">
                <a16:creationId xmlns:a16="http://schemas.microsoft.com/office/drawing/2014/main" id="{1FE4C5FA-3BC7-44DC-91D0-91BFB55CAD60}"/>
              </a:ext>
            </a:extLst>
          </p:cNvPr>
          <p:cNvSpPr>
            <a:spLocks noGrp="1"/>
          </p:cNvSpPr>
          <p:nvPr/>
        </p:nvSpPr>
        <p:spPr>
          <a:xfrm>
            <a:off x="6667500" y="1790700"/>
            <a:ext cx="4838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接线总表和供电预算没有未解释项</a:t>
            </a:r>
          </a:p>
        </p:txBody>
      </p:sp>
      <p:sp>
        <p:nvSpPr>
          <p:cNvPr id="21" name="shape-0235">
            <a:extLst>
              <a:ext uri="{FF2B5EF4-FFF2-40B4-BE49-F238E27FC236}">
                <a16:creationId xmlns:a16="http://schemas.microsoft.com/office/drawing/2014/main" id="{85510D8B-7C2F-453C-9777-FCFFECCA91F9}"/>
              </a:ext>
            </a:extLst>
          </p:cNvPr>
          <p:cNvSpPr>
            <a:spLocks noGrp="1"/>
          </p:cNvSpPr>
          <p:nvPr/>
        </p:nvSpPr>
        <p:spPr>
          <a:xfrm>
            <a:off x="6286500" y="2447925"/>
            <a:ext cx="238125" cy="2381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2" name="text-0236">
            <a:extLst>
              <a:ext uri="{FF2B5EF4-FFF2-40B4-BE49-F238E27FC236}">
                <a16:creationId xmlns:a16="http://schemas.microsoft.com/office/drawing/2014/main" id="{95D3A247-9AFA-4C1E-90C5-7986C136C86B}"/>
              </a:ext>
            </a:extLst>
          </p:cNvPr>
          <p:cNvSpPr>
            <a:spLocks noGrp="1"/>
          </p:cNvSpPr>
          <p:nvPr/>
        </p:nvSpPr>
        <p:spPr>
          <a:xfrm>
            <a:off x="6286500" y="2419350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3" name="text-0237">
            <a:extLst>
              <a:ext uri="{FF2B5EF4-FFF2-40B4-BE49-F238E27FC236}">
                <a16:creationId xmlns:a16="http://schemas.microsoft.com/office/drawing/2014/main" id="{7D64AAD7-A24F-48F9-BFF4-9DBCBF6298A8}"/>
              </a:ext>
            </a:extLst>
          </p:cNvPr>
          <p:cNvSpPr>
            <a:spLocks noGrp="1"/>
          </p:cNvSpPr>
          <p:nvPr/>
        </p:nvSpPr>
        <p:spPr>
          <a:xfrm>
            <a:off x="6667500" y="2438400"/>
            <a:ext cx="4838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极性、空载与负载电压已实测并复核</a:t>
            </a:r>
          </a:p>
        </p:txBody>
      </p:sp>
      <p:sp>
        <p:nvSpPr>
          <p:cNvPr id="24" name="shape-0238">
            <a:extLst>
              <a:ext uri="{FF2B5EF4-FFF2-40B4-BE49-F238E27FC236}">
                <a16:creationId xmlns:a16="http://schemas.microsoft.com/office/drawing/2014/main" id="{D7A98D8E-BDBB-47C7-B5F4-5A888866FE43}"/>
              </a:ext>
            </a:extLst>
          </p:cNvPr>
          <p:cNvSpPr>
            <a:spLocks noGrp="1"/>
          </p:cNvSpPr>
          <p:nvPr/>
        </p:nvSpPr>
        <p:spPr>
          <a:xfrm>
            <a:off x="6286500" y="3095625"/>
            <a:ext cx="238125" cy="2381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5" name="text-0239">
            <a:extLst>
              <a:ext uri="{FF2B5EF4-FFF2-40B4-BE49-F238E27FC236}">
                <a16:creationId xmlns:a16="http://schemas.microsoft.com/office/drawing/2014/main" id="{94A29C6E-C307-40FF-9C5A-39937179BD0D}"/>
              </a:ext>
            </a:extLst>
          </p:cNvPr>
          <p:cNvSpPr>
            <a:spLocks noGrp="1"/>
          </p:cNvSpPr>
          <p:nvPr/>
        </p:nvSpPr>
        <p:spPr>
          <a:xfrm>
            <a:off x="6286500" y="3067050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6" name="text-0240">
            <a:extLst>
              <a:ext uri="{FF2B5EF4-FFF2-40B4-BE49-F238E27FC236}">
                <a16:creationId xmlns:a16="http://schemas.microsoft.com/office/drawing/2014/main" id="{89057B0E-C791-4646-8B81-E35A6CE534DC}"/>
              </a:ext>
            </a:extLst>
          </p:cNvPr>
          <p:cNvSpPr>
            <a:spLocks noGrp="1"/>
          </p:cNvSpPr>
          <p:nvPr/>
        </p:nvSpPr>
        <p:spPr>
          <a:xfrm>
            <a:off x="6667500" y="3086100"/>
            <a:ext cx="4838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MAVLink 物理连接与参数已经明确</a:t>
            </a:r>
          </a:p>
        </p:txBody>
      </p:sp>
      <p:sp>
        <p:nvSpPr>
          <p:cNvPr id="27" name="shape-0241">
            <a:extLst>
              <a:ext uri="{FF2B5EF4-FFF2-40B4-BE49-F238E27FC236}">
                <a16:creationId xmlns:a16="http://schemas.microsoft.com/office/drawing/2014/main" id="{0DDCAA47-72CC-4981-822A-329E54C54660}"/>
              </a:ext>
            </a:extLst>
          </p:cNvPr>
          <p:cNvSpPr>
            <a:spLocks noGrp="1"/>
          </p:cNvSpPr>
          <p:nvPr/>
        </p:nvSpPr>
        <p:spPr>
          <a:xfrm>
            <a:off x="6286500" y="3743325"/>
            <a:ext cx="238125" cy="2381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8" name="text-0242">
            <a:extLst>
              <a:ext uri="{FF2B5EF4-FFF2-40B4-BE49-F238E27FC236}">
                <a16:creationId xmlns:a16="http://schemas.microsoft.com/office/drawing/2014/main" id="{52F59687-6413-4CBB-AB91-4015401458CD}"/>
              </a:ext>
            </a:extLst>
          </p:cNvPr>
          <p:cNvSpPr>
            <a:spLocks noGrp="1"/>
          </p:cNvSpPr>
          <p:nvPr/>
        </p:nvSpPr>
        <p:spPr>
          <a:xfrm>
            <a:off x="6286500" y="3714750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9" name="text-0243">
            <a:extLst>
              <a:ext uri="{FF2B5EF4-FFF2-40B4-BE49-F238E27FC236}">
                <a16:creationId xmlns:a16="http://schemas.microsoft.com/office/drawing/2014/main" id="{B3E1CB2D-1F6F-4611-BDD6-67E10611FE2B}"/>
              </a:ext>
            </a:extLst>
          </p:cNvPr>
          <p:cNvSpPr>
            <a:spLocks noGrp="1"/>
          </p:cNvSpPr>
          <p:nvPr/>
        </p:nvSpPr>
        <p:spPr>
          <a:xfrm>
            <a:off x="6667500" y="3733800"/>
            <a:ext cx="4838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两路 SERVO / PWM 已记录，满载无重启</a:t>
            </a:r>
          </a:p>
        </p:txBody>
      </p:sp>
      <p:sp>
        <p:nvSpPr>
          <p:cNvPr id="30" name="shape-0244">
            <a:extLst>
              <a:ext uri="{FF2B5EF4-FFF2-40B4-BE49-F238E27FC236}">
                <a16:creationId xmlns:a16="http://schemas.microsoft.com/office/drawing/2014/main" id="{EECC421A-452B-41D6-90F8-474F513AE1B7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10820400" cy="12573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31" name="text-0245">
            <a:extLst>
              <a:ext uri="{FF2B5EF4-FFF2-40B4-BE49-F238E27FC236}">
                <a16:creationId xmlns:a16="http://schemas.microsoft.com/office/drawing/2014/main" id="{E189ED0B-0E07-4A84-8270-605ACE3615C0}"/>
              </a:ext>
            </a:extLst>
          </p:cNvPr>
          <p:cNvSpPr>
            <a:spLocks noGrp="1"/>
          </p:cNvSpPr>
          <p:nvPr/>
        </p:nvSpPr>
        <p:spPr>
          <a:xfrm>
            <a:off x="990600" y="49339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下一章</a:t>
            </a:r>
          </a:p>
        </p:txBody>
      </p:sp>
      <p:sp>
        <p:nvSpPr>
          <p:cNvPr id="32" name="text-0246">
            <a:extLst>
              <a:ext uri="{FF2B5EF4-FFF2-40B4-BE49-F238E27FC236}">
                <a16:creationId xmlns:a16="http://schemas.microsoft.com/office/drawing/2014/main" id="{E231BFFC-572A-4FA0-B9EB-A2753E776A8F}"/>
              </a:ext>
            </a:extLst>
          </p:cNvPr>
          <p:cNvSpPr>
            <a:spLocks noGrp="1"/>
          </p:cNvSpPr>
          <p:nvPr/>
        </p:nvSpPr>
        <p:spPr>
          <a:xfrm>
            <a:off x="990600" y="5334000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 RK3588 环境配置</a:t>
            </a:r>
          </a:p>
        </p:txBody>
      </p:sp>
      <p:sp>
        <p:nvSpPr>
          <p:cNvPr id="33" name="text-0247">
            <a:extLst>
              <a:ext uri="{FF2B5EF4-FFF2-40B4-BE49-F238E27FC236}">
                <a16:creationId xmlns:a16="http://schemas.microsoft.com/office/drawing/2014/main" id="{FD2B8FDA-5CB2-4822-A114-1F91EED2A89A}"/>
              </a:ext>
            </a:extLst>
          </p:cNvPr>
          <p:cNvSpPr>
            <a:spLocks noGrp="1"/>
          </p:cNvSpPr>
          <p:nvPr/>
        </p:nvSpPr>
        <p:spPr>
          <a:xfrm>
            <a:off x="4953000" y="5105400"/>
            <a:ext cx="6057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组装完成后，再配置板端环境、MAVLink 和视觉软件。</a:t>
            </a:r>
          </a:p>
        </p:txBody>
      </p:sp>
    </p:spTree>
    <p:extLst>
      <p:ext uri="{BB962C8B-B14F-4D97-AF65-F5344CB8AC3E}">
        <p14:creationId xmlns:p14="http://schemas.microsoft.com/office/powerpoint/2010/main" val="193163027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2824</Words>
  <Application>Microsoft Office PowerPoint</Application>
  <DocSecurity>0</DocSecurity>
  <PresentationFormat>宽屏</PresentationFormat>
  <Paragraphs>597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3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嘉豪 李</cp:lastModifiedBy>
  <cp:revision>6</cp:revision>
  <dcterms:created xsi:type="dcterms:W3CDTF">2026-08-15T16:17:04Z</dcterms:created>
  <dcterms:modified xsi:type="dcterms:W3CDTF">2026-08-15T16:24:51Z</dcterms:modified>
</cp:coreProperties>
</file>
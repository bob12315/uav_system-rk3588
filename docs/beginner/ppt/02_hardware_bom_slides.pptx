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开场说明：这一章不是给出唯一答案，而是给出两套可核对、可复现、可按预算取舍的硬件路线。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先让团队在 A 与 B 之间做目标选择：B 不是另一套软件，而是同一系统的动力与定位升级。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强调采购证据边界：原文链接便于追溯，但团队必须重新确认实物规格与当前价格。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用五个子系统组织 18 项物料，避免把采购清单看成互不关联的商品列表。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逐项说明方案 A 的机体与动力件，并再次提醒螺旋桨仍是需要实物匹配确认的项目。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对照方案 A 的机架、电机和电调购买页截图；强调这不是验收照片，下单前仍需复核。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- C:/Users/24184/Desktop/project/uav_system/docs/beginner/images/hardware/lowcost-frame-zd550.png</a:t>
            </a:r>
          </a:p>
          <a:p>
            <a:r>
              <a:t>- C:/Users/24184/Desktop/project/uav_system/docs/beginner/images/hardware/lowcost-motor-3115-900kv.png</a:t>
            </a:r>
          </a:p>
          <a:p>
            <a:r>
              <a:t>- C:/Users/24184/Desktop/project/uav_system/docs/beginner/images/hardware/lowcost-esc-45a.png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展示螺旋桨、动力电池和 RK3588 独立电池的购买页截图；提醒接口和放电能力复核。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- C:/Users/24184/Desktop/project/uav_system/docs/beginner/images/hardware/lowcost-propellers.png</a:t>
            </a:r>
          </a:p>
          <a:p>
            <a:r>
              <a:t>- C:/Users/24184/Desktop/project/uav_system/docs/beginner/images/hardware/lowcost-flight-battery-21700-6s2p.png</a:t>
            </a:r>
          </a:p>
          <a:p>
            <a:r>
              <a:t>- C:/Users/24184/Desktop/project/uav_system/docs/beginner/images/hardware/lowcost-rk3588-battery-3s-500mah.png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这里把飞控、GNSS、遥控链路、RK3588 与下视相机连成一条完整的自主任务硬件链路。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展示飞控、GNSS 和 ELRS 接收机购买页截图；赞助件的标价只用于替代采购估算。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- C:/Users/24184/Desktop/project/uav_system/docs/beginner/images/hardware/lowcost-flight-controller-cuav-7nano.png</a:t>
            </a:r>
          </a:p>
          <a:p>
            <a:r>
              <a:t>- C:/Users/24184/Desktop/project/uav_system/docs/beginner/images/hardware/lowcost-gps-cuav-neo-3x.png</a:t>
            </a:r>
          </a:p>
          <a:p>
            <a:r>
              <a:t>- C:/Users/24184/Desktop/project/uav_system/docs/beginner/images/hardware/lowcost-receiver-elrs.png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 NanoPi T6 与下视相机购买页截图；遥控器为自备，当前文件中没有对应截图。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- C:/Users/24184/Desktop/project/uav_system/docs/beginner/images/hardware/lowcost-rk3588-nanopi-t6.png</a:t>
            </a:r>
          </a:p>
          <a:p>
            <a:r>
              <a:t>- C:/Users/24184/Desktop/project/uav_system/docs/beginner/images/hardware/lowcost-camera-720p-2-8mm.png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提醒团队不要只关注大件：小额线材、紧固和投放结构往往直接决定装机是否停工。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展示舵机、投放机构与 RK3588 供电线购买页截图；上电前必须实测电压和极性。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- C:/Users/24184/Desktop/project/uav_system/docs/beginner/images/hardware/lowcost-payload-servo-20kg.png</a:t>
            </a:r>
          </a:p>
          <a:p>
            <a:r>
              <a:t>- C:/Users/24184/Desktop/project/uav_system/docs/beginner/images/hardware/lowcost-payload-release.png</a:t>
            </a:r>
          </a:p>
          <a:p>
            <a:r>
              <a:t>- C:/Users/24184/Desktop/project/uav_system/docs/beginner/images/hardware/lowcost-rk3588-power-cable.png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展示机架立柱、脚架管与电池扎带购买页截图；结构件尺寸要按实物空间复核。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- C:/Users/24184/Desktop/project/uav_system/docs/beginner/images/hardware/lowcost-frame-standoff-m3x55.png</a:t>
            </a:r>
          </a:p>
          <a:p>
            <a:r>
              <a:t>- C:/Users/24184/Desktop/project/uav_system/docs/beginner/images/hardware/lowcost-landing-gear-tube.png</a:t>
            </a:r>
          </a:p>
          <a:p>
            <a:r>
              <a:t>- C:/Users/24184/Desktop/project/uav_system/docs/beginner/images/hardware/lowcost-battery-strap-20x380.png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解释四种预算口径：完整成本、替代件成本、支持件价值与团队实际自费不能混为一谈。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方案 B 的变化边界非常清楚：三项升级，其他系统保持不变，因此软件复现路线仍然一致。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展示方案 B 的电机、14 英寸螺旋桨与 RTK GNSS 购买页截图；升级后要重做整体匹配。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- C:/Users/24184/Desktop/project/uav_system/docs/beginner/images/hardware/stable-motor-lanyu-x4112s-kv450.png</a:t>
            </a:r>
          </a:p>
          <a:p>
            <a:r>
              <a:t>- C:/Users/24184/Desktop/project/uav_system/docs/beginner/images/hardware/stable-propeller-14-inch.png</a:t>
            </a:r>
          </a:p>
          <a:p>
            <a:r>
              <a:t>- C:/Users/24184/Desktop/project/uav_system/docs/beginner/images/hardware/stable-rtk-gnss.png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用替换公式复核方案 B：从 A 中移除旧电机、旧桨和旧 GPS，再加入三项升级件。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对比表刻意突出前两行：两套方案的软件和总体架构相同，升级不会推翻前面的学习成果。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提示团队把工具计入准备清单：它们支撑供电确认、系统安装、板端配置和后续日志分析。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七条门禁覆盖动力、供电、舵机、定位、价格和证据来源；任一项未确认，都不应直接下单。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用八项检查收尾，并把下一步明确交给第 03 章的实物组装流程。</a:t>
            </a:r>
          </a:p>
          <a:p>
            <a:endParaRPr/>
          </a:p>
          <a:p>
            <a:r>
              <a:t>[Sources]</a:t>
            </a:r>
          </a:p>
          <a:p>
            <a:r>
              <a:t>- C:/Users/24184/Desktop/project/uav_system/docs/beginner/02_hardware_bom.md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001">
            <a:extLst>
              <a:ext uri="{FF2B5EF4-FFF2-40B4-BE49-F238E27FC236}">
                <a16:creationId xmlns:a16="http://schemas.microsoft.com/office/drawing/2014/main" id="{5760C84E-48A4-4C3A-BDE9-16ECD9CE56ED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从零复现 · 第 02 章</a:t>
            </a:r>
          </a:p>
        </p:txBody>
      </p:sp>
      <p:sp>
        <p:nvSpPr>
          <p:cNvPr id="2" name="shape-0002">
            <a:extLst>
              <a:ext uri="{FF2B5EF4-FFF2-40B4-BE49-F238E27FC236}">
                <a16:creationId xmlns:a16="http://schemas.microsoft.com/office/drawing/2014/main" id="{254D225A-45AB-4091-A884-6B5BD46CCEE2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990600" cy="571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" name="text-0003">
            <a:extLst>
              <a:ext uri="{FF2B5EF4-FFF2-40B4-BE49-F238E27FC236}">
                <a16:creationId xmlns:a16="http://schemas.microsoft.com/office/drawing/2014/main" id="{130C7584-C628-4254-81D1-BBCDBB9A6523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809625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5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两套可复现的</a:t>
            </a:r>
          </a:p>
          <a:p>
            <a:pPr algn="l">
              <a:buNone/>
              <a:defRPr sz="5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无人机硬件配置</a:t>
            </a:r>
          </a:p>
        </p:txBody>
      </p:sp>
      <p:sp>
        <p:nvSpPr>
          <p:cNvPr id="4" name="text-0004">
            <a:extLst>
              <a:ext uri="{FF2B5EF4-FFF2-40B4-BE49-F238E27FC236}">
                <a16:creationId xmlns:a16="http://schemas.microsoft.com/office/drawing/2014/main" id="{D28CAAEE-CF68-4D66-B581-869C044B9B09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低成本比赛复现 × 稳定飞行升级</a:t>
            </a:r>
          </a:p>
        </p:txBody>
      </p:sp>
      <p:sp>
        <p:nvSpPr>
          <p:cNvPr id="5" name="text-0005">
            <a:extLst>
              <a:ext uri="{FF2B5EF4-FFF2-40B4-BE49-F238E27FC236}">
                <a16:creationId xmlns:a16="http://schemas.microsoft.com/office/drawing/2014/main" id="{CE8A22D3-B63A-4D84-8706-686BC799C5FF}"/>
              </a:ext>
            </a:extLst>
          </p:cNvPr>
          <p:cNvSpPr>
            <a:spLocks noGrp="1"/>
          </p:cNvSpPr>
          <p:nvPr/>
        </p:nvSpPr>
        <p:spPr>
          <a:xfrm>
            <a:off x="9010650" y="1600200"/>
            <a:ext cx="22098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1250" b="1">
                <a:solidFill>
                  <a:srgbClr val="D0ED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0" b="1">
                <a:solidFill>
                  <a:srgbClr val="D0EDF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0006">
            <a:extLst>
              <a:ext uri="{FF2B5EF4-FFF2-40B4-BE49-F238E27FC236}">
                <a16:creationId xmlns:a16="http://schemas.microsoft.com/office/drawing/2014/main" id="{0A1D6ADE-A4C6-4283-8BCB-859BF125ADB7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uav_system-rk3588</a:t>
            </a:r>
          </a:p>
        </p:txBody>
      </p:sp>
    </p:spTree>
    <p:extLst>
      <p:ext uri="{BB962C8B-B14F-4D97-AF65-F5344CB8AC3E}">
        <p14:creationId xmlns:p14="http://schemas.microsoft.com/office/powerpoint/2010/main" val="144338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-0007">
            <a:extLst>
              <a:ext uri="{FF2B5EF4-FFF2-40B4-BE49-F238E27FC236}">
                <a16:creationId xmlns:a16="http://schemas.microsoft.com/office/drawing/2014/main" id="{DD1C9856-0378-4E4E-87E0-0EB95437D03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路线选择</a:t>
            </a:r>
          </a:p>
        </p:txBody>
      </p:sp>
      <p:sp>
        <p:nvSpPr>
          <p:cNvPr id="2" name="text-0008">
            <a:extLst>
              <a:ext uri="{FF2B5EF4-FFF2-40B4-BE49-F238E27FC236}">
                <a16:creationId xmlns:a16="http://schemas.microsoft.com/office/drawing/2014/main" id="{B54E9B9B-206A-4A69-BB94-079369856726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先选目标：最低成本复现，还是更稳的飞行余量</a:t>
            </a:r>
          </a:p>
        </p:txBody>
      </p:sp>
      <p:sp>
        <p:nvSpPr>
          <p:cNvPr id="3" name="shape-0009">
            <a:extLst>
              <a:ext uri="{FF2B5EF4-FFF2-40B4-BE49-F238E27FC236}">
                <a16:creationId xmlns:a16="http://schemas.microsoft.com/office/drawing/2014/main" id="{C7D14521-4540-433A-98F0-058A4950F8AD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010">
            <a:extLst>
              <a:ext uri="{FF2B5EF4-FFF2-40B4-BE49-F238E27FC236}">
                <a16:creationId xmlns:a16="http://schemas.microsoft.com/office/drawing/2014/main" id="{8CD465E1-1FFC-4356-A964-72A84C2C0DD7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011">
            <a:extLst>
              <a:ext uri="{FF2B5EF4-FFF2-40B4-BE49-F238E27FC236}">
                <a16:creationId xmlns:a16="http://schemas.microsoft.com/office/drawing/2014/main" id="{94937174-F92B-4031-B8EE-CFFE39978842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0012">
            <a:extLst>
              <a:ext uri="{FF2B5EF4-FFF2-40B4-BE49-F238E27FC236}">
                <a16:creationId xmlns:a16="http://schemas.microsoft.com/office/drawing/2014/main" id="{F31FB618-5CA8-4648-BC99-477431EA407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143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6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7" name="text-0013">
            <a:extLst>
              <a:ext uri="{FF2B5EF4-FFF2-40B4-BE49-F238E27FC236}">
                <a16:creationId xmlns:a16="http://schemas.microsoft.com/office/drawing/2014/main" id="{F47F98F3-41D7-438A-9181-1410042DE527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低成本比赛复现</a:t>
            </a:r>
          </a:p>
        </p:txBody>
      </p:sp>
      <p:sp>
        <p:nvSpPr>
          <p:cNvPr id="8" name="text-0014">
            <a:extLst>
              <a:ext uri="{FF2B5EF4-FFF2-40B4-BE49-F238E27FC236}">
                <a16:creationId xmlns:a16="http://schemas.microsoft.com/office/drawing/2014/main" id="{2B089F06-FDFC-4149-A9D2-E19058AA062B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4476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适合学习、比赛复现和预算有限团队。</a:t>
            </a:r>
          </a:p>
          <a:p>
            <a:pPr algn="l">
              <a:buNone/>
              <a:defRPr sz="17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优先跑通完整系统，再逐项优化。</a:t>
            </a:r>
          </a:p>
        </p:txBody>
      </p:sp>
      <p:sp>
        <p:nvSpPr>
          <p:cNvPr id="9" name="text-0015">
            <a:extLst>
              <a:ext uri="{FF2B5EF4-FFF2-40B4-BE49-F238E27FC236}">
                <a16:creationId xmlns:a16="http://schemas.microsoft.com/office/drawing/2014/main" id="{115CF58D-43C8-435B-BA0B-17C151CC79B5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¥4,857</a:t>
            </a:r>
          </a:p>
        </p:txBody>
      </p:sp>
      <p:sp>
        <p:nvSpPr>
          <p:cNvPr id="10" name="text-0016">
            <a:extLst>
              <a:ext uri="{FF2B5EF4-FFF2-40B4-BE49-F238E27FC236}">
                <a16:creationId xmlns:a16="http://schemas.microsoft.com/office/drawing/2014/main" id="{390BBD4D-B01A-4C87-A735-34C3B8F6E4AD}"/>
              </a:ext>
            </a:extLst>
          </p:cNvPr>
          <p:cNvSpPr>
            <a:spLocks noGrp="1"/>
          </p:cNvSpPr>
          <p:nvPr/>
        </p:nvSpPr>
        <p:spPr>
          <a:xfrm>
            <a:off x="685800" y="5362575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全自购参考价，遥控器不计</a:t>
            </a:r>
          </a:p>
        </p:txBody>
      </p:sp>
      <p:sp>
        <p:nvSpPr>
          <p:cNvPr id="11" name="shape-0017">
            <a:extLst>
              <a:ext uri="{FF2B5EF4-FFF2-40B4-BE49-F238E27FC236}">
                <a16:creationId xmlns:a16="http://schemas.microsoft.com/office/drawing/2014/main" id="{F2B24EAF-12BE-4A3C-9C6C-F075E2C04E08}"/>
              </a:ext>
            </a:extLst>
          </p:cNvPr>
          <p:cNvSpPr>
            <a:spLocks noGrp="1"/>
          </p:cNvSpPr>
          <p:nvPr/>
        </p:nvSpPr>
        <p:spPr>
          <a:xfrm>
            <a:off x="5924550" y="1752600"/>
            <a:ext cx="19050" cy="40005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text-0018">
            <a:extLst>
              <a:ext uri="{FF2B5EF4-FFF2-40B4-BE49-F238E27FC236}">
                <a16:creationId xmlns:a16="http://schemas.microsoft.com/office/drawing/2014/main" id="{7C78EF4A-A8A5-473C-B9B6-E14DCC541F7A}"/>
              </a:ext>
            </a:extLst>
          </p:cNvPr>
          <p:cNvSpPr>
            <a:spLocks noGrp="1"/>
          </p:cNvSpPr>
          <p:nvPr/>
        </p:nvSpPr>
        <p:spPr>
          <a:xfrm>
            <a:off x="6400800" y="1762125"/>
            <a:ext cx="1143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6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3" name="text-0019">
            <a:extLst>
              <a:ext uri="{FF2B5EF4-FFF2-40B4-BE49-F238E27FC236}">
                <a16:creationId xmlns:a16="http://schemas.microsoft.com/office/drawing/2014/main" id="{E3C8A18B-E17C-4BF5-9173-A3078B37C93D}"/>
              </a:ext>
            </a:extLst>
          </p:cNvPr>
          <p:cNvSpPr>
            <a:spLocks noGrp="1"/>
          </p:cNvSpPr>
          <p:nvPr/>
        </p:nvSpPr>
        <p:spPr>
          <a:xfrm>
            <a:off x="6400800" y="28956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稳定飞行升级</a:t>
            </a:r>
          </a:p>
        </p:txBody>
      </p:sp>
      <p:sp>
        <p:nvSpPr>
          <p:cNvPr id="14" name="text-0020">
            <a:extLst>
              <a:ext uri="{FF2B5EF4-FFF2-40B4-BE49-F238E27FC236}">
                <a16:creationId xmlns:a16="http://schemas.microsoft.com/office/drawing/2014/main" id="{8D968110-998F-4C09-A940-82434CA0C6ED}"/>
              </a:ext>
            </a:extLst>
          </p:cNvPr>
          <p:cNvSpPr>
            <a:spLocks noGrp="1"/>
          </p:cNvSpPr>
          <p:nvPr/>
        </p:nvSpPr>
        <p:spPr>
          <a:xfrm>
            <a:off x="6400800" y="3562350"/>
            <a:ext cx="476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保持飞控、RK3588、视觉、投放与软件架构，</a:t>
            </a:r>
          </a:p>
          <a:p>
            <a:pPr algn="l">
              <a:buNone/>
              <a:defRPr sz="17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只升级动力系统和定位系统。</a:t>
            </a:r>
          </a:p>
        </p:txBody>
      </p:sp>
      <p:sp>
        <p:nvSpPr>
          <p:cNvPr id="15" name="text-0021">
            <a:extLst>
              <a:ext uri="{FF2B5EF4-FFF2-40B4-BE49-F238E27FC236}">
                <a16:creationId xmlns:a16="http://schemas.microsoft.com/office/drawing/2014/main" id="{DEFDF143-B9E7-4846-9651-75D88CD5C822}"/>
              </a:ext>
            </a:extLst>
          </p:cNvPr>
          <p:cNvSpPr>
            <a:spLocks noGrp="1"/>
          </p:cNvSpPr>
          <p:nvPr/>
        </p:nvSpPr>
        <p:spPr>
          <a:xfrm>
            <a:off x="6400800" y="47625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¥9,114</a:t>
            </a:r>
          </a:p>
        </p:txBody>
      </p:sp>
      <p:sp>
        <p:nvSpPr>
          <p:cNvPr id="16" name="text-0022">
            <a:extLst>
              <a:ext uri="{FF2B5EF4-FFF2-40B4-BE49-F238E27FC236}">
                <a16:creationId xmlns:a16="http://schemas.microsoft.com/office/drawing/2014/main" id="{6C3DC2B0-7D33-40BF-94D9-029328B42DF0}"/>
              </a:ext>
            </a:extLst>
          </p:cNvPr>
          <p:cNvSpPr>
            <a:spLocks noGrp="1"/>
          </p:cNvSpPr>
          <p:nvPr/>
        </p:nvSpPr>
        <p:spPr>
          <a:xfrm>
            <a:off x="6400800" y="536257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按方案 A 替换旧动力与旧 GPS 计算</a:t>
            </a:r>
          </a:p>
        </p:txBody>
      </p:sp>
    </p:spTree>
    <p:extLst>
      <p:ext uri="{BB962C8B-B14F-4D97-AF65-F5344CB8AC3E}">
        <p14:creationId xmlns:p14="http://schemas.microsoft.com/office/powerpoint/2010/main" val="848799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0023">
            <a:extLst>
              <a:ext uri="{FF2B5EF4-FFF2-40B4-BE49-F238E27FC236}">
                <a16:creationId xmlns:a16="http://schemas.microsoft.com/office/drawing/2014/main" id="{6BB59B33-2948-422F-9E12-90EAE56D2DF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采购证据</a:t>
            </a:r>
          </a:p>
        </p:txBody>
      </p:sp>
      <p:sp>
        <p:nvSpPr>
          <p:cNvPr id="2" name="text-0024">
            <a:extLst>
              <a:ext uri="{FF2B5EF4-FFF2-40B4-BE49-F238E27FC236}">
                <a16:creationId xmlns:a16="http://schemas.microsoft.com/office/drawing/2014/main" id="{8895FB4A-CBA2-4582-8536-A4D7289B5DB4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购买链接只是线索，不能直接当作验收标准</a:t>
            </a:r>
          </a:p>
        </p:txBody>
      </p:sp>
      <p:sp>
        <p:nvSpPr>
          <p:cNvPr id="3" name="shape-0025">
            <a:extLst>
              <a:ext uri="{FF2B5EF4-FFF2-40B4-BE49-F238E27FC236}">
                <a16:creationId xmlns:a16="http://schemas.microsoft.com/office/drawing/2014/main" id="{393F2391-B542-4E3D-B03C-4AC36A584078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026">
            <a:extLst>
              <a:ext uri="{FF2B5EF4-FFF2-40B4-BE49-F238E27FC236}">
                <a16:creationId xmlns:a16="http://schemas.microsoft.com/office/drawing/2014/main" id="{BA614A08-5314-4E7A-ABB2-7827E084B55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027">
            <a:extLst>
              <a:ext uri="{FF2B5EF4-FFF2-40B4-BE49-F238E27FC236}">
                <a16:creationId xmlns:a16="http://schemas.microsoft.com/office/drawing/2014/main" id="{4D183B89-D856-4642-B20C-198283998525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shape-0028">
            <a:extLst>
              <a:ext uri="{FF2B5EF4-FFF2-40B4-BE49-F238E27FC236}">
                <a16:creationId xmlns:a16="http://schemas.microsoft.com/office/drawing/2014/main" id="{1C0815B1-E0C2-4EDF-AB6D-EC373578BFD8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4095750" cy="381000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7" name="text-0029">
            <a:extLst>
              <a:ext uri="{FF2B5EF4-FFF2-40B4-BE49-F238E27FC236}">
                <a16:creationId xmlns:a16="http://schemas.microsoft.com/office/drawing/2014/main" id="{7B6689FC-B5F3-4A87-8E57-F6E2FE4EBF1D}"/>
              </a:ext>
            </a:extLst>
          </p:cNvPr>
          <p:cNvSpPr>
            <a:spLocks noGrp="1"/>
          </p:cNvSpPr>
          <p:nvPr/>
        </p:nvSpPr>
        <p:spPr>
          <a:xfrm>
            <a:off x="990600" y="2286000"/>
            <a:ext cx="348615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链接</a:t>
            </a:r>
          </a:p>
          <a:p>
            <a:pPr algn="ctr">
              <a:buNone/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  <a:p>
            <a:pPr algn="ctr">
              <a:buNone/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8" name="text-0030">
            <a:extLst>
              <a:ext uri="{FF2B5EF4-FFF2-40B4-BE49-F238E27FC236}">
                <a16:creationId xmlns:a16="http://schemas.microsoft.com/office/drawing/2014/main" id="{6C5A79A0-6AF9-4692-A4AE-9282952E9E39}"/>
              </a:ext>
            </a:extLst>
          </p:cNvPr>
          <p:cNvSpPr>
            <a:spLocks noGrp="1"/>
          </p:cNvSpPr>
          <p:nvPr/>
        </p:nvSpPr>
        <p:spPr>
          <a:xfrm>
            <a:off x="990600" y="4953000"/>
            <a:ext cx="3486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截图来自历史购买页</a:t>
            </a:r>
          </a:p>
        </p:txBody>
      </p:sp>
      <p:sp>
        <p:nvSpPr>
          <p:cNvPr id="9" name="text-0031">
            <a:extLst>
              <a:ext uri="{FF2B5EF4-FFF2-40B4-BE49-F238E27FC236}">
                <a16:creationId xmlns:a16="http://schemas.microsoft.com/office/drawing/2014/main" id="{4B670FEE-0A85-4346-BA82-16CE4DC6E684}"/>
              </a:ext>
            </a:extLst>
          </p:cNvPr>
          <p:cNvSpPr>
            <a:spLocks noGrp="1"/>
          </p:cNvSpPr>
          <p:nvPr/>
        </p:nvSpPr>
        <p:spPr>
          <a:xfrm>
            <a:off x="5353050" y="18097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-0032">
            <a:extLst>
              <a:ext uri="{FF2B5EF4-FFF2-40B4-BE49-F238E27FC236}">
                <a16:creationId xmlns:a16="http://schemas.microsoft.com/office/drawing/2014/main" id="{23413D25-F3CE-43DF-81DD-864967C3A2D9}"/>
              </a:ext>
            </a:extLst>
          </p:cNvPr>
          <p:cNvSpPr>
            <a:spLocks noGrp="1"/>
          </p:cNvSpPr>
          <p:nvPr/>
        </p:nvSpPr>
        <p:spPr>
          <a:xfrm>
            <a:off x="5962650" y="1809750"/>
            <a:ext cx="529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图片不是实际验收照片</a:t>
            </a:r>
          </a:p>
        </p:txBody>
      </p:sp>
      <p:sp>
        <p:nvSpPr>
          <p:cNvPr id="11" name="text-0033">
            <a:extLst>
              <a:ext uri="{FF2B5EF4-FFF2-40B4-BE49-F238E27FC236}">
                <a16:creationId xmlns:a16="http://schemas.microsoft.com/office/drawing/2014/main" id="{2DE4AB5F-7415-4E79-98E0-303468CA60DA}"/>
              </a:ext>
            </a:extLst>
          </p:cNvPr>
          <p:cNvSpPr>
            <a:spLocks noGrp="1"/>
          </p:cNvSpPr>
          <p:nvPr/>
        </p:nvSpPr>
        <p:spPr>
          <a:xfrm>
            <a:off x="5962650" y="2152650"/>
            <a:ext cx="529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外观相似不代表型号、电气参数与接口一致。</a:t>
            </a:r>
          </a:p>
        </p:txBody>
      </p:sp>
      <p:sp>
        <p:nvSpPr>
          <p:cNvPr id="12" name="text-0034">
            <a:extLst>
              <a:ext uri="{FF2B5EF4-FFF2-40B4-BE49-F238E27FC236}">
                <a16:creationId xmlns:a16="http://schemas.microsoft.com/office/drawing/2014/main" id="{B4652DEE-EE36-4570-9D10-7DAF6BABF3BB}"/>
              </a:ext>
            </a:extLst>
          </p:cNvPr>
          <p:cNvSpPr>
            <a:spLocks noGrp="1"/>
          </p:cNvSpPr>
          <p:nvPr/>
        </p:nvSpPr>
        <p:spPr>
          <a:xfrm>
            <a:off x="5353050" y="274320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0035">
            <a:extLst>
              <a:ext uri="{FF2B5EF4-FFF2-40B4-BE49-F238E27FC236}">
                <a16:creationId xmlns:a16="http://schemas.microsoft.com/office/drawing/2014/main" id="{72DA7459-8D28-4B93-81B9-88321A61968A}"/>
              </a:ext>
            </a:extLst>
          </p:cNvPr>
          <p:cNvSpPr>
            <a:spLocks noGrp="1"/>
          </p:cNvSpPr>
          <p:nvPr/>
        </p:nvSpPr>
        <p:spPr>
          <a:xfrm>
            <a:off x="5962650" y="2743200"/>
            <a:ext cx="529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价格可能是历史活动价</a:t>
            </a:r>
          </a:p>
        </p:txBody>
      </p:sp>
      <p:sp>
        <p:nvSpPr>
          <p:cNvPr id="14" name="text-0036">
            <a:extLst>
              <a:ext uri="{FF2B5EF4-FFF2-40B4-BE49-F238E27FC236}">
                <a16:creationId xmlns:a16="http://schemas.microsoft.com/office/drawing/2014/main" id="{7CBB6333-6295-43FB-935C-AAE20F872AD2}"/>
              </a:ext>
            </a:extLst>
          </p:cNvPr>
          <p:cNvSpPr>
            <a:spLocks noGrp="1"/>
          </p:cNvSpPr>
          <p:nvPr/>
        </p:nvSpPr>
        <p:spPr>
          <a:xfrm>
            <a:off x="5962650" y="3086100"/>
            <a:ext cx="529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还可能对应单只、套装或不同数量。</a:t>
            </a:r>
          </a:p>
        </p:txBody>
      </p:sp>
      <p:sp>
        <p:nvSpPr>
          <p:cNvPr id="15" name="text-0037">
            <a:extLst>
              <a:ext uri="{FF2B5EF4-FFF2-40B4-BE49-F238E27FC236}">
                <a16:creationId xmlns:a16="http://schemas.microsoft.com/office/drawing/2014/main" id="{B399BF77-656A-494F-AAAC-A968B5670720}"/>
              </a:ext>
            </a:extLst>
          </p:cNvPr>
          <p:cNvSpPr>
            <a:spLocks noGrp="1"/>
          </p:cNvSpPr>
          <p:nvPr/>
        </p:nvSpPr>
        <p:spPr>
          <a:xfrm>
            <a:off x="5353050" y="36766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-0038">
            <a:extLst>
              <a:ext uri="{FF2B5EF4-FFF2-40B4-BE49-F238E27FC236}">
                <a16:creationId xmlns:a16="http://schemas.microsoft.com/office/drawing/2014/main" id="{D55A2A07-440A-44DD-9787-C2D693205173}"/>
              </a:ext>
            </a:extLst>
          </p:cNvPr>
          <p:cNvSpPr>
            <a:spLocks noGrp="1"/>
          </p:cNvSpPr>
          <p:nvPr/>
        </p:nvSpPr>
        <p:spPr>
          <a:xfrm>
            <a:off x="5962650" y="3676650"/>
            <a:ext cx="529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下单前重新核对规格</a:t>
            </a:r>
          </a:p>
        </p:txBody>
      </p:sp>
      <p:sp>
        <p:nvSpPr>
          <p:cNvPr id="17" name="text-0039">
            <a:extLst>
              <a:ext uri="{FF2B5EF4-FFF2-40B4-BE49-F238E27FC236}">
                <a16:creationId xmlns:a16="http://schemas.microsoft.com/office/drawing/2014/main" id="{9559B512-171E-4F77-90BE-F383233CD799}"/>
              </a:ext>
            </a:extLst>
          </p:cNvPr>
          <p:cNvSpPr>
            <a:spLocks noGrp="1"/>
          </p:cNvSpPr>
          <p:nvPr/>
        </p:nvSpPr>
        <p:spPr>
          <a:xfrm>
            <a:off x="5962650" y="4019550"/>
            <a:ext cx="529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型号、数量、运费、接口、供电和当前报价都要确认。</a:t>
            </a:r>
          </a:p>
        </p:txBody>
      </p:sp>
      <p:sp>
        <p:nvSpPr>
          <p:cNvPr id="18" name="text-0040">
            <a:extLst>
              <a:ext uri="{FF2B5EF4-FFF2-40B4-BE49-F238E27FC236}">
                <a16:creationId xmlns:a16="http://schemas.microsoft.com/office/drawing/2014/main" id="{8A66380A-22E4-4941-B799-95404D67A746}"/>
              </a:ext>
            </a:extLst>
          </p:cNvPr>
          <p:cNvSpPr>
            <a:spLocks noGrp="1"/>
          </p:cNvSpPr>
          <p:nvPr/>
        </p:nvSpPr>
        <p:spPr>
          <a:xfrm>
            <a:off x="5353050" y="461010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0041">
            <a:extLst>
              <a:ext uri="{FF2B5EF4-FFF2-40B4-BE49-F238E27FC236}">
                <a16:creationId xmlns:a16="http://schemas.microsoft.com/office/drawing/2014/main" id="{0058BE8E-00BC-4424-BD2D-DEA951E04525}"/>
              </a:ext>
            </a:extLst>
          </p:cNvPr>
          <p:cNvSpPr>
            <a:spLocks noGrp="1"/>
          </p:cNvSpPr>
          <p:nvPr/>
        </p:nvSpPr>
        <p:spPr>
          <a:xfrm>
            <a:off x="5962650" y="4610100"/>
            <a:ext cx="529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先看规则与真实边界</a:t>
            </a:r>
          </a:p>
        </p:txBody>
      </p:sp>
      <p:sp>
        <p:nvSpPr>
          <p:cNvPr id="20" name="text-0042">
            <a:extLst>
              <a:ext uri="{FF2B5EF4-FFF2-40B4-BE49-F238E27FC236}">
                <a16:creationId xmlns:a16="http://schemas.microsoft.com/office/drawing/2014/main" id="{4B72C559-C190-4FD4-A112-D89A1C65CAC4}"/>
              </a:ext>
            </a:extLst>
          </p:cNvPr>
          <p:cNvSpPr>
            <a:spLocks noGrp="1"/>
          </p:cNvSpPr>
          <p:nvPr/>
        </p:nvSpPr>
        <p:spPr>
          <a:xfrm>
            <a:off x="5962650" y="4953000"/>
            <a:ext cx="529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机架、比赛规则、预算和实物规格都可能改变方案。</a:t>
            </a:r>
          </a:p>
        </p:txBody>
      </p:sp>
      <p:sp>
        <p:nvSpPr>
          <p:cNvPr id="21" name="text-0043">
            <a:extLst>
              <a:ext uri="{FF2B5EF4-FFF2-40B4-BE49-F238E27FC236}">
                <a16:creationId xmlns:a16="http://schemas.microsoft.com/office/drawing/2014/main" id="{4728679B-C93B-40E2-A8B8-52928E20E0A7}"/>
              </a:ext>
            </a:extLst>
          </p:cNvPr>
          <p:cNvSpPr>
            <a:spLocks noGrp="1"/>
          </p:cNvSpPr>
          <p:nvPr/>
        </p:nvSpPr>
        <p:spPr>
          <a:xfrm>
            <a:off x="5353050" y="5657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完整链接与历史截图保留在原 Markdown 文档中。</a:t>
            </a:r>
          </a:p>
        </p:txBody>
      </p:sp>
    </p:spTree>
    <p:extLst>
      <p:ext uri="{BB962C8B-B14F-4D97-AF65-F5344CB8AC3E}">
        <p14:creationId xmlns:p14="http://schemas.microsoft.com/office/powerpoint/2010/main" val="359808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-0044">
            <a:extLst>
              <a:ext uri="{FF2B5EF4-FFF2-40B4-BE49-F238E27FC236}">
                <a16:creationId xmlns:a16="http://schemas.microsoft.com/office/drawing/2014/main" id="{37E53F74-7228-4C90-9A89-C91935AD299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清单结构</a:t>
            </a:r>
          </a:p>
        </p:txBody>
      </p:sp>
      <p:sp>
        <p:nvSpPr>
          <p:cNvPr id="2" name="text-0045">
            <a:extLst>
              <a:ext uri="{FF2B5EF4-FFF2-40B4-BE49-F238E27FC236}">
                <a16:creationId xmlns:a16="http://schemas.microsoft.com/office/drawing/2014/main" id="{D5BE0C31-652F-472D-99E3-97A2C57D7840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方案 A 的 18 项物料，按五个子系统核对</a:t>
            </a:r>
          </a:p>
        </p:txBody>
      </p:sp>
      <p:sp>
        <p:nvSpPr>
          <p:cNvPr id="3" name="shape-0046">
            <a:extLst>
              <a:ext uri="{FF2B5EF4-FFF2-40B4-BE49-F238E27FC236}">
                <a16:creationId xmlns:a16="http://schemas.microsoft.com/office/drawing/2014/main" id="{F8C98D2D-71D6-4054-88F5-619241550D50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047">
            <a:extLst>
              <a:ext uri="{FF2B5EF4-FFF2-40B4-BE49-F238E27FC236}">
                <a16:creationId xmlns:a16="http://schemas.microsoft.com/office/drawing/2014/main" id="{4A7B453C-3B49-4445-8A70-3C7BCFA4CDB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048">
            <a:extLst>
              <a:ext uri="{FF2B5EF4-FFF2-40B4-BE49-F238E27FC236}">
                <a16:creationId xmlns:a16="http://schemas.microsoft.com/office/drawing/2014/main" id="{EC260AAC-7142-4C29-9EB9-7F874E769D37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text-0049">
            <a:extLst>
              <a:ext uri="{FF2B5EF4-FFF2-40B4-BE49-F238E27FC236}">
                <a16:creationId xmlns:a16="http://schemas.microsoft.com/office/drawing/2014/main" id="{42534F67-7188-41DF-ABCC-B7990007A376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809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4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7" name="text-0050">
            <a:extLst>
              <a:ext uri="{FF2B5EF4-FFF2-40B4-BE49-F238E27FC236}">
                <a16:creationId xmlns:a16="http://schemas.microsoft.com/office/drawing/2014/main" id="{C318DDFA-4251-4FBC-8FB4-87604C809C7D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机体与动力</a:t>
            </a:r>
          </a:p>
        </p:txBody>
      </p:sp>
      <p:sp>
        <p:nvSpPr>
          <p:cNvPr id="8" name="shape-0051">
            <a:extLst>
              <a:ext uri="{FF2B5EF4-FFF2-40B4-BE49-F238E27FC236}">
                <a16:creationId xmlns:a16="http://schemas.microsoft.com/office/drawing/2014/main" id="{ED76BCAA-7882-4624-9AE1-7946CC509331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1428750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text-0052">
            <a:extLst>
              <a:ext uri="{FF2B5EF4-FFF2-40B4-BE49-F238E27FC236}">
                <a16:creationId xmlns:a16="http://schemas.microsoft.com/office/drawing/2014/main" id="{18AA0E75-DD84-4BF2-915A-24493A662902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1809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机架 / 电机 / 电调</a:t>
            </a:r>
          </a:p>
          <a:p>
            <a:pPr algn="l">
              <a:buNone/>
              <a:def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桨 / 飞行电池 / 板端电池</a:t>
            </a:r>
          </a:p>
        </p:txBody>
      </p:sp>
      <p:sp>
        <p:nvSpPr>
          <p:cNvPr id="10" name="shape-0053">
            <a:extLst>
              <a:ext uri="{FF2B5EF4-FFF2-40B4-BE49-F238E27FC236}">
                <a16:creationId xmlns:a16="http://schemas.microsoft.com/office/drawing/2014/main" id="{E8C27604-4A10-40B7-AC8B-6ADB3AAF35DA}"/>
              </a:ext>
            </a:extLst>
          </p:cNvPr>
          <p:cNvSpPr>
            <a:spLocks noGrp="1"/>
          </p:cNvSpPr>
          <p:nvPr/>
        </p:nvSpPr>
        <p:spPr>
          <a:xfrm>
            <a:off x="2686050" y="1885950"/>
            <a:ext cx="14288" cy="3467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text-0054">
            <a:extLst>
              <a:ext uri="{FF2B5EF4-FFF2-40B4-BE49-F238E27FC236}">
                <a16:creationId xmlns:a16="http://schemas.microsoft.com/office/drawing/2014/main" id="{2AA3AF30-1994-4CCF-BBB0-C2F4C2FFA6BC}"/>
              </a:ext>
            </a:extLst>
          </p:cNvPr>
          <p:cNvSpPr>
            <a:spLocks noGrp="1"/>
          </p:cNvSpPr>
          <p:nvPr/>
        </p:nvSpPr>
        <p:spPr>
          <a:xfrm>
            <a:off x="2857500" y="1847850"/>
            <a:ext cx="1809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4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text-0055">
            <a:extLst>
              <a:ext uri="{FF2B5EF4-FFF2-40B4-BE49-F238E27FC236}">
                <a16:creationId xmlns:a16="http://schemas.microsoft.com/office/drawing/2014/main" id="{B191EEF0-6355-4BCF-8399-4C2AF91ED464}"/>
              </a:ext>
            </a:extLst>
          </p:cNvPr>
          <p:cNvSpPr>
            <a:spLocks noGrp="1"/>
          </p:cNvSpPr>
          <p:nvPr/>
        </p:nvSpPr>
        <p:spPr>
          <a:xfrm>
            <a:off x="2857500" y="28575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飞控与定位</a:t>
            </a:r>
          </a:p>
        </p:txBody>
      </p:sp>
      <p:sp>
        <p:nvSpPr>
          <p:cNvPr id="13" name="shape-0056">
            <a:extLst>
              <a:ext uri="{FF2B5EF4-FFF2-40B4-BE49-F238E27FC236}">
                <a16:creationId xmlns:a16="http://schemas.microsoft.com/office/drawing/2014/main" id="{31B3E28D-143C-4CE4-95D6-9785CBA1FD54}"/>
              </a:ext>
            </a:extLst>
          </p:cNvPr>
          <p:cNvSpPr>
            <a:spLocks noGrp="1"/>
          </p:cNvSpPr>
          <p:nvPr/>
        </p:nvSpPr>
        <p:spPr>
          <a:xfrm>
            <a:off x="2857500" y="3429000"/>
            <a:ext cx="142875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4" name="text-0057">
            <a:extLst>
              <a:ext uri="{FF2B5EF4-FFF2-40B4-BE49-F238E27FC236}">
                <a16:creationId xmlns:a16="http://schemas.microsoft.com/office/drawing/2014/main" id="{D7B157A4-7AE1-4CE3-B4B1-CA6F4D2ABD93}"/>
              </a:ext>
            </a:extLst>
          </p:cNvPr>
          <p:cNvSpPr>
            <a:spLocks noGrp="1"/>
          </p:cNvSpPr>
          <p:nvPr/>
        </p:nvSpPr>
        <p:spPr>
          <a:xfrm>
            <a:off x="2857500" y="3790950"/>
            <a:ext cx="1809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飞控 / GPS 罗盘</a:t>
            </a:r>
          </a:p>
          <a:p>
            <a:pPr algn="l">
              <a:buNone/>
              <a:def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遥控器 / 接收机</a:t>
            </a:r>
          </a:p>
        </p:txBody>
      </p:sp>
      <p:sp>
        <p:nvSpPr>
          <p:cNvPr id="15" name="shape-0058">
            <a:extLst>
              <a:ext uri="{FF2B5EF4-FFF2-40B4-BE49-F238E27FC236}">
                <a16:creationId xmlns:a16="http://schemas.microsoft.com/office/drawing/2014/main" id="{F1322C99-33E3-4465-BD71-E3924AFFE2B0}"/>
              </a:ext>
            </a:extLst>
          </p:cNvPr>
          <p:cNvSpPr>
            <a:spLocks noGrp="1"/>
          </p:cNvSpPr>
          <p:nvPr/>
        </p:nvSpPr>
        <p:spPr>
          <a:xfrm>
            <a:off x="4857750" y="1885950"/>
            <a:ext cx="14288" cy="3467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text-0059">
            <a:extLst>
              <a:ext uri="{FF2B5EF4-FFF2-40B4-BE49-F238E27FC236}">
                <a16:creationId xmlns:a16="http://schemas.microsoft.com/office/drawing/2014/main" id="{0544573D-C071-4FA5-B55C-D231AB7859DB}"/>
              </a:ext>
            </a:extLst>
          </p:cNvPr>
          <p:cNvSpPr>
            <a:spLocks noGrp="1"/>
          </p:cNvSpPr>
          <p:nvPr/>
        </p:nvSpPr>
        <p:spPr>
          <a:xfrm>
            <a:off x="5029200" y="1847850"/>
            <a:ext cx="1809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4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-0060">
            <a:extLst>
              <a:ext uri="{FF2B5EF4-FFF2-40B4-BE49-F238E27FC236}">
                <a16:creationId xmlns:a16="http://schemas.microsoft.com/office/drawing/2014/main" id="{A7B19545-A46B-40F1-A981-9A4AFD9670B2}"/>
              </a:ext>
            </a:extLst>
          </p:cNvPr>
          <p:cNvSpPr>
            <a:spLocks noGrp="1"/>
          </p:cNvSpPr>
          <p:nvPr/>
        </p:nvSpPr>
        <p:spPr>
          <a:xfrm>
            <a:off x="5029200" y="28575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计算与视觉</a:t>
            </a:r>
          </a:p>
        </p:txBody>
      </p:sp>
      <p:sp>
        <p:nvSpPr>
          <p:cNvPr id="18" name="shape-0061">
            <a:extLst>
              <a:ext uri="{FF2B5EF4-FFF2-40B4-BE49-F238E27FC236}">
                <a16:creationId xmlns:a16="http://schemas.microsoft.com/office/drawing/2014/main" id="{68B9E3ED-362C-4A34-8313-2D7024F03FF1}"/>
              </a:ext>
            </a:extLst>
          </p:cNvPr>
          <p:cNvSpPr>
            <a:spLocks noGrp="1"/>
          </p:cNvSpPr>
          <p:nvPr/>
        </p:nvSpPr>
        <p:spPr>
          <a:xfrm>
            <a:off x="5029200" y="3429000"/>
            <a:ext cx="142875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text-0062">
            <a:extLst>
              <a:ext uri="{FF2B5EF4-FFF2-40B4-BE49-F238E27FC236}">
                <a16:creationId xmlns:a16="http://schemas.microsoft.com/office/drawing/2014/main" id="{40051BAB-2796-4713-A5B8-D7E4E03A80B5}"/>
              </a:ext>
            </a:extLst>
          </p:cNvPr>
          <p:cNvSpPr>
            <a:spLocks noGrp="1"/>
          </p:cNvSpPr>
          <p:nvPr/>
        </p:nvSpPr>
        <p:spPr>
          <a:xfrm>
            <a:off x="5029200" y="3790950"/>
            <a:ext cx="1809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RK3588</a:t>
            </a:r>
          </a:p>
          <a:p>
            <a:pPr algn="l">
              <a:buNone/>
              <a:def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下视相机</a:t>
            </a:r>
          </a:p>
        </p:txBody>
      </p:sp>
      <p:sp>
        <p:nvSpPr>
          <p:cNvPr id="20" name="shape-0063">
            <a:extLst>
              <a:ext uri="{FF2B5EF4-FFF2-40B4-BE49-F238E27FC236}">
                <a16:creationId xmlns:a16="http://schemas.microsoft.com/office/drawing/2014/main" id="{1E68727F-BBC5-4BD4-AD69-214ACD83D30D}"/>
              </a:ext>
            </a:extLst>
          </p:cNvPr>
          <p:cNvSpPr>
            <a:spLocks noGrp="1"/>
          </p:cNvSpPr>
          <p:nvPr/>
        </p:nvSpPr>
        <p:spPr>
          <a:xfrm>
            <a:off x="7029450" y="1885950"/>
            <a:ext cx="14288" cy="3467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1" name="text-0064">
            <a:extLst>
              <a:ext uri="{FF2B5EF4-FFF2-40B4-BE49-F238E27FC236}">
                <a16:creationId xmlns:a16="http://schemas.microsoft.com/office/drawing/2014/main" id="{241AB92B-DFFD-4415-A8DB-2DC13FEDAB5F}"/>
              </a:ext>
            </a:extLst>
          </p:cNvPr>
          <p:cNvSpPr>
            <a:spLocks noGrp="1"/>
          </p:cNvSpPr>
          <p:nvPr/>
        </p:nvSpPr>
        <p:spPr>
          <a:xfrm>
            <a:off x="7200900" y="1847850"/>
            <a:ext cx="1809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4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text-0065">
            <a:extLst>
              <a:ext uri="{FF2B5EF4-FFF2-40B4-BE49-F238E27FC236}">
                <a16:creationId xmlns:a16="http://schemas.microsoft.com/office/drawing/2014/main" id="{ACA61571-1E59-49B6-BC6D-14395713431C}"/>
              </a:ext>
            </a:extLst>
          </p:cNvPr>
          <p:cNvSpPr>
            <a:spLocks noGrp="1"/>
          </p:cNvSpPr>
          <p:nvPr/>
        </p:nvSpPr>
        <p:spPr>
          <a:xfrm>
            <a:off x="7200900" y="28575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投放机构</a:t>
            </a:r>
          </a:p>
        </p:txBody>
      </p:sp>
      <p:sp>
        <p:nvSpPr>
          <p:cNvPr id="23" name="shape-0066">
            <a:extLst>
              <a:ext uri="{FF2B5EF4-FFF2-40B4-BE49-F238E27FC236}">
                <a16:creationId xmlns:a16="http://schemas.microsoft.com/office/drawing/2014/main" id="{07A326D0-A6E5-41B8-A05B-B075B7E517C4}"/>
              </a:ext>
            </a:extLst>
          </p:cNvPr>
          <p:cNvSpPr>
            <a:spLocks noGrp="1"/>
          </p:cNvSpPr>
          <p:nvPr/>
        </p:nvSpPr>
        <p:spPr>
          <a:xfrm>
            <a:off x="7200900" y="3429000"/>
            <a:ext cx="142875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4" name="text-0067">
            <a:extLst>
              <a:ext uri="{FF2B5EF4-FFF2-40B4-BE49-F238E27FC236}">
                <a16:creationId xmlns:a16="http://schemas.microsoft.com/office/drawing/2014/main" id="{89482AB7-CEC1-45DE-971E-1DFD00960AB8}"/>
              </a:ext>
            </a:extLst>
          </p:cNvPr>
          <p:cNvSpPr>
            <a:spLocks noGrp="1"/>
          </p:cNvSpPr>
          <p:nvPr/>
        </p:nvSpPr>
        <p:spPr>
          <a:xfrm>
            <a:off x="7200900" y="3790950"/>
            <a:ext cx="1809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20 kg 舵机</a:t>
            </a:r>
          </a:p>
          <a:p>
            <a:pPr algn="l">
              <a:buNone/>
              <a:def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投放释放机构</a:t>
            </a:r>
          </a:p>
        </p:txBody>
      </p:sp>
      <p:sp>
        <p:nvSpPr>
          <p:cNvPr id="25" name="shape-0068">
            <a:extLst>
              <a:ext uri="{FF2B5EF4-FFF2-40B4-BE49-F238E27FC236}">
                <a16:creationId xmlns:a16="http://schemas.microsoft.com/office/drawing/2014/main" id="{7B2BA734-81B8-4957-A06E-40BBBBAE9DAC}"/>
              </a:ext>
            </a:extLst>
          </p:cNvPr>
          <p:cNvSpPr>
            <a:spLocks noGrp="1"/>
          </p:cNvSpPr>
          <p:nvPr/>
        </p:nvSpPr>
        <p:spPr>
          <a:xfrm>
            <a:off x="9201150" y="1885950"/>
            <a:ext cx="14288" cy="3467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6" name="text-0069">
            <a:extLst>
              <a:ext uri="{FF2B5EF4-FFF2-40B4-BE49-F238E27FC236}">
                <a16:creationId xmlns:a16="http://schemas.microsoft.com/office/drawing/2014/main" id="{DD985777-56C6-4470-ABEE-D84A9B1C3C93}"/>
              </a:ext>
            </a:extLst>
          </p:cNvPr>
          <p:cNvSpPr>
            <a:spLocks noGrp="1"/>
          </p:cNvSpPr>
          <p:nvPr/>
        </p:nvSpPr>
        <p:spPr>
          <a:xfrm>
            <a:off x="9372600" y="1847850"/>
            <a:ext cx="1809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4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-0070">
            <a:extLst>
              <a:ext uri="{FF2B5EF4-FFF2-40B4-BE49-F238E27FC236}">
                <a16:creationId xmlns:a16="http://schemas.microsoft.com/office/drawing/2014/main" id="{D3712003-31E4-456B-A089-4C703F52482A}"/>
              </a:ext>
            </a:extLst>
          </p:cNvPr>
          <p:cNvSpPr>
            <a:spLocks noGrp="1"/>
          </p:cNvSpPr>
          <p:nvPr/>
        </p:nvSpPr>
        <p:spPr>
          <a:xfrm>
            <a:off x="9372600" y="28575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线材与结构</a:t>
            </a:r>
          </a:p>
        </p:txBody>
      </p:sp>
      <p:sp>
        <p:nvSpPr>
          <p:cNvPr id="28" name="shape-0071">
            <a:extLst>
              <a:ext uri="{FF2B5EF4-FFF2-40B4-BE49-F238E27FC236}">
                <a16:creationId xmlns:a16="http://schemas.microsoft.com/office/drawing/2014/main" id="{D2F66731-1A8D-4EF2-8A3C-A7E3F0F67FFC}"/>
              </a:ext>
            </a:extLst>
          </p:cNvPr>
          <p:cNvSpPr>
            <a:spLocks noGrp="1"/>
          </p:cNvSpPr>
          <p:nvPr/>
        </p:nvSpPr>
        <p:spPr>
          <a:xfrm>
            <a:off x="9372600" y="3429000"/>
            <a:ext cx="142875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9" name="text-0072">
            <a:extLst>
              <a:ext uri="{FF2B5EF4-FFF2-40B4-BE49-F238E27FC236}">
                <a16:creationId xmlns:a16="http://schemas.microsoft.com/office/drawing/2014/main" id="{9F110349-CD06-4785-BD22-521D14D47138}"/>
              </a:ext>
            </a:extLst>
          </p:cNvPr>
          <p:cNvSpPr>
            <a:spLocks noGrp="1"/>
          </p:cNvSpPr>
          <p:nvPr/>
        </p:nvSpPr>
        <p:spPr>
          <a:xfrm>
            <a:off x="9372600" y="3790950"/>
            <a:ext cx="1809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电源线 / 立柱</a:t>
            </a:r>
          </a:p>
          <a:p>
            <a:pPr algn="l">
              <a:buNone/>
              <a:def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脚架管 / 电池绑带</a:t>
            </a:r>
          </a:p>
        </p:txBody>
      </p:sp>
      <p:sp>
        <p:nvSpPr>
          <p:cNvPr id="30" name="shape-0073">
            <a:extLst>
              <a:ext uri="{FF2B5EF4-FFF2-40B4-BE49-F238E27FC236}">
                <a16:creationId xmlns:a16="http://schemas.microsoft.com/office/drawing/2014/main" id="{BAF9410B-4852-468D-AF4D-2A32201455E2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10820400" cy="495300"/>
          </a:xfrm>
          <a:prstGeom prst="rect">
            <a:avLst/>
          </a:prstGeom>
          <a:solidFill>
            <a:srgbClr val="F5F6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text-0074">
            <a:extLst>
              <a:ext uri="{FF2B5EF4-FFF2-40B4-BE49-F238E27FC236}">
                <a16:creationId xmlns:a16="http://schemas.microsoft.com/office/drawing/2014/main" id="{8A003316-9498-4B58-A5FD-73822A6C6488}"/>
              </a:ext>
            </a:extLst>
          </p:cNvPr>
          <p:cNvSpPr>
            <a:spLocks noGrp="1"/>
          </p:cNvSpPr>
          <p:nvPr/>
        </p:nvSpPr>
        <p:spPr>
          <a:xfrm>
            <a:off x="914400" y="5581650"/>
            <a:ext cx="1036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核对顺序：先保证动力闭环，再核对飞控与定位，最后接入计算、视觉、投放和结构件。</a:t>
            </a:r>
          </a:p>
        </p:txBody>
      </p:sp>
    </p:spTree>
    <p:extLst>
      <p:ext uri="{BB962C8B-B14F-4D97-AF65-F5344CB8AC3E}">
        <p14:creationId xmlns:p14="http://schemas.microsoft.com/office/powerpoint/2010/main" val="177749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075">
            <a:extLst>
              <a:ext uri="{FF2B5EF4-FFF2-40B4-BE49-F238E27FC236}">
                <a16:creationId xmlns:a16="http://schemas.microsoft.com/office/drawing/2014/main" id="{1E1C1F65-53CB-46D7-BF95-7B2B0B265A7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 / 机体与动力</a:t>
            </a:r>
          </a:p>
        </p:txBody>
      </p:sp>
      <p:sp>
        <p:nvSpPr>
          <p:cNvPr id="2" name="text-0076">
            <a:extLst>
              <a:ext uri="{FF2B5EF4-FFF2-40B4-BE49-F238E27FC236}">
                <a16:creationId xmlns:a16="http://schemas.microsoft.com/office/drawing/2014/main" id="{17F169DC-1DB6-460E-B7E9-3CB985442D4A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方案 A：机体与动力先形成完整闭环</a:t>
            </a:r>
          </a:p>
        </p:txBody>
      </p:sp>
      <p:sp>
        <p:nvSpPr>
          <p:cNvPr id="3" name="shape-0077">
            <a:extLst>
              <a:ext uri="{FF2B5EF4-FFF2-40B4-BE49-F238E27FC236}">
                <a16:creationId xmlns:a16="http://schemas.microsoft.com/office/drawing/2014/main" id="{BAF59583-7F2E-4E1B-8260-EFFEE6A8E7E3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078">
            <a:extLst>
              <a:ext uri="{FF2B5EF4-FFF2-40B4-BE49-F238E27FC236}">
                <a16:creationId xmlns:a16="http://schemas.microsoft.com/office/drawing/2014/main" id="{3092A5E2-BB64-4F79-9193-531CDF0AD0B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079">
            <a:extLst>
              <a:ext uri="{FF2B5EF4-FFF2-40B4-BE49-F238E27FC236}">
                <a16:creationId xmlns:a16="http://schemas.microsoft.com/office/drawing/2014/main" id="{D81FD68A-60B5-4D74-A3D5-0B23FE1680F2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text-0080">
            <a:extLst>
              <a:ext uri="{FF2B5EF4-FFF2-40B4-BE49-F238E27FC236}">
                <a16:creationId xmlns:a16="http://schemas.microsoft.com/office/drawing/2014/main" id="{A944FAEC-252C-4779-9DD4-EB61F5C27A3D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历史参考价；螺旋桨仍需按电机、电调、电池与机架重新匹配。</a:t>
            </a:r>
          </a:p>
        </p:txBody>
      </p:sp>
      <p:graphicFrame>
        <p:nvGraphicFramePr>
          <p:cNvPr id="16" name="表格 13"/>
          <p:cNvGraphicFramePr/>
          <p:nvPr/>
        </p:nvGraphicFramePr>
        <p:xfrm>
          <a:off x="685800" y="1847850"/>
          <a:ext cx="10820400" cy="4000500"/>
        </p:xfrm>
        <a:graphic>
          <a:graphicData uri="http://schemas.openxmlformats.org/drawingml/2006/table">
            <a:tbl>
              <a:tblPr firstRow="1"/>
              <a:tblGrid>
                <a:gridCol w="339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 / 型号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参考价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关键说明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机架 / ZD550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¥344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按实际布局、载荷与规则复核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电机 / 3115 900KV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¥325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低成本复现路线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电调 / 45A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必须与电机和电池共同匹配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螺旋桨 / 待定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套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¥30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不能只按直径下单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飞行电池 / 21700 6S2P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核对放电能力、重量与接口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RK3588 电池 / 3S 500mAh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¥35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板端独立供电参考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248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114">
            <a:extLst>
              <a:ext uri="{FF2B5EF4-FFF2-40B4-BE49-F238E27FC236}">
                <a16:creationId xmlns:a16="http://schemas.microsoft.com/office/drawing/2014/main" id="{347E693B-E160-400A-BE5B-AF102312F7F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 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</a:t>
            </a:r>
            <a:endParaRPr sz="135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text-0115">
            <a:extLst>
              <a:ext uri="{FF2B5EF4-FFF2-40B4-BE49-F238E27FC236}">
                <a16:creationId xmlns:a16="http://schemas.microsoft.com/office/drawing/2014/main" id="{C8D6AEF5-211D-4292-8990-B43450D2C127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方案 </a:t>
            </a:r>
            <a:r>
              <a:rPr lang="en-US" altLang="zh-CN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 </a:t>
            </a:r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购买页截图：机架与动力核心</a:t>
            </a:r>
            <a:endParaRPr sz="30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shape-0116">
            <a:extLst>
              <a:ext uri="{FF2B5EF4-FFF2-40B4-BE49-F238E27FC236}">
                <a16:creationId xmlns:a16="http://schemas.microsoft.com/office/drawing/2014/main" id="{4C9338A0-7F3A-4FE8-8607-CA4B05A2D28A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117">
            <a:extLst>
              <a:ext uri="{FF2B5EF4-FFF2-40B4-BE49-F238E27FC236}">
                <a16:creationId xmlns:a16="http://schemas.microsoft.com/office/drawing/2014/main" id="{6B1C2BA0-45BF-47DA-A664-962E4004E5A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118">
            <a:extLst>
              <a:ext uri="{FF2B5EF4-FFF2-40B4-BE49-F238E27FC236}">
                <a16:creationId xmlns:a16="http://schemas.microsoft.com/office/drawing/2014/main" id="{7B4E6C0B-03F6-43D9-95B8-F0FD53B7F62E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text-0119">
            <a:extLst>
              <a:ext uri="{FF2B5EF4-FFF2-40B4-BE49-F238E27FC236}">
                <a16:creationId xmlns:a16="http://schemas.microsoft.com/office/drawing/2014/main" id="{E4A5F59E-7340-41E9-B131-BBBE5BB818E5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120">
            <a:extLst>
              <a:ext uri="{FF2B5EF4-FFF2-40B4-BE49-F238E27FC236}">
                <a16:creationId xmlns:a16="http://schemas.microsoft.com/office/drawing/2014/main" id="{51717573-C3DD-40C1-B04A-D3D17A258A8D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ZD550 </a:t>
            </a:r>
            <a:r>
              <a:rPr lang="zh-CN" alt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机架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8" name="text-0121">
            <a:extLst>
              <a:ext uri="{FF2B5EF4-FFF2-40B4-BE49-F238E27FC236}">
                <a16:creationId xmlns:a16="http://schemas.microsoft.com/office/drawing/2014/main" id="{605CB470-1E54-40C0-B588-248902AFB511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件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" name="text-0122">
            <a:extLst>
              <a:ext uri="{FF2B5EF4-FFF2-40B4-BE49-F238E27FC236}">
                <a16:creationId xmlns:a16="http://schemas.microsoft.com/office/drawing/2014/main" id="{524B164E-E0AC-4F0C-971D-875F81CBDE36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¥344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0" name="text-0123">
            <a:extLst>
              <a:ext uri="{FF2B5EF4-FFF2-40B4-BE49-F238E27FC236}">
                <a16:creationId xmlns:a16="http://schemas.microsoft.com/office/drawing/2014/main" id="{F8DC7412-262D-4FA4-BDD6-CF08A59703A3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比赛方案记录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1" name="shape-0124">
            <a:extLst>
              <a:ext uri="{FF2B5EF4-FFF2-40B4-BE49-F238E27FC236}">
                <a16:creationId xmlns:a16="http://schemas.microsoft.com/office/drawing/2014/main" id="{AC9DB665-D067-4253-B964-5A3B2968B269}"/>
              </a:ext>
            </a:extLst>
          </p:cNvPr>
          <p:cNvSpPr>
            <a:spLocks noGrp="1"/>
          </p:cNvSpPr>
          <p:nvPr/>
        </p:nvSpPr>
        <p:spPr>
          <a:xfrm>
            <a:off x="4057650" y="1847850"/>
            <a:ext cx="14288" cy="32956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text-0125">
            <a:extLst>
              <a:ext uri="{FF2B5EF4-FFF2-40B4-BE49-F238E27FC236}">
                <a16:creationId xmlns:a16="http://schemas.microsoft.com/office/drawing/2014/main" id="{CFA2539A-D6F4-41D2-B97D-F124F81E7956}"/>
              </a:ext>
            </a:extLst>
          </p:cNvPr>
          <p:cNvSpPr>
            <a:spLocks noGrp="1"/>
          </p:cNvSpPr>
          <p:nvPr/>
        </p:nvSpPr>
        <p:spPr>
          <a:xfrm>
            <a:off x="432435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0126">
            <a:extLst>
              <a:ext uri="{FF2B5EF4-FFF2-40B4-BE49-F238E27FC236}">
                <a16:creationId xmlns:a16="http://schemas.microsoft.com/office/drawing/2014/main" id="{9ED51665-BA62-422C-BE30-773F2C9D3319}"/>
              </a:ext>
            </a:extLst>
          </p:cNvPr>
          <p:cNvSpPr>
            <a:spLocks noGrp="1"/>
          </p:cNvSpPr>
          <p:nvPr/>
        </p:nvSpPr>
        <p:spPr>
          <a:xfrm>
            <a:off x="432435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3115 900KV </a:t>
            </a:r>
            <a:r>
              <a:rPr lang="zh-CN" alt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电机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4" name="text-0127">
            <a:extLst>
              <a:ext uri="{FF2B5EF4-FFF2-40B4-BE49-F238E27FC236}">
                <a16:creationId xmlns:a16="http://schemas.microsoft.com/office/drawing/2014/main" id="{0BFAA2F3-5CF7-429F-9B6A-6577288A6715}"/>
              </a:ext>
            </a:extLst>
          </p:cNvPr>
          <p:cNvSpPr>
            <a:spLocks noGrp="1"/>
          </p:cNvSpPr>
          <p:nvPr/>
        </p:nvSpPr>
        <p:spPr>
          <a:xfrm>
            <a:off x="432435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4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台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5" name="text-0128">
            <a:extLst>
              <a:ext uri="{FF2B5EF4-FFF2-40B4-BE49-F238E27FC236}">
                <a16:creationId xmlns:a16="http://schemas.microsoft.com/office/drawing/2014/main" id="{7447BFB4-64F0-4886-801C-85D60DCA7479}"/>
              </a:ext>
            </a:extLst>
          </p:cNvPr>
          <p:cNvSpPr>
            <a:spLocks noGrp="1"/>
          </p:cNvSpPr>
          <p:nvPr/>
        </p:nvSpPr>
        <p:spPr>
          <a:xfrm>
            <a:off x="432435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¥325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6" name="text-0129">
            <a:extLst>
              <a:ext uri="{FF2B5EF4-FFF2-40B4-BE49-F238E27FC236}">
                <a16:creationId xmlns:a16="http://schemas.microsoft.com/office/drawing/2014/main" id="{576EEDCA-8B52-4BEF-943D-FEE636291BF4}"/>
              </a:ext>
            </a:extLst>
          </p:cNvPr>
          <p:cNvSpPr>
            <a:spLocks noGrp="1"/>
          </p:cNvSpPr>
          <p:nvPr/>
        </p:nvSpPr>
        <p:spPr>
          <a:xfrm>
            <a:off x="432435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核对单只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/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套装价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7" name="shape-0130">
            <a:extLst>
              <a:ext uri="{FF2B5EF4-FFF2-40B4-BE49-F238E27FC236}">
                <a16:creationId xmlns:a16="http://schemas.microsoft.com/office/drawing/2014/main" id="{FDFC2D9A-B8D3-4828-9940-3B31FB0C80A3}"/>
              </a:ext>
            </a:extLst>
          </p:cNvPr>
          <p:cNvSpPr>
            <a:spLocks noGrp="1"/>
          </p:cNvSpPr>
          <p:nvPr/>
        </p:nvSpPr>
        <p:spPr>
          <a:xfrm>
            <a:off x="7696200" y="1847850"/>
            <a:ext cx="14288" cy="32956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text-0131">
            <a:extLst>
              <a:ext uri="{FF2B5EF4-FFF2-40B4-BE49-F238E27FC236}">
                <a16:creationId xmlns:a16="http://schemas.microsoft.com/office/drawing/2014/main" id="{0EE3ACB0-B6A5-49ED-83FE-9FA0F2FB068C}"/>
              </a:ext>
            </a:extLst>
          </p:cNvPr>
          <p:cNvSpPr>
            <a:spLocks noGrp="1"/>
          </p:cNvSpPr>
          <p:nvPr/>
        </p:nvSpPr>
        <p:spPr>
          <a:xfrm>
            <a:off x="796290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-0132">
            <a:extLst>
              <a:ext uri="{FF2B5EF4-FFF2-40B4-BE49-F238E27FC236}">
                <a16:creationId xmlns:a16="http://schemas.microsoft.com/office/drawing/2014/main" id="{72C89A78-5404-4DA1-AA6F-614A2CF65481}"/>
              </a:ext>
            </a:extLst>
          </p:cNvPr>
          <p:cNvSpPr>
            <a:spLocks noGrp="1"/>
          </p:cNvSpPr>
          <p:nvPr/>
        </p:nvSpPr>
        <p:spPr>
          <a:xfrm>
            <a:off x="796290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45A </a:t>
            </a:r>
            <a:r>
              <a:rPr lang="zh-CN" alt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电调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0" name="text-0133">
            <a:extLst>
              <a:ext uri="{FF2B5EF4-FFF2-40B4-BE49-F238E27FC236}">
                <a16:creationId xmlns:a16="http://schemas.microsoft.com/office/drawing/2014/main" id="{6AA1A9C4-3279-4F5B-8D6E-C9D111F94DF8}"/>
              </a:ext>
            </a:extLst>
          </p:cNvPr>
          <p:cNvSpPr>
            <a:spLocks noGrp="1"/>
          </p:cNvSpPr>
          <p:nvPr/>
        </p:nvSpPr>
        <p:spPr>
          <a:xfrm>
            <a:off x="796290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4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个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1" name="text-0134">
            <a:extLst>
              <a:ext uri="{FF2B5EF4-FFF2-40B4-BE49-F238E27FC236}">
                <a16:creationId xmlns:a16="http://schemas.microsoft.com/office/drawing/2014/main" id="{E57DF2C9-F05A-4961-93D1-BAC4BCB2DF43}"/>
              </a:ext>
            </a:extLst>
          </p:cNvPr>
          <p:cNvSpPr>
            <a:spLocks noGrp="1"/>
          </p:cNvSpPr>
          <p:nvPr/>
        </p:nvSpPr>
        <p:spPr>
          <a:xfrm>
            <a:off x="796290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¥170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2" name="text-0135">
            <a:extLst>
              <a:ext uri="{FF2B5EF4-FFF2-40B4-BE49-F238E27FC236}">
                <a16:creationId xmlns:a16="http://schemas.microsoft.com/office/drawing/2014/main" id="{9F8FC4B5-07D2-486C-A6AC-6E08A33086E5}"/>
              </a:ext>
            </a:extLst>
          </p:cNvPr>
          <p:cNvSpPr>
            <a:spLocks noGrp="1"/>
          </p:cNvSpPr>
          <p:nvPr/>
        </p:nvSpPr>
        <p:spPr>
          <a:xfrm>
            <a:off x="796290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与动力系统整体匹配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3" name="shape-0136">
            <a:extLst>
              <a:ext uri="{FF2B5EF4-FFF2-40B4-BE49-F238E27FC236}">
                <a16:creationId xmlns:a16="http://schemas.microsoft.com/office/drawing/2014/main" id="{21E441CA-CFF3-4A86-979E-D553DBAA2BC4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820400" cy="57150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24" name="text-0137">
            <a:extLst>
              <a:ext uri="{FF2B5EF4-FFF2-40B4-BE49-F238E27FC236}">
                <a16:creationId xmlns:a16="http://schemas.microsoft.com/office/drawing/2014/main" id="{6D7D39CC-D9DB-4D11-807A-5C3982EF48F9}"/>
              </a:ext>
            </a:extLst>
          </p:cNvPr>
          <p:cNvSpPr>
            <a:spLocks noGrp="1"/>
          </p:cNvSpPr>
          <p:nvPr/>
        </p:nvSpPr>
        <p:spPr>
          <a:xfrm>
            <a:off x="914400" y="5524500"/>
            <a:ext cx="1036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购买页截图仅作型号与外观线索；下单前核对规格、数量与当前价。</a:t>
            </a:r>
            <a:endParaRPr sz="13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97532"/>
            <a:ext cx="3143250" cy="1443735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24350" y="2097532"/>
            <a:ext cx="3143250" cy="1443735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62900" y="2097532"/>
            <a:ext cx="3143250" cy="144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7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114">
            <a:extLst>
              <a:ext uri="{FF2B5EF4-FFF2-40B4-BE49-F238E27FC236}">
                <a16:creationId xmlns:a16="http://schemas.microsoft.com/office/drawing/2014/main" id="{347E693B-E160-400A-BE5B-AF102312F7F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 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</a:t>
            </a:r>
            <a:endParaRPr sz="135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text-0115">
            <a:extLst>
              <a:ext uri="{FF2B5EF4-FFF2-40B4-BE49-F238E27FC236}">
                <a16:creationId xmlns:a16="http://schemas.microsoft.com/office/drawing/2014/main" id="{C8D6AEF5-211D-4292-8990-B43450D2C127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方案 </a:t>
            </a:r>
            <a:r>
              <a:rPr lang="en-US" altLang="zh-CN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 </a:t>
            </a:r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购买页截图：螺旋桨与两块电池</a:t>
            </a:r>
            <a:endParaRPr sz="30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shape-0116">
            <a:extLst>
              <a:ext uri="{FF2B5EF4-FFF2-40B4-BE49-F238E27FC236}">
                <a16:creationId xmlns:a16="http://schemas.microsoft.com/office/drawing/2014/main" id="{4C9338A0-7F3A-4FE8-8607-CA4B05A2D28A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117">
            <a:extLst>
              <a:ext uri="{FF2B5EF4-FFF2-40B4-BE49-F238E27FC236}">
                <a16:creationId xmlns:a16="http://schemas.microsoft.com/office/drawing/2014/main" id="{6B1C2BA0-45BF-47DA-A664-962E4004E5A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118">
            <a:extLst>
              <a:ext uri="{FF2B5EF4-FFF2-40B4-BE49-F238E27FC236}">
                <a16:creationId xmlns:a16="http://schemas.microsoft.com/office/drawing/2014/main" id="{7B4E6C0B-03F6-43D9-95B8-F0FD53B7F62E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text-0119">
            <a:extLst>
              <a:ext uri="{FF2B5EF4-FFF2-40B4-BE49-F238E27FC236}">
                <a16:creationId xmlns:a16="http://schemas.microsoft.com/office/drawing/2014/main" id="{E4A5F59E-7340-41E9-B131-BBBE5BB818E5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120">
            <a:extLst>
              <a:ext uri="{FF2B5EF4-FFF2-40B4-BE49-F238E27FC236}">
                <a16:creationId xmlns:a16="http://schemas.microsoft.com/office/drawing/2014/main" id="{51717573-C3DD-40C1-B04A-D3D17A258A8D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螺旋桨 </a:t>
            </a:r>
            <a:r>
              <a:rPr lang="en-US" altLang="zh-CN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/ </a:t>
            </a:r>
            <a:r>
              <a:rPr lang="zh-CN" alt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待定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8" name="text-0121">
            <a:extLst>
              <a:ext uri="{FF2B5EF4-FFF2-40B4-BE49-F238E27FC236}">
                <a16:creationId xmlns:a16="http://schemas.microsoft.com/office/drawing/2014/main" id="{605CB470-1E54-40C0-B588-248902AFB511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套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" name="text-0122">
            <a:extLst>
              <a:ext uri="{FF2B5EF4-FFF2-40B4-BE49-F238E27FC236}">
                <a16:creationId xmlns:a16="http://schemas.microsoft.com/office/drawing/2014/main" id="{524B164E-E0AC-4F0C-971D-875F81CBDE36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¥30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0" name="text-0123">
            <a:extLst>
              <a:ext uri="{FF2B5EF4-FFF2-40B4-BE49-F238E27FC236}">
                <a16:creationId xmlns:a16="http://schemas.microsoft.com/office/drawing/2014/main" id="{F8DC7412-262D-4FA4-BDD6-CF08A59703A3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规格仍需确认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1" name="shape-0124">
            <a:extLst>
              <a:ext uri="{FF2B5EF4-FFF2-40B4-BE49-F238E27FC236}">
                <a16:creationId xmlns:a16="http://schemas.microsoft.com/office/drawing/2014/main" id="{AC9DB665-D067-4253-B964-5A3B2968B269}"/>
              </a:ext>
            </a:extLst>
          </p:cNvPr>
          <p:cNvSpPr>
            <a:spLocks noGrp="1"/>
          </p:cNvSpPr>
          <p:nvPr/>
        </p:nvSpPr>
        <p:spPr>
          <a:xfrm>
            <a:off x="4057650" y="1847850"/>
            <a:ext cx="14288" cy="32956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text-0125">
            <a:extLst>
              <a:ext uri="{FF2B5EF4-FFF2-40B4-BE49-F238E27FC236}">
                <a16:creationId xmlns:a16="http://schemas.microsoft.com/office/drawing/2014/main" id="{CFA2539A-D6F4-41D2-B97D-F124F81E7956}"/>
              </a:ext>
            </a:extLst>
          </p:cNvPr>
          <p:cNvSpPr>
            <a:spLocks noGrp="1"/>
          </p:cNvSpPr>
          <p:nvPr/>
        </p:nvSpPr>
        <p:spPr>
          <a:xfrm>
            <a:off x="432435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0126">
            <a:extLst>
              <a:ext uri="{FF2B5EF4-FFF2-40B4-BE49-F238E27FC236}">
                <a16:creationId xmlns:a16="http://schemas.microsoft.com/office/drawing/2014/main" id="{9ED51665-BA62-422C-BE30-773F2C9D3319}"/>
              </a:ext>
            </a:extLst>
          </p:cNvPr>
          <p:cNvSpPr>
            <a:spLocks noGrp="1"/>
          </p:cNvSpPr>
          <p:nvPr/>
        </p:nvSpPr>
        <p:spPr>
          <a:xfrm>
            <a:off x="432435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21700 6S2P </a:t>
            </a:r>
            <a:r>
              <a:rPr lang="zh-CN" alt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电池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4" name="text-0127">
            <a:extLst>
              <a:ext uri="{FF2B5EF4-FFF2-40B4-BE49-F238E27FC236}">
                <a16:creationId xmlns:a16="http://schemas.microsoft.com/office/drawing/2014/main" id="{0BFAA2F3-5CF7-429F-9B6A-6577288A6715}"/>
              </a:ext>
            </a:extLst>
          </p:cNvPr>
          <p:cNvSpPr>
            <a:spLocks noGrp="1"/>
          </p:cNvSpPr>
          <p:nvPr/>
        </p:nvSpPr>
        <p:spPr>
          <a:xfrm>
            <a:off x="432435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块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5" name="text-0128">
            <a:extLst>
              <a:ext uri="{FF2B5EF4-FFF2-40B4-BE49-F238E27FC236}">
                <a16:creationId xmlns:a16="http://schemas.microsoft.com/office/drawing/2014/main" id="{7447BFB4-64F0-4886-801C-85D60DCA7479}"/>
              </a:ext>
            </a:extLst>
          </p:cNvPr>
          <p:cNvSpPr>
            <a:spLocks noGrp="1"/>
          </p:cNvSpPr>
          <p:nvPr/>
        </p:nvSpPr>
        <p:spPr>
          <a:xfrm>
            <a:off x="432435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¥300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6" name="text-0129">
            <a:extLst>
              <a:ext uri="{FF2B5EF4-FFF2-40B4-BE49-F238E27FC236}">
                <a16:creationId xmlns:a16="http://schemas.microsoft.com/office/drawing/2014/main" id="{576EEDCA-8B52-4BEF-943D-FEE636291BF4}"/>
              </a:ext>
            </a:extLst>
          </p:cNvPr>
          <p:cNvSpPr>
            <a:spLocks noGrp="1"/>
          </p:cNvSpPr>
          <p:nvPr/>
        </p:nvSpPr>
        <p:spPr>
          <a:xfrm>
            <a:off x="432435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核对放电与接口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7" name="shape-0130">
            <a:extLst>
              <a:ext uri="{FF2B5EF4-FFF2-40B4-BE49-F238E27FC236}">
                <a16:creationId xmlns:a16="http://schemas.microsoft.com/office/drawing/2014/main" id="{FDFC2D9A-B8D3-4828-9940-3B31FB0C80A3}"/>
              </a:ext>
            </a:extLst>
          </p:cNvPr>
          <p:cNvSpPr>
            <a:spLocks noGrp="1"/>
          </p:cNvSpPr>
          <p:nvPr/>
        </p:nvSpPr>
        <p:spPr>
          <a:xfrm>
            <a:off x="7696200" y="1847850"/>
            <a:ext cx="14288" cy="32956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text-0131">
            <a:extLst>
              <a:ext uri="{FF2B5EF4-FFF2-40B4-BE49-F238E27FC236}">
                <a16:creationId xmlns:a16="http://schemas.microsoft.com/office/drawing/2014/main" id="{0EE3ACB0-B6A5-49ED-83FE-9FA0F2FB068C}"/>
              </a:ext>
            </a:extLst>
          </p:cNvPr>
          <p:cNvSpPr>
            <a:spLocks noGrp="1"/>
          </p:cNvSpPr>
          <p:nvPr/>
        </p:nvSpPr>
        <p:spPr>
          <a:xfrm>
            <a:off x="796290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-0132">
            <a:extLst>
              <a:ext uri="{FF2B5EF4-FFF2-40B4-BE49-F238E27FC236}">
                <a16:creationId xmlns:a16="http://schemas.microsoft.com/office/drawing/2014/main" id="{72C89A78-5404-4DA1-AA6F-614A2CF65481}"/>
              </a:ext>
            </a:extLst>
          </p:cNvPr>
          <p:cNvSpPr>
            <a:spLocks noGrp="1"/>
          </p:cNvSpPr>
          <p:nvPr/>
        </p:nvSpPr>
        <p:spPr>
          <a:xfrm>
            <a:off x="796290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RK3588 3S 500mAh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0" name="text-0133">
            <a:extLst>
              <a:ext uri="{FF2B5EF4-FFF2-40B4-BE49-F238E27FC236}">
                <a16:creationId xmlns:a16="http://schemas.microsoft.com/office/drawing/2014/main" id="{6AA1A9C4-3279-4F5B-8D6E-C9D111F94DF8}"/>
              </a:ext>
            </a:extLst>
          </p:cNvPr>
          <p:cNvSpPr>
            <a:spLocks noGrp="1"/>
          </p:cNvSpPr>
          <p:nvPr/>
        </p:nvSpPr>
        <p:spPr>
          <a:xfrm>
            <a:off x="796290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块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1" name="text-0134">
            <a:extLst>
              <a:ext uri="{FF2B5EF4-FFF2-40B4-BE49-F238E27FC236}">
                <a16:creationId xmlns:a16="http://schemas.microsoft.com/office/drawing/2014/main" id="{E57DF2C9-F05A-4961-93D1-BAC4BCB2DF43}"/>
              </a:ext>
            </a:extLst>
          </p:cNvPr>
          <p:cNvSpPr>
            <a:spLocks noGrp="1"/>
          </p:cNvSpPr>
          <p:nvPr/>
        </p:nvSpPr>
        <p:spPr>
          <a:xfrm>
            <a:off x="796290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¥35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2" name="text-0135">
            <a:extLst>
              <a:ext uri="{FF2B5EF4-FFF2-40B4-BE49-F238E27FC236}">
                <a16:creationId xmlns:a16="http://schemas.microsoft.com/office/drawing/2014/main" id="{9F8FC4B5-07D2-486C-A6AC-6E08A33086E5}"/>
              </a:ext>
            </a:extLst>
          </p:cNvPr>
          <p:cNvSpPr>
            <a:spLocks noGrp="1"/>
          </p:cNvSpPr>
          <p:nvPr/>
        </p:nvSpPr>
        <p:spPr>
          <a:xfrm>
            <a:off x="796290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机载电脑独立供电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3" name="shape-0136">
            <a:extLst>
              <a:ext uri="{FF2B5EF4-FFF2-40B4-BE49-F238E27FC236}">
                <a16:creationId xmlns:a16="http://schemas.microsoft.com/office/drawing/2014/main" id="{21E441CA-CFF3-4A86-979E-D553DBAA2BC4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820400" cy="57150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24" name="text-0137">
            <a:extLst>
              <a:ext uri="{FF2B5EF4-FFF2-40B4-BE49-F238E27FC236}">
                <a16:creationId xmlns:a16="http://schemas.microsoft.com/office/drawing/2014/main" id="{6D7D39CC-D9DB-4D11-807A-5C3982EF48F9}"/>
              </a:ext>
            </a:extLst>
          </p:cNvPr>
          <p:cNvSpPr>
            <a:spLocks noGrp="1"/>
          </p:cNvSpPr>
          <p:nvPr/>
        </p:nvSpPr>
        <p:spPr>
          <a:xfrm>
            <a:off x="914400" y="5524500"/>
            <a:ext cx="1036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动力系统要整体匹配；电池接口、放电能力和重量必须复核。</a:t>
            </a:r>
            <a:endParaRPr sz="13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97532"/>
            <a:ext cx="3143250" cy="1443735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24350" y="2097532"/>
            <a:ext cx="3143250" cy="1443735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62900" y="2097532"/>
            <a:ext cx="3143250" cy="144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7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081">
            <a:extLst>
              <a:ext uri="{FF2B5EF4-FFF2-40B4-BE49-F238E27FC236}">
                <a16:creationId xmlns:a16="http://schemas.microsoft.com/office/drawing/2014/main" id="{87F677F4-FE73-468B-9811-F49C7DE5509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 / 核心电子</a:t>
            </a:r>
          </a:p>
        </p:txBody>
      </p:sp>
      <p:sp>
        <p:nvSpPr>
          <p:cNvPr id="2" name="text-0082">
            <a:extLst>
              <a:ext uri="{FF2B5EF4-FFF2-40B4-BE49-F238E27FC236}">
                <a16:creationId xmlns:a16="http://schemas.microsoft.com/office/drawing/2014/main" id="{FCA2935F-637B-4EE7-A73D-B565835DE909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方案 A：飞控、定位、计算与视觉共同构成自主链路</a:t>
            </a:r>
          </a:p>
        </p:txBody>
      </p:sp>
      <p:sp>
        <p:nvSpPr>
          <p:cNvPr id="3" name="shape-0083">
            <a:extLst>
              <a:ext uri="{FF2B5EF4-FFF2-40B4-BE49-F238E27FC236}">
                <a16:creationId xmlns:a16="http://schemas.microsoft.com/office/drawing/2014/main" id="{46F42E0C-D50B-4A1D-BB51-988B8FBF17C0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084">
            <a:extLst>
              <a:ext uri="{FF2B5EF4-FFF2-40B4-BE49-F238E27FC236}">
                <a16:creationId xmlns:a16="http://schemas.microsoft.com/office/drawing/2014/main" id="{15EDE4E7-756C-404F-BD3E-4A12F4DDBF3F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085">
            <a:extLst>
              <a:ext uri="{FF2B5EF4-FFF2-40B4-BE49-F238E27FC236}">
                <a16:creationId xmlns:a16="http://schemas.microsoft.com/office/drawing/2014/main" id="{10AC54DB-F6DB-42D1-8011-E6E3CE71B815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text-0086">
            <a:extLst>
              <a:ext uri="{FF2B5EF4-FFF2-40B4-BE49-F238E27FC236}">
                <a16:creationId xmlns:a16="http://schemas.microsoft.com/office/drawing/2014/main" id="{66D4F459-3D8C-473B-A540-06A9CC51A2FA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赞助或已有硬件仍应计入“完整成本”；替代件必须验证接口和软件兼容性。</a:t>
            </a:r>
          </a:p>
        </p:txBody>
      </p:sp>
      <p:graphicFrame>
        <p:nvGraphicFramePr>
          <p:cNvPr id="16" name="表格 13"/>
          <p:cNvGraphicFramePr/>
          <p:nvPr/>
        </p:nvGraphicFramePr>
        <p:xfrm>
          <a:off x="685800" y="1847850"/>
          <a:ext cx="10820400" cy="4000500"/>
        </p:xfrm>
        <a:graphic>
          <a:graphicData uri="http://schemas.openxmlformats.org/drawingml/2006/table">
            <a:tbl>
              <a:tblPr firstRow="1"/>
              <a:tblGrid>
                <a:gridCol w="339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 / 型号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参考价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关键说明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飞控 / CUAV 7Nano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赞助 / ¥1,300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可用约 ¥300 的 H743 替代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GPS 罗盘 / CUAV NEO 3X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赞助 / ¥650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可用约 ¥100 的 M10 GNSS 替代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遥控器 / 自有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不计入参考总价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接收机 / ELRS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¥40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与遥控器链路匹配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RK3588 / FriendlyElec NanoPi T6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 / ¥1,450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承担板端应用与视觉推理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下视相机 / 720P 2.8mm 无畸变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¥60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可按视场与安装替换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9171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114">
            <a:extLst>
              <a:ext uri="{FF2B5EF4-FFF2-40B4-BE49-F238E27FC236}">
                <a16:creationId xmlns:a16="http://schemas.microsoft.com/office/drawing/2014/main" id="{347E693B-E160-400A-BE5B-AF102312F7F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 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</a:t>
            </a:r>
            <a:endParaRPr sz="135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text-0115">
            <a:extLst>
              <a:ext uri="{FF2B5EF4-FFF2-40B4-BE49-F238E27FC236}">
                <a16:creationId xmlns:a16="http://schemas.microsoft.com/office/drawing/2014/main" id="{C8D6AEF5-211D-4292-8990-B43450D2C127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方案 </a:t>
            </a:r>
            <a:r>
              <a:rPr lang="en-US" altLang="zh-CN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 </a:t>
            </a:r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购买页截图：飞控与无线链路</a:t>
            </a:r>
            <a:endParaRPr sz="30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shape-0116">
            <a:extLst>
              <a:ext uri="{FF2B5EF4-FFF2-40B4-BE49-F238E27FC236}">
                <a16:creationId xmlns:a16="http://schemas.microsoft.com/office/drawing/2014/main" id="{4C9338A0-7F3A-4FE8-8607-CA4B05A2D28A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117">
            <a:extLst>
              <a:ext uri="{FF2B5EF4-FFF2-40B4-BE49-F238E27FC236}">
                <a16:creationId xmlns:a16="http://schemas.microsoft.com/office/drawing/2014/main" id="{6B1C2BA0-45BF-47DA-A664-962E4004E5A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118">
            <a:extLst>
              <a:ext uri="{FF2B5EF4-FFF2-40B4-BE49-F238E27FC236}">
                <a16:creationId xmlns:a16="http://schemas.microsoft.com/office/drawing/2014/main" id="{7B4E6C0B-03F6-43D9-95B8-F0FD53B7F62E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text-0119">
            <a:extLst>
              <a:ext uri="{FF2B5EF4-FFF2-40B4-BE49-F238E27FC236}">
                <a16:creationId xmlns:a16="http://schemas.microsoft.com/office/drawing/2014/main" id="{E4A5F59E-7340-41E9-B131-BBBE5BB818E5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120">
            <a:extLst>
              <a:ext uri="{FF2B5EF4-FFF2-40B4-BE49-F238E27FC236}">
                <a16:creationId xmlns:a16="http://schemas.microsoft.com/office/drawing/2014/main" id="{51717573-C3DD-40C1-B04A-D3D17A258A8D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CUAV 7Nano </a:t>
            </a:r>
            <a:r>
              <a:rPr lang="zh-CN" alt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飞控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8" name="text-0121">
            <a:extLst>
              <a:ext uri="{FF2B5EF4-FFF2-40B4-BE49-F238E27FC236}">
                <a16:creationId xmlns:a16="http://schemas.microsoft.com/office/drawing/2014/main" id="{605CB470-1E54-40C0-B588-248902AFB511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个 </a:t>
            </a: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赞助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" name="text-0122">
            <a:extLst>
              <a:ext uri="{FF2B5EF4-FFF2-40B4-BE49-F238E27FC236}">
                <a16:creationId xmlns:a16="http://schemas.microsoft.com/office/drawing/2014/main" id="{524B164E-E0AC-4F0C-971D-875F81CBDE36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¥1,300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0" name="text-0123">
            <a:extLst>
              <a:ext uri="{FF2B5EF4-FFF2-40B4-BE49-F238E27FC236}">
                <a16:creationId xmlns:a16="http://schemas.microsoft.com/office/drawing/2014/main" id="{F8DC7412-262D-4FA4-BDD6-CF08A59703A3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可换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H743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1" name="shape-0124">
            <a:extLst>
              <a:ext uri="{FF2B5EF4-FFF2-40B4-BE49-F238E27FC236}">
                <a16:creationId xmlns:a16="http://schemas.microsoft.com/office/drawing/2014/main" id="{AC9DB665-D067-4253-B964-5A3B2968B269}"/>
              </a:ext>
            </a:extLst>
          </p:cNvPr>
          <p:cNvSpPr>
            <a:spLocks noGrp="1"/>
          </p:cNvSpPr>
          <p:nvPr/>
        </p:nvSpPr>
        <p:spPr>
          <a:xfrm>
            <a:off x="4057650" y="1847850"/>
            <a:ext cx="14288" cy="32956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text-0125">
            <a:extLst>
              <a:ext uri="{FF2B5EF4-FFF2-40B4-BE49-F238E27FC236}">
                <a16:creationId xmlns:a16="http://schemas.microsoft.com/office/drawing/2014/main" id="{CFA2539A-D6F4-41D2-B97D-F124F81E7956}"/>
              </a:ext>
            </a:extLst>
          </p:cNvPr>
          <p:cNvSpPr>
            <a:spLocks noGrp="1"/>
          </p:cNvSpPr>
          <p:nvPr/>
        </p:nvSpPr>
        <p:spPr>
          <a:xfrm>
            <a:off x="432435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0126">
            <a:extLst>
              <a:ext uri="{FF2B5EF4-FFF2-40B4-BE49-F238E27FC236}">
                <a16:creationId xmlns:a16="http://schemas.microsoft.com/office/drawing/2014/main" id="{9ED51665-BA62-422C-BE30-773F2C9D3319}"/>
              </a:ext>
            </a:extLst>
          </p:cNvPr>
          <p:cNvSpPr>
            <a:spLocks noGrp="1"/>
          </p:cNvSpPr>
          <p:nvPr/>
        </p:nvSpPr>
        <p:spPr>
          <a:xfrm>
            <a:off x="432435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CUAV NEO 3X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4" name="text-0127">
            <a:extLst>
              <a:ext uri="{FF2B5EF4-FFF2-40B4-BE49-F238E27FC236}">
                <a16:creationId xmlns:a16="http://schemas.microsoft.com/office/drawing/2014/main" id="{0BFAA2F3-5CF7-429F-9B6A-6577288A6715}"/>
              </a:ext>
            </a:extLst>
          </p:cNvPr>
          <p:cNvSpPr>
            <a:spLocks noGrp="1"/>
          </p:cNvSpPr>
          <p:nvPr/>
        </p:nvSpPr>
        <p:spPr>
          <a:xfrm>
            <a:off x="432435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个 </a:t>
            </a: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赞助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5" name="text-0128">
            <a:extLst>
              <a:ext uri="{FF2B5EF4-FFF2-40B4-BE49-F238E27FC236}">
                <a16:creationId xmlns:a16="http://schemas.microsoft.com/office/drawing/2014/main" id="{7447BFB4-64F0-4886-801C-85D60DCA7479}"/>
              </a:ext>
            </a:extLst>
          </p:cNvPr>
          <p:cNvSpPr>
            <a:spLocks noGrp="1"/>
          </p:cNvSpPr>
          <p:nvPr/>
        </p:nvSpPr>
        <p:spPr>
          <a:xfrm>
            <a:off x="432435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¥650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6" name="text-0129">
            <a:extLst>
              <a:ext uri="{FF2B5EF4-FFF2-40B4-BE49-F238E27FC236}">
                <a16:creationId xmlns:a16="http://schemas.microsoft.com/office/drawing/2014/main" id="{576EEDCA-8B52-4BEF-943D-FEE636291BF4}"/>
              </a:ext>
            </a:extLst>
          </p:cNvPr>
          <p:cNvSpPr>
            <a:spLocks noGrp="1"/>
          </p:cNvSpPr>
          <p:nvPr/>
        </p:nvSpPr>
        <p:spPr>
          <a:xfrm>
            <a:off x="432435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可换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M10 GNSS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7" name="shape-0130">
            <a:extLst>
              <a:ext uri="{FF2B5EF4-FFF2-40B4-BE49-F238E27FC236}">
                <a16:creationId xmlns:a16="http://schemas.microsoft.com/office/drawing/2014/main" id="{FDFC2D9A-B8D3-4828-9940-3B31FB0C80A3}"/>
              </a:ext>
            </a:extLst>
          </p:cNvPr>
          <p:cNvSpPr>
            <a:spLocks noGrp="1"/>
          </p:cNvSpPr>
          <p:nvPr/>
        </p:nvSpPr>
        <p:spPr>
          <a:xfrm>
            <a:off x="7696200" y="1847850"/>
            <a:ext cx="14288" cy="32956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text-0131">
            <a:extLst>
              <a:ext uri="{FF2B5EF4-FFF2-40B4-BE49-F238E27FC236}">
                <a16:creationId xmlns:a16="http://schemas.microsoft.com/office/drawing/2014/main" id="{0EE3ACB0-B6A5-49ED-83FE-9FA0F2FB068C}"/>
              </a:ext>
            </a:extLst>
          </p:cNvPr>
          <p:cNvSpPr>
            <a:spLocks noGrp="1"/>
          </p:cNvSpPr>
          <p:nvPr/>
        </p:nvSpPr>
        <p:spPr>
          <a:xfrm>
            <a:off x="796290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-0132">
            <a:extLst>
              <a:ext uri="{FF2B5EF4-FFF2-40B4-BE49-F238E27FC236}">
                <a16:creationId xmlns:a16="http://schemas.microsoft.com/office/drawing/2014/main" id="{72C89A78-5404-4DA1-AA6F-614A2CF65481}"/>
              </a:ext>
            </a:extLst>
          </p:cNvPr>
          <p:cNvSpPr>
            <a:spLocks noGrp="1"/>
          </p:cNvSpPr>
          <p:nvPr/>
        </p:nvSpPr>
        <p:spPr>
          <a:xfrm>
            <a:off x="796290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ELRS </a:t>
            </a:r>
            <a:r>
              <a:rPr lang="zh-CN" alt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接收机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0" name="text-0133">
            <a:extLst>
              <a:ext uri="{FF2B5EF4-FFF2-40B4-BE49-F238E27FC236}">
                <a16:creationId xmlns:a16="http://schemas.microsoft.com/office/drawing/2014/main" id="{6AA1A9C4-3279-4F5B-8D6E-C9D111F94DF8}"/>
              </a:ext>
            </a:extLst>
          </p:cNvPr>
          <p:cNvSpPr>
            <a:spLocks noGrp="1"/>
          </p:cNvSpPr>
          <p:nvPr/>
        </p:nvSpPr>
        <p:spPr>
          <a:xfrm>
            <a:off x="796290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个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1" name="text-0134">
            <a:extLst>
              <a:ext uri="{FF2B5EF4-FFF2-40B4-BE49-F238E27FC236}">
                <a16:creationId xmlns:a16="http://schemas.microsoft.com/office/drawing/2014/main" id="{E57DF2C9-F05A-4961-93D1-BAC4BCB2DF43}"/>
              </a:ext>
            </a:extLst>
          </p:cNvPr>
          <p:cNvSpPr>
            <a:spLocks noGrp="1"/>
          </p:cNvSpPr>
          <p:nvPr/>
        </p:nvSpPr>
        <p:spPr>
          <a:xfrm>
            <a:off x="796290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¥40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2" name="text-0135">
            <a:extLst>
              <a:ext uri="{FF2B5EF4-FFF2-40B4-BE49-F238E27FC236}">
                <a16:creationId xmlns:a16="http://schemas.microsoft.com/office/drawing/2014/main" id="{9F8FC4B5-07D2-486C-A6AC-6E08A33086E5}"/>
              </a:ext>
            </a:extLst>
          </p:cNvPr>
          <p:cNvSpPr>
            <a:spLocks noGrp="1"/>
          </p:cNvSpPr>
          <p:nvPr/>
        </p:nvSpPr>
        <p:spPr>
          <a:xfrm>
            <a:off x="796290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协议需匹配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3" name="shape-0136">
            <a:extLst>
              <a:ext uri="{FF2B5EF4-FFF2-40B4-BE49-F238E27FC236}">
                <a16:creationId xmlns:a16="http://schemas.microsoft.com/office/drawing/2014/main" id="{21E441CA-CFF3-4A86-979E-D553DBAA2BC4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820400" cy="57150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24" name="text-0137">
            <a:extLst>
              <a:ext uri="{FF2B5EF4-FFF2-40B4-BE49-F238E27FC236}">
                <a16:creationId xmlns:a16="http://schemas.microsoft.com/office/drawing/2014/main" id="{6D7D39CC-D9DB-4D11-807A-5C3982EF48F9}"/>
              </a:ext>
            </a:extLst>
          </p:cNvPr>
          <p:cNvSpPr>
            <a:spLocks noGrp="1"/>
          </p:cNvSpPr>
          <p:nvPr/>
        </p:nvSpPr>
        <p:spPr>
          <a:xfrm>
            <a:off x="914400" y="5524500"/>
            <a:ext cx="1036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替代飞控或 </a:t>
            </a:r>
            <a:r>
              <a:rPr lang="en-US" sz="13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GNSS </a:t>
            </a:r>
            <a:r>
              <a:rPr lang="zh-CN" altLang="en-US" sz="13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前，先验证接口、固件与 </a:t>
            </a:r>
            <a:r>
              <a:rPr lang="en-US" sz="13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ArduPilot </a:t>
            </a:r>
            <a:r>
              <a:rPr lang="zh-CN" altLang="en-US" sz="13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兼容性。</a:t>
            </a:r>
            <a:endParaRPr sz="13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97532"/>
            <a:ext cx="3143250" cy="1443735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24350" y="2097532"/>
            <a:ext cx="3143250" cy="1443735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62900" y="2097532"/>
            <a:ext cx="3143250" cy="144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7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114">
            <a:extLst>
              <a:ext uri="{FF2B5EF4-FFF2-40B4-BE49-F238E27FC236}">
                <a16:creationId xmlns:a16="http://schemas.microsoft.com/office/drawing/2014/main" id="{347E693B-E160-400A-BE5B-AF102312F7F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 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</a:t>
            </a:r>
            <a:endParaRPr sz="135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text-0115">
            <a:extLst>
              <a:ext uri="{FF2B5EF4-FFF2-40B4-BE49-F238E27FC236}">
                <a16:creationId xmlns:a16="http://schemas.microsoft.com/office/drawing/2014/main" id="{C8D6AEF5-211D-4292-8990-B43450D2C127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方案 </a:t>
            </a:r>
            <a:r>
              <a:rPr lang="en-US" altLang="zh-CN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 </a:t>
            </a:r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购买页截图：计算、视觉与遥控器</a:t>
            </a:r>
            <a:endParaRPr sz="30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shape-0116">
            <a:extLst>
              <a:ext uri="{FF2B5EF4-FFF2-40B4-BE49-F238E27FC236}">
                <a16:creationId xmlns:a16="http://schemas.microsoft.com/office/drawing/2014/main" id="{4C9338A0-7F3A-4FE8-8607-CA4B05A2D28A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117">
            <a:extLst>
              <a:ext uri="{FF2B5EF4-FFF2-40B4-BE49-F238E27FC236}">
                <a16:creationId xmlns:a16="http://schemas.microsoft.com/office/drawing/2014/main" id="{6B1C2BA0-45BF-47DA-A664-962E4004E5A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118">
            <a:extLst>
              <a:ext uri="{FF2B5EF4-FFF2-40B4-BE49-F238E27FC236}">
                <a16:creationId xmlns:a16="http://schemas.microsoft.com/office/drawing/2014/main" id="{7B4E6C0B-03F6-43D9-95B8-F0FD53B7F62E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text-0119">
            <a:extLst>
              <a:ext uri="{FF2B5EF4-FFF2-40B4-BE49-F238E27FC236}">
                <a16:creationId xmlns:a16="http://schemas.microsoft.com/office/drawing/2014/main" id="{E4A5F59E-7340-41E9-B131-BBBE5BB818E5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120">
            <a:extLst>
              <a:ext uri="{FF2B5EF4-FFF2-40B4-BE49-F238E27FC236}">
                <a16:creationId xmlns:a16="http://schemas.microsoft.com/office/drawing/2014/main" id="{51717573-C3DD-40C1-B04A-D3D17A258A8D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NanoPi T6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8" name="text-0121">
            <a:extLst>
              <a:ext uri="{FF2B5EF4-FFF2-40B4-BE49-F238E27FC236}">
                <a16:creationId xmlns:a16="http://schemas.microsoft.com/office/drawing/2014/main" id="{605CB470-1E54-40C0-B588-248902AFB511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台 </a:t>
            </a: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提供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" name="text-0122">
            <a:extLst>
              <a:ext uri="{FF2B5EF4-FFF2-40B4-BE49-F238E27FC236}">
                <a16:creationId xmlns:a16="http://schemas.microsoft.com/office/drawing/2014/main" id="{524B164E-E0AC-4F0C-971D-875F81CBDE36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¥1,450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0" name="text-0123">
            <a:extLst>
              <a:ext uri="{FF2B5EF4-FFF2-40B4-BE49-F238E27FC236}">
                <a16:creationId xmlns:a16="http://schemas.microsoft.com/office/drawing/2014/main" id="{F8DC7412-262D-4FA4-BDD6-CF08A59703A3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替代采购参考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1" name="shape-0124">
            <a:extLst>
              <a:ext uri="{FF2B5EF4-FFF2-40B4-BE49-F238E27FC236}">
                <a16:creationId xmlns:a16="http://schemas.microsoft.com/office/drawing/2014/main" id="{AC9DB665-D067-4253-B964-5A3B2968B269}"/>
              </a:ext>
            </a:extLst>
          </p:cNvPr>
          <p:cNvSpPr>
            <a:spLocks noGrp="1"/>
          </p:cNvSpPr>
          <p:nvPr/>
        </p:nvSpPr>
        <p:spPr>
          <a:xfrm>
            <a:off x="4057650" y="1847850"/>
            <a:ext cx="14288" cy="32956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text-0125">
            <a:extLst>
              <a:ext uri="{FF2B5EF4-FFF2-40B4-BE49-F238E27FC236}">
                <a16:creationId xmlns:a16="http://schemas.microsoft.com/office/drawing/2014/main" id="{CFA2539A-D6F4-41D2-B97D-F124F81E7956}"/>
              </a:ext>
            </a:extLst>
          </p:cNvPr>
          <p:cNvSpPr>
            <a:spLocks noGrp="1"/>
          </p:cNvSpPr>
          <p:nvPr/>
        </p:nvSpPr>
        <p:spPr>
          <a:xfrm>
            <a:off x="432435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0126">
            <a:extLst>
              <a:ext uri="{FF2B5EF4-FFF2-40B4-BE49-F238E27FC236}">
                <a16:creationId xmlns:a16="http://schemas.microsoft.com/office/drawing/2014/main" id="{9ED51665-BA62-422C-BE30-773F2C9D3319}"/>
              </a:ext>
            </a:extLst>
          </p:cNvPr>
          <p:cNvSpPr>
            <a:spLocks noGrp="1"/>
          </p:cNvSpPr>
          <p:nvPr/>
        </p:nvSpPr>
        <p:spPr>
          <a:xfrm>
            <a:off x="432435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720P 2.8mm </a:t>
            </a:r>
            <a:r>
              <a:rPr lang="zh-CN" alt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相机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4" name="text-0127">
            <a:extLst>
              <a:ext uri="{FF2B5EF4-FFF2-40B4-BE49-F238E27FC236}">
                <a16:creationId xmlns:a16="http://schemas.microsoft.com/office/drawing/2014/main" id="{0BFAA2F3-5CF7-429F-9B6A-6577288A6715}"/>
              </a:ext>
            </a:extLst>
          </p:cNvPr>
          <p:cNvSpPr>
            <a:spLocks noGrp="1"/>
          </p:cNvSpPr>
          <p:nvPr/>
        </p:nvSpPr>
        <p:spPr>
          <a:xfrm>
            <a:off x="432435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个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5" name="text-0128">
            <a:extLst>
              <a:ext uri="{FF2B5EF4-FFF2-40B4-BE49-F238E27FC236}">
                <a16:creationId xmlns:a16="http://schemas.microsoft.com/office/drawing/2014/main" id="{7447BFB4-64F0-4886-801C-85D60DCA7479}"/>
              </a:ext>
            </a:extLst>
          </p:cNvPr>
          <p:cNvSpPr>
            <a:spLocks noGrp="1"/>
          </p:cNvSpPr>
          <p:nvPr/>
        </p:nvSpPr>
        <p:spPr>
          <a:xfrm>
            <a:off x="432435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¥60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6" name="text-0129">
            <a:extLst>
              <a:ext uri="{FF2B5EF4-FFF2-40B4-BE49-F238E27FC236}">
                <a16:creationId xmlns:a16="http://schemas.microsoft.com/office/drawing/2014/main" id="{576EEDCA-8B52-4BEF-943D-FEE636291BF4}"/>
              </a:ext>
            </a:extLst>
          </p:cNvPr>
          <p:cNvSpPr>
            <a:spLocks noGrp="1"/>
          </p:cNvSpPr>
          <p:nvPr/>
        </p:nvSpPr>
        <p:spPr>
          <a:xfrm>
            <a:off x="432435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下视视觉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7" name="shape-0130">
            <a:extLst>
              <a:ext uri="{FF2B5EF4-FFF2-40B4-BE49-F238E27FC236}">
                <a16:creationId xmlns:a16="http://schemas.microsoft.com/office/drawing/2014/main" id="{FDFC2D9A-B8D3-4828-9940-3B31FB0C80A3}"/>
              </a:ext>
            </a:extLst>
          </p:cNvPr>
          <p:cNvSpPr>
            <a:spLocks noGrp="1"/>
          </p:cNvSpPr>
          <p:nvPr/>
        </p:nvSpPr>
        <p:spPr>
          <a:xfrm>
            <a:off x="7696200" y="1847850"/>
            <a:ext cx="14288" cy="32956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text-0131">
            <a:extLst>
              <a:ext uri="{FF2B5EF4-FFF2-40B4-BE49-F238E27FC236}">
                <a16:creationId xmlns:a16="http://schemas.microsoft.com/office/drawing/2014/main" id="{0EE3ACB0-B6A5-49ED-83FE-9FA0F2FB068C}"/>
              </a:ext>
            </a:extLst>
          </p:cNvPr>
          <p:cNvSpPr>
            <a:spLocks noGrp="1"/>
          </p:cNvSpPr>
          <p:nvPr/>
        </p:nvSpPr>
        <p:spPr>
          <a:xfrm>
            <a:off x="796290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-0132">
            <a:extLst>
              <a:ext uri="{FF2B5EF4-FFF2-40B4-BE49-F238E27FC236}">
                <a16:creationId xmlns:a16="http://schemas.microsoft.com/office/drawing/2014/main" id="{72C89A78-5404-4DA1-AA6F-614A2CF65481}"/>
              </a:ext>
            </a:extLst>
          </p:cNvPr>
          <p:cNvSpPr>
            <a:spLocks noGrp="1"/>
          </p:cNvSpPr>
          <p:nvPr/>
        </p:nvSpPr>
        <p:spPr>
          <a:xfrm>
            <a:off x="7962900" y="23812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遥控器 </a:t>
            </a:r>
            <a:r>
              <a:rPr lang="en-US" altLang="zh-CN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/ </a:t>
            </a:r>
            <a:r>
              <a:rPr lang="zh-CN" alt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自备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0" name="text-0133">
            <a:extLst>
              <a:ext uri="{FF2B5EF4-FFF2-40B4-BE49-F238E27FC236}">
                <a16:creationId xmlns:a16="http://schemas.microsoft.com/office/drawing/2014/main" id="{6AA1A9C4-3279-4F5B-8D6E-C9D111F94DF8}"/>
              </a:ext>
            </a:extLst>
          </p:cNvPr>
          <p:cNvSpPr>
            <a:spLocks noGrp="1"/>
          </p:cNvSpPr>
          <p:nvPr/>
        </p:nvSpPr>
        <p:spPr>
          <a:xfrm>
            <a:off x="7962900" y="29908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套 </a:t>
            </a: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不计成本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1" name="text-0134">
            <a:extLst>
              <a:ext uri="{FF2B5EF4-FFF2-40B4-BE49-F238E27FC236}">
                <a16:creationId xmlns:a16="http://schemas.microsoft.com/office/drawing/2014/main" id="{E57DF2C9-F05A-4961-93D1-BAC4BCB2DF43}"/>
              </a:ext>
            </a:extLst>
          </p:cNvPr>
          <p:cNvSpPr>
            <a:spLocks noGrp="1"/>
          </p:cNvSpPr>
          <p:nvPr/>
        </p:nvSpPr>
        <p:spPr>
          <a:xfrm>
            <a:off x="7962900" y="352425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暂无图片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2" name="text-0135">
            <a:extLst>
              <a:ext uri="{FF2B5EF4-FFF2-40B4-BE49-F238E27FC236}">
                <a16:creationId xmlns:a16="http://schemas.microsoft.com/office/drawing/2014/main" id="{9F8FC4B5-07D2-486C-A6AC-6E08A33086E5}"/>
              </a:ext>
            </a:extLst>
          </p:cNvPr>
          <p:cNvSpPr>
            <a:spLocks noGrp="1"/>
          </p:cNvSpPr>
          <p:nvPr/>
        </p:nvSpPr>
        <p:spPr>
          <a:xfrm>
            <a:off x="7962900" y="43243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当前图片库未提供对应截图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3" name="shape-0136">
            <a:extLst>
              <a:ext uri="{FF2B5EF4-FFF2-40B4-BE49-F238E27FC236}">
                <a16:creationId xmlns:a16="http://schemas.microsoft.com/office/drawing/2014/main" id="{21E441CA-CFF3-4A86-979E-D553DBAA2BC4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820400" cy="57150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24" name="text-0137">
            <a:extLst>
              <a:ext uri="{FF2B5EF4-FFF2-40B4-BE49-F238E27FC236}">
                <a16:creationId xmlns:a16="http://schemas.microsoft.com/office/drawing/2014/main" id="{6D7D39CC-D9DB-4D11-807A-5C3982EF48F9}"/>
              </a:ext>
            </a:extLst>
          </p:cNvPr>
          <p:cNvSpPr>
            <a:spLocks noGrp="1"/>
          </p:cNvSpPr>
          <p:nvPr/>
        </p:nvSpPr>
        <p:spPr>
          <a:xfrm>
            <a:off x="914400" y="5524500"/>
            <a:ext cx="1036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遥控器为自备且不计成本；当前图片库未提供对应购买截图。</a:t>
            </a:r>
            <a:endParaRPr sz="13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97532"/>
            <a:ext cx="3143250" cy="1443735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24350" y="2097532"/>
            <a:ext cx="3143250" cy="144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7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087">
            <a:extLst>
              <a:ext uri="{FF2B5EF4-FFF2-40B4-BE49-F238E27FC236}">
                <a16:creationId xmlns:a16="http://schemas.microsoft.com/office/drawing/2014/main" id="{4C190768-A5FC-493A-B567-13660F8300A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 / 投放与结构</a:t>
            </a:r>
          </a:p>
        </p:txBody>
      </p:sp>
      <p:sp>
        <p:nvSpPr>
          <p:cNvPr id="2" name="text-0088">
            <a:extLst>
              <a:ext uri="{FF2B5EF4-FFF2-40B4-BE49-F238E27FC236}">
                <a16:creationId xmlns:a16="http://schemas.microsoft.com/office/drawing/2014/main" id="{88F36349-FD9C-4B6D-AD4E-726CD8EBCDF7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方案 A：投放、供电与结构小件同样决定能否装成</a:t>
            </a:r>
          </a:p>
        </p:txBody>
      </p:sp>
      <p:sp>
        <p:nvSpPr>
          <p:cNvPr id="3" name="shape-0089">
            <a:extLst>
              <a:ext uri="{FF2B5EF4-FFF2-40B4-BE49-F238E27FC236}">
                <a16:creationId xmlns:a16="http://schemas.microsoft.com/office/drawing/2014/main" id="{94326F56-C394-42FF-A14D-9FF19A77B95F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090">
            <a:extLst>
              <a:ext uri="{FF2B5EF4-FFF2-40B4-BE49-F238E27FC236}">
                <a16:creationId xmlns:a16="http://schemas.microsoft.com/office/drawing/2014/main" id="{16DC1650-35C4-46F3-866C-A57A2BF4018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091">
            <a:extLst>
              <a:ext uri="{FF2B5EF4-FFF2-40B4-BE49-F238E27FC236}">
                <a16:creationId xmlns:a16="http://schemas.microsoft.com/office/drawing/2014/main" id="{EA658928-C93E-401B-86F2-E4F52574BB15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text-0092">
            <a:extLst>
              <a:ext uri="{FF2B5EF4-FFF2-40B4-BE49-F238E27FC236}">
                <a16:creationId xmlns:a16="http://schemas.microsoft.com/office/drawing/2014/main" id="{90C378B4-58B2-44D9-8A5E-C8A61B12B73C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小额物料最容易漏买；供电极性、接口尺寸和机械安装必须在下单前确认。</a:t>
            </a:r>
          </a:p>
        </p:txBody>
      </p:sp>
      <p:graphicFrame>
        <p:nvGraphicFramePr>
          <p:cNvPr id="16" name="表格 13"/>
          <p:cNvGraphicFramePr/>
          <p:nvPr/>
        </p:nvGraphicFramePr>
        <p:xfrm>
          <a:off x="685800" y="1847850"/>
          <a:ext cx="10820400" cy="4000500"/>
        </p:xfrm>
        <a:graphic>
          <a:graphicData uri="http://schemas.openxmlformats.org/drawingml/2006/table">
            <a:tbl>
              <a:tblPr firstRow="1"/>
              <a:tblGrid>
                <a:gridCol w="339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 / 型号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参考价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关键说明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投放舵机 / 20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舵机供电与飞控信号分别确认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投放机构 / 释放机构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¥36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与舵机行程和安装空间匹配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RK3588 供电线 / XT30 公头 + DC5.5 公头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不能按线色或经验推断极性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机架立柱 / M3 × 55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根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¥8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按安装高度与螺纹核对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脚架管 / 外径 16、内径 14、1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按机架落地高度裁切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电池绑带 / 20 × 380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¥15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确认长度与电池固定方式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160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114">
            <a:extLst>
              <a:ext uri="{FF2B5EF4-FFF2-40B4-BE49-F238E27FC236}">
                <a16:creationId xmlns:a16="http://schemas.microsoft.com/office/drawing/2014/main" id="{347E693B-E160-400A-BE5B-AF102312F7F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 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</a:t>
            </a:r>
            <a:endParaRPr sz="135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text-0115">
            <a:extLst>
              <a:ext uri="{FF2B5EF4-FFF2-40B4-BE49-F238E27FC236}">
                <a16:creationId xmlns:a16="http://schemas.microsoft.com/office/drawing/2014/main" id="{C8D6AEF5-211D-4292-8990-B43450D2C127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方案 </a:t>
            </a:r>
            <a:r>
              <a:rPr lang="en-US" altLang="zh-CN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 </a:t>
            </a:r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购买页截图：投放与供电连接</a:t>
            </a:r>
            <a:endParaRPr sz="30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shape-0116">
            <a:extLst>
              <a:ext uri="{FF2B5EF4-FFF2-40B4-BE49-F238E27FC236}">
                <a16:creationId xmlns:a16="http://schemas.microsoft.com/office/drawing/2014/main" id="{4C9338A0-7F3A-4FE8-8607-CA4B05A2D28A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117">
            <a:extLst>
              <a:ext uri="{FF2B5EF4-FFF2-40B4-BE49-F238E27FC236}">
                <a16:creationId xmlns:a16="http://schemas.microsoft.com/office/drawing/2014/main" id="{6B1C2BA0-45BF-47DA-A664-962E4004E5A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118">
            <a:extLst>
              <a:ext uri="{FF2B5EF4-FFF2-40B4-BE49-F238E27FC236}">
                <a16:creationId xmlns:a16="http://schemas.microsoft.com/office/drawing/2014/main" id="{7B4E6C0B-03F6-43D9-95B8-F0FD53B7F62E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text-0119">
            <a:extLst>
              <a:ext uri="{FF2B5EF4-FFF2-40B4-BE49-F238E27FC236}">
                <a16:creationId xmlns:a16="http://schemas.microsoft.com/office/drawing/2014/main" id="{E4A5F59E-7340-41E9-B131-BBBE5BB818E5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120">
            <a:extLst>
              <a:ext uri="{FF2B5EF4-FFF2-40B4-BE49-F238E27FC236}">
                <a16:creationId xmlns:a16="http://schemas.microsoft.com/office/drawing/2014/main" id="{51717573-C3DD-40C1-B04A-D3D17A258A8D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20kg </a:t>
            </a:r>
            <a:r>
              <a:rPr lang="zh-CN" alt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舵机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8" name="text-0121">
            <a:extLst>
              <a:ext uri="{FF2B5EF4-FFF2-40B4-BE49-F238E27FC236}">
                <a16:creationId xmlns:a16="http://schemas.microsoft.com/office/drawing/2014/main" id="{605CB470-1E54-40C0-B588-248902AFB511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个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" name="text-0122">
            <a:extLst>
              <a:ext uri="{FF2B5EF4-FFF2-40B4-BE49-F238E27FC236}">
                <a16:creationId xmlns:a16="http://schemas.microsoft.com/office/drawing/2014/main" id="{524B164E-E0AC-4F0C-971D-875F81CBDE36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¥60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0" name="text-0123">
            <a:extLst>
              <a:ext uri="{FF2B5EF4-FFF2-40B4-BE49-F238E27FC236}">
                <a16:creationId xmlns:a16="http://schemas.microsoft.com/office/drawing/2014/main" id="{F8DC7412-262D-4FA4-BDD6-CF08A59703A3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复核单价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/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套装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1" name="shape-0124">
            <a:extLst>
              <a:ext uri="{FF2B5EF4-FFF2-40B4-BE49-F238E27FC236}">
                <a16:creationId xmlns:a16="http://schemas.microsoft.com/office/drawing/2014/main" id="{AC9DB665-D067-4253-B964-5A3B2968B269}"/>
              </a:ext>
            </a:extLst>
          </p:cNvPr>
          <p:cNvSpPr>
            <a:spLocks noGrp="1"/>
          </p:cNvSpPr>
          <p:nvPr/>
        </p:nvSpPr>
        <p:spPr>
          <a:xfrm>
            <a:off x="4057650" y="1847850"/>
            <a:ext cx="14288" cy="32956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text-0125">
            <a:extLst>
              <a:ext uri="{FF2B5EF4-FFF2-40B4-BE49-F238E27FC236}">
                <a16:creationId xmlns:a16="http://schemas.microsoft.com/office/drawing/2014/main" id="{CFA2539A-D6F4-41D2-B97D-F124F81E7956}"/>
              </a:ext>
            </a:extLst>
          </p:cNvPr>
          <p:cNvSpPr>
            <a:spLocks noGrp="1"/>
          </p:cNvSpPr>
          <p:nvPr/>
        </p:nvSpPr>
        <p:spPr>
          <a:xfrm>
            <a:off x="432435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0126">
            <a:extLst>
              <a:ext uri="{FF2B5EF4-FFF2-40B4-BE49-F238E27FC236}">
                <a16:creationId xmlns:a16="http://schemas.microsoft.com/office/drawing/2014/main" id="{9ED51665-BA62-422C-BE30-773F2C9D3319}"/>
              </a:ext>
            </a:extLst>
          </p:cNvPr>
          <p:cNvSpPr>
            <a:spLocks noGrp="1"/>
          </p:cNvSpPr>
          <p:nvPr/>
        </p:nvSpPr>
        <p:spPr>
          <a:xfrm>
            <a:off x="432435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投放机构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4" name="text-0127">
            <a:extLst>
              <a:ext uri="{FF2B5EF4-FFF2-40B4-BE49-F238E27FC236}">
                <a16:creationId xmlns:a16="http://schemas.microsoft.com/office/drawing/2014/main" id="{0BFAA2F3-5CF7-429F-9B6A-6577288A6715}"/>
              </a:ext>
            </a:extLst>
          </p:cNvPr>
          <p:cNvSpPr>
            <a:spLocks noGrp="1"/>
          </p:cNvSpPr>
          <p:nvPr/>
        </p:nvSpPr>
        <p:spPr>
          <a:xfrm>
            <a:off x="432435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套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5" name="text-0128">
            <a:extLst>
              <a:ext uri="{FF2B5EF4-FFF2-40B4-BE49-F238E27FC236}">
                <a16:creationId xmlns:a16="http://schemas.microsoft.com/office/drawing/2014/main" id="{7447BFB4-64F0-4886-801C-85D60DCA7479}"/>
              </a:ext>
            </a:extLst>
          </p:cNvPr>
          <p:cNvSpPr>
            <a:spLocks noGrp="1"/>
          </p:cNvSpPr>
          <p:nvPr/>
        </p:nvSpPr>
        <p:spPr>
          <a:xfrm>
            <a:off x="432435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¥36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6" name="text-0129">
            <a:extLst>
              <a:ext uri="{FF2B5EF4-FFF2-40B4-BE49-F238E27FC236}">
                <a16:creationId xmlns:a16="http://schemas.microsoft.com/office/drawing/2014/main" id="{576EEDCA-8B52-4BEF-943D-FEE636291BF4}"/>
              </a:ext>
            </a:extLst>
          </p:cNvPr>
          <p:cNvSpPr>
            <a:spLocks noGrp="1"/>
          </p:cNvSpPr>
          <p:nvPr/>
        </p:nvSpPr>
        <p:spPr>
          <a:xfrm>
            <a:off x="432435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两路载荷投放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7" name="shape-0130">
            <a:extLst>
              <a:ext uri="{FF2B5EF4-FFF2-40B4-BE49-F238E27FC236}">
                <a16:creationId xmlns:a16="http://schemas.microsoft.com/office/drawing/2014/main" id="{FDFC2D9A-B8D3-4828-9940-3B31FB0C80A3}"/>
              </a:ext>
            </a:extLst>
          </p:cNvPr>
          <p:cNvSpPr>
            <a:spLocks noGrp="1"/>
          </p:cNvSpPr>
          <p:nvPr/>
        </p:nvSpPr>
        <p:spPr>
          <a:xfrm>
            <a:off x="7696200" y="1847850"/>
            <a:ext cx="14288" cy="32956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text-0131">
            <a:extLst>
              <a:ext uri="{FF2B5EF4-FFF2-40B4-BE49-F238E27FC236}">
                <a16:creationId xmlns:a16="http://schemas.microsoft.com/office/drawing/2014/main" id="{0EE3ACB0-B6A5-49ED-83FE-9FA0F2FB068C}"/>
              </a:ext>
            </a:extLst>
          </p:cNvPr>
          <p:cNvSpPr>
            <a:spLocks noGrp="1"/>
          </p:cNvSpPr>
          <p:nvPr/>
        </p:nvSpPr>
        <p:spPr>
          <a:xfrm>
            <a:off x="796290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-0132">
            <a:extLst>
              <a:ext uri="{FF2B5EF4-FFF2-40B4-BE49-F238E27FC236}">
                <a16:creationId xmlns:a16="http://schemas.microsoft.com/office/drawing/2014/main" id="{72C89A78-5404-4DA1-AA6F-614A2CF65481}"/>
              </a:ext>
            </a:extLst>
          </p:cNvPr>
          <p:cNvSpPr>
            <a:spLocks noGrp="1"/>
          </p:cNvSpPr>
          <p:nvPr/>
        </p:nvSpPr>
        <p:spPr>
          <a:xfrm>
            <a:off x="796290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XT30 + DC5.5 </a:t>
            </a:r>
            <a:r>
              <a:rPr lang="zh-CN" alt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供电线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0" name="text-0133">
            <a:extLst>
              <a:ext uri="{FF2B5EF4-FFF2-40B4-BE49-F238E27FC236}">
                <a16:creationId xmlns:a16="http://schemas.microsoft.com/office/drawing/2014/main" id="{6AA1A9C4-3279-4F5B-8D6E-C9D111F94DF8}"/>
              </a:ext>
            </a:extLst>
          </p:cNvPr>
          <p:cNvSpPr>
            <a:spLocks noGrp="1"/>
          </p:cNvSpPr>
          <p:nvPr/>
        </p:nvSpPr>
        <p:spPr>
          <a:xfrm>
            <a:off x="796290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套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1" name="text-0134">
            <a:extLst>
              <a:ext uri="{FF2B5EF4-FFF2-40B4-BE49-F238E27FC236}">
                <a16:creationId xmlns:a16="http://schemas.microsoft.com/office/drawing/2014/main" id="{E57DF2C9-F05A-4961-93D1-BAC4BCB2DF43}"/>
              </a:ext>
            </a:extLst>
          </p:cNvPr>
          <p:cNvSpPr>
            <a:spLocks noGrp="1"/>
          </p:cNvSpPr>
          <p:nvPr/>
        </p:nvSpPr>
        <p:spPr>
          <a:xfrm>
            <a:off x="796290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¥4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2" name="text-0135">
            <a:extLst>
              <a:ext uri="{FF2B5EF4-FFF2-40B4-BE49-F238E27FC236}">
                <a16:creationId xmlns:a16="http://schemas.microsoft.com/office/drawing/2014/main" id="{9F8FC4B5-07D2-486C-A6AC-6E08A33086E5}"/>
              </a:ext>
            </a:extLst>
          </p:cNvPr>
          <p:cNvSpPr>
            <a:spLocks noGrp="1"/>
          </p:cNvSpPr>
          <p:nvPr/>
        </p:nvSpPr>
        <p:spPr>
          <a:xfrm>
            <a:off x="796290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先测电压与极性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3" name="shape-0136">
            <a:extLst>
              <a:ext uri="{FF2B5EF4-FFF2-40B4-BE49-F238E27FC236}">
                <a16:creationId xmlns:a16="http://schemas.microsoft.com/office/drawing/2014/main" id="{21E441CA-CFF3-4A86-979E-D553DBAA2BC4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820400" cy="57150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24" name="text-0137">
            <a:extLst>
              <a:ext uri="{FF2B5EF4-FFF2-40B4-BE49-F238E27FC236}">
                <a16:creationId xmlns:a16="http://schemas.microsoft.com/office/drawing/2014/main" id="{6D7D39CC-D9DB-4D11-807A-5C3982EF48F9}"/>
              </a:ext>
            </a:extLst>
          </p:cNvPr>
          <p:cNvSpPr>
            <a:spLocks noGrp="1"/>
          </p:cNvSpPr>
          <p:nvPr/>
        </p:nvSpPr>
        <p:spPr>
          <a:xfrm>
            <a:off x="914400" y="5524500"/>
            <a:ext cx="1036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舵机供电与飞控信号分开确认；线色不能代替极性测量。</a:t>
            </a:r>
            <a:endParaRPr sz="13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97532"/>
            <a:ext cx="3143250" cy="1443735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24350" y="2097532"/>
            <a:ext cx="3143250" cy="1443735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62900" y="2097532"/>
            <a:ext cx="3143250" cy="144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7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114">
            <a:extLst>
              <a:ext uri="{FF2B5EF4-FFF2-40B4-BE49-F238E27FC236}">
                <a16:creationId xmlns:a16="http://schemas.microsoft.com/office/drawing/2014/main" id="{347E693B-E160-400A-BE5B-AF102312F7F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 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</a:t>
            </a:r>
            <a:endParaRPr sz="135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text-0115">
            <a:extLst>
              <a:ext uri="{FF2B5EF4-FFF2-40B4-BE49-F238E27FC236}">
                <a16:creationId xmlns:a16="http://schemas.microsoft.com/office/drawing/2014/main" id="{C8D6AEF5-211D-4292-8990-B43450D2C127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方案 </a:t>
            </a:r>
            <a:r>
              <a:rPr lang="en-US" altLang="zh-CN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 </a:t>
            </a:r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购买页截图：结构改装小件</a:t>
            </a:r>
            <a:endParaRPr sz="30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shape-0116">
            <a:extLst>
              <a:ext uri="{FF2B5EF4-FFF2-40B4-BE49-F238E27FC236}">
                <a16:creationId xmlns:a16="http://schemas.microsoft.com/office/drawing/2014/main" id="{4C9338A0-7F3A-4FE8-8607-CA4B05A2D28A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117">
            <a:extLst>
              <a:ext uri="{FF2B5EF4-FFF2-40B4-BE49-F238E27FC236}">
                <a16:creationId xmlns:a16="http://schemas.microsoft.com/office/drawing/2014/main" id="{6B1C2BA0-45BF-47DA-A664-962E4004E5A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118">
            <a:extLst>
              <a:ext uri="{FF2B5EF4-FFF2-40B4-BE49-F238E27FC236}">
                <a16:creationId xmlns:a16="http://schemas.microsoft.com/office/drawing/2014/main" id="{7B4E6C0B-03F6-43D9-95B8-F0FD53B7F62E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text-0119">
            <a:extLst>
              <a:ext uri="{FF2B5EF4-FFF2-40B4-BE49-F238E27FC236}">
                <a16:creationId xmlns:a16="http://schemas.microsoft.com/office/drawing/2014/main" id="{E4A5F59E-7340-41E9-B131-BBBE5BB818E5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120">
            <a:extLst>
              <a:ext uri="{FF2B5EF4-FFF2-40B4-BE49-F238E27FC236}">
                <a16:creationId xmlns:a16="http://schemas.microsoft.com/office/drawing/2014/main" id="{51717573-C3DD-40C1-B04A-D3D17A258A8D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M3×55 </a:t>
            </a:r>
            <a:r>
              <a:rPr lang="zh-CN" alt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立柱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8" name="text-0121">
            <a:extLst>
              <a:ext uri="{FF2B5EF4-FFF2-40B4-BE49-F238E27FC236}">
                <a16:creationId xmlns:a16="http://schemas.microsoft.com/office/drawing/2014/main" id="{605CB470-1E54-40C0-B588-248902AFB511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5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个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" name="text-0122">
            <a:extLst>
              <a:ext uri="{FF2B5EF4-FFF2-40B4-BE49-F238E27FC236}">
                <a16:creationId xmlns:a16="http://schemas.microsoft.com/office/drawing/2014/main" id="{524B164E-E0AC-4F0C-971D-875F81CBDE36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¥8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0" name="text-0123">
            <a:extLst>
              <a:ext uri="{FF2B5EF4-FFF2-40B4-BE49-F238E27FC236}">
                <a16:creationId xmlns:a16="http://schemas.microsoft.com/office/drawing/2014/main" id="{F8DC7412-262D-4FA4-BDD6-CF08A59703A3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核对尺寸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1" name="shape-0124">
            <a:extLst>
              <a:ext uri="{FF2B5EF4-FFF2-40B4-BE49-F238E27FC236}">
                <a16:creationId xmlns:a16="http://schemas.microsoft.com/office/drawing/2014/main" id="{AC9DB665-D067-4253-B964-5A3B2968B269}"/>
              </a:ext>
            </a:extLst>
          </p:cNvPr>
          <p:cNvSpPr>
            <a:spLocks noGrp="1"/>
          </p:cNvSpPr>
          <p:nvPr/>
        </p:nvSpPr>
        <p:spPr>
          <a:xfrm>
            <a:off x="4057650" y="1847850"/>
            <a:ext cx="14288" cy="32956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text-0125">
            <a:extLst>
              <a:ext uri="{FF2B5EF4-FFF2-40B4-BE49-F238E27FC236}">
                <a16:creationId xmlns:a16="http://schemas.microsoft.com/office/drawing/2014/main" id="{CFA2539A-D6F4-41D2-B97D-F124F81E7956}"/>
              </a:ext>
            </a:extLst>
          </p:cNvPr>
          <p:cNvSpPr>
            <a:spLocks noGrp="1"/>
          </p:cNvSpPr>
          <p:nvPr/>
        </p:nvSpPr>
        <p:spPr>
          <a:xfrm>
            <a:off x="432435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0126">
            <a:extLst>
              <a:ext uri="{FF2B5EF4-FFF2-40B4-BE49-F238E27FC236}">
                <a16:creationId xmlns:a16="http://schemas.microsoft.com/office/drawing/2014/main" id="{9ED51665-BA62-422C-BE30-773F2C9D3319}"/>
              </a:ext>
            </a:extLst>
          </p:cNvPr>
          <p:cNvSpPr>
            <a:spLocks noGrp="1"/>
          </p:cNvSpPr>
          <p:nvPr/>
        </p:nvSpPr>
        <p:spPr>
          <a:xfrm>
            <a:off x="432435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16 / 14mm </a:t>
            </a:r>
            <a:r>
              <a:rPr lang="zh-CN" alt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脚架管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4" name="text-0127">
            <a:extLst>
              <a:ext uri="{FF2B5EF4-FFF2-40B4-BE49-F238E27FC236}">
                <a16:creationId xmlns:a16="http://schemas.microsoft.com/office/drawing/2014/main" id="{0BFAA2F3-5CF7-429F-9B6A-6577288A6715}"/>
              </a:ext>
            </a:extLst>
          </p:cNvPr>
          <p:cNvSpPr>
            <a:spLocks noGrp="1"/>
          </p:cNvSpPr>
          <p:nvPr/>
        </p:nvSpPr>
        <p:spPr>
          <a:xfrm>
            <a:off x="432435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根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5" name="text-0128">
            <a:extLst>
              <a:ext uri="{FF2B5EF4-FFF2-40B4-BE49-F238E27FC236}">
                <a16:creationId xmlns:a16="http://schemas.microsoft.com/office/drawing/2014/main" id="{7447BFB4-64F0-4886-801C-85D60DCA7479}"/>
              </a:ext>
            </a:extLst>
          </p:cNvPr>
          <p:cNvSpPr>
            <a:spLocks noGrp="1"/>
          </p:cNvSpPr>
          <p:nvPr/>
        </p:nvSpPr>
        <p:spPr>
          <a:xfrm>
            <a:off x="432435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¥30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6" name="text-0129">
            <a:extLst>
              <a:ext uri="{FF2B5EF4-FFF2-40B4-BE49-F238E27FC236}">
                <a16:creationId xmlns:a16="http://schemas.microsoft.com/office/drawing/2014/main" id="{576EEDCA-8B52-4BEF-943D-FEE636291BF4}"/>
              </a:ext>
            </a:extLst>
          </p:cNvPr>
          <p:cNvSpPr>
            <a:spLocks noGrp="1"/>
          </p:cNvSpPr>
          <p:nvPr/>
        </p:nvSpPr>
        <p:spPr>
          <a:xfrm>
            <a:off x="432435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按机架裁切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7" name="shape-0130">
            <a:extLst>
              <a:ext uri="{FF2B5EF4-FFF2-40B4-BE49-F238E27FC236}">
                <a16:creationId xmlns:a16="http://schemas.microsoft.com/office/drawing/2014/main" id="{FDFC2D9A-B8D3-4828-9940-3B31FB0C80A3}"/>
              </a:ext>
            </a:extLst>
          </p:cNvPr>
          <p:cNvSpPr>
            <a:spLocks noGrp="1"/>
          </p:cNvSpPr>
          <p:nvPr/>
        </p:nvSpPr>
        <p:spPr>
          <a:xfrm>
            <a:off x="7696200" y="1847850"/>
            <a:ext cx="14288" cy="32956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text-0131">
            <a:extLst>
              <a:ext uri="{FF2B5EF4-FFF2-40B4-BE49-F238E27FC236}">
                <a16:creationId xmlns:a16="http://schemas.microsoft.com/office/drawing/2014/main" id="{0EE3ACB0-B6A5-49ED-83FE-9FA0F2FB068C}"/>
              </a:ext>
            </a:extLst>
          </p:cNvPr>
          <p:cNvSpPr>
            <a:spLocks noGrp="1"/>
          </p:cNvSpPr>
          <p:nvPr/>
        </p:nvSpPr>
        <p:spPr>
          <a:xfrm>
            <a:off x="796290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-0132">
            <a:extLst>
              <a:ext uri="{FF2B5EF4-FFF2-40B4-BE49-F238E27FC236}">
                <a16:creationId xmlns:a16="http://schemas.microsoft.com/office/drawing/2014/main" id="{72C89A78-5404-4DA1-AA6F-614A2CF65481}"/>
              </a:ext>
            </a:extLst>
          </p:cNvPr>
          <p:cNvSpPr>
            <a:spLocks noGrp="1"/>
          </p:cNvSpPr>
          <p:nvPr/>
        </p:nvSpPr>
        <p:spPr>
          <a:xfrm>
            <a:off x="796290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20×380 </a:t>
            </a:r>
            <a:r>
              <a:rPr lang="zh-CN" alt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扎带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0" name="text-0133">
            <a:extLst>
              <a:ext uri="{FF2B5EF4-FFF2-40B4-BE49-F238E27FC236}">
                <a16:creationId xmlns:a16="http://schemas.microsoft.com/office/drawing/2014/main" id="{6AA1A9C4-3279-4F5B-8D6E-C9D111F94DF8}"/>
              </a:ext>
            </a:extLst>
          </p:cNvPr>
          <p:cNvSpPr>
            <a:spLocks noGrp="1"/>
          </p:cNvSpPr>
          <p:nvPr/>
        </p:nvSpPr>
        <p:spPr>
          <a:xfrm>
            <a:off x="796290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条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1" name="text-0134">
            <a:extLst>
              <a:ext uri="{FF2B5EF4-FFF2-40B4-BE49-F238E27FC236}">
                <a16:creationId xmlns:a16="http://schemas.microsoft.com/office/drawing/2014/main" id="{E57DF2C9-F05A-4961-93D1-BAC4BCB2DF43}"/>
              </a:ext>
            </a:extLst>
          </p:cNvPr>
          <p:cNvSpPr>
            <a:spLocks noGrp="1"/>
          </p:cNvSpPr>
          <p:nvPr/>
        </p:nvSpPr>
        <p:spPr>
          <a:xfrm>
            <a:off x="796290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¥15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2" name="text-0135">
            <a:extLst>
              <a:ext uri="{FF2B5EF4-FFF2-40B4-BE49-F238E27FC236}">
                <a16:creationId xmlns:a16="http://schemas.microsoft.com/office/drawing/2014/main" id="{9F8FC4B5-07D2-486C-A6AC-6E08A33086E5}"/>
              </a:ext>
            </a:extLst>
          </p:cNvPr>
          <p:cNvSpPr>
            <a:spLocks noGrp="1"/>
          </p:cNvSpPr>
          <p:nvPr/>
        </p:nvSpPr>
        <p:spPr>
          <a:xfrm>
            <a:off x="796290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固定电池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3" name="shape-0136">
            <a:extLst>
              <a:ext uri="{FF2B5EF4-FFF2-40B4-BE49-F238E27FC236}">
                <a16:creationId xmlns:a16="http://schemas.microsoft.com/office/drawing/2014/main" id="{21E441CA-CFF3-4A86-979E-D553DBAA2BC4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820400" cy="57150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24" name="text-0137">
            <a:extLst>
              <a:ext uri="{FF2B5EF4-FFF2-40B4-BE49-F238E27FC236}">
                <a16:creationId xmlns:a16="http://schemas.microsoft.com/office/drawing/2014/main" id="{6D7D39CC-D9DB-4D11-807A-5C3982EF48F9}"/>
              </a:ext>
            </a:extLst>
          </p:cNvPr>
          <p:cNvSpPr>
            <a:spLocks noGrp="1"/>
          </p:cNvSpPr>
          <p:nvPr/>
        </p:nvSpPr>
        <p:spPr>
          <a:xfrm>
            <a:off x="914400" y="5524500"/>
            <a:ext cx="1036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结构尺寸必须回到真实机架、电池和安装空间重新确认。</a:t>
            </a:r>
            <a:endParaRPr sz="13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97532"/>
            <a:ext cx="3143250" cy="1443735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24350" y="2097532"/>
            <a:ext cx="3143250" cy="1443735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62900" y="2097532"/>
            <a:ext cx="3143250" cy="144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7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0093">
            <a:extLst>
              <a:ext uri="{FF2B5EF4-FFF2-40B4-BE49-F238E27FC236}">
                <a16:creationId xmlns:a16="http://schemas.microsoft.com/office/drawing/2014/main" id="{8A18AAD4-33EF-48D1-A1A4-A5DF912F9DF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 / 成本</a:t>
            </a:r>
          </a:p>
        </p:txBody>
      </p:sp>
      <p:sp>
        <p:nvSpPr>
          <p:cNvPr id="2" name="text-0094">
            <a:extLst>
              <a:ext uri="{FF2B5EF4-FFF2-40B4-BE49-F238E27FC236}">
                <a16:creationId xmlns:a16="http://schemas.microsoft.com/office/drawing/2014/main" id="{136ADA53-23A7-48FD-825C-0E30CD58C104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同一套方案 A，有四种完全不同的预算口径</a:t>
            </a:r>
          </a:p>
        </p:txBody>
      </p:sp>
      <p:sp>
        <p:nvSpPr>
          <p:cNvPr id="3" name="shape-0095">
            <a:extLst>
              <a:ext uri="{FF2B5EF4-FFF2-40B4-BE49-F238E27FC236}">
                <a16:creationId xmlns:a16="http://schemas.microsoft.com/office/drawing/2014/main" id="{0089786B-C38D-404A-99BD-3F70281A8C46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096">
            <a:extLst>
              <a:ext uri="{FF2B5EF4-FFF2-40B4-BE49-F238E27FC236}">
                <a16:creationId xmlns:a16="http://schemas.microsoft.com/office/drawing/2014/main" id="{3FB93F00-7B73-4F9C-A0AC-8E7D7E6E86A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097">
            <a:extLst>
              <a:ext uri="{FF2B5EF4-FFF2-40B4-BE49-F238E27FC236}">
                <a16:creationId xmlns:a16="http://schemas.microsoft.com/office/drawing/2014/main" id="{7B28D546-2EC0-4158-9A3E-4FDFBC2ABF0D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shape-0098">
            <a:extLst>
              <a:ext uri="{FF2B5EF4-FFF2-40B4-BE49-F238E27FC236}">
                <a16:creationId xmlns:a16="http://schemas.microsoft.com/office/drawing/2014/main" id="{029FAD03-9158-48D9-8721-CE0E90FF959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762500" cy="3905250"/>
          </a:xfrm>
          <a:prstGeom prst="rect">
            <a:avLst/>
          </a:prstGeom>
          <a:solidFill>
            <a:srgbClr val="F5F6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text-0099">
            <a:extLst>
              <a:ext uri="{FF2B5EF4-FFF2-40B4-BE49-F238E27FC236}">
                <a16:creationId xmlns:a16="http://schemas.microsoft.com/office/drawing/2014/main" id="{221E9F2D-2C96-4878-9843-E1EAD1D9D361}"/>
              </a:ext>
            </a:extLst>
          </p:cNvPr>
          <p:cNvSpPr>
            <a:spLocks noGrp="1"/>
          </p:cNvSpPr>
          <p:nvPr/>
        </p:nvSpPr>
        <p:spPr>
          <a:xfrm>
            <a:off x="1028700" y="219075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全部自购</a:t>
            </a:r>
          </a:p>
        </p:txBody>
      </p:sp>
      <p:sp>
        <p:nvSpPr>
          <p:cNvPr id="8" name="text-0100">
            <a:extLst>
              <a:ext uri="{FF2B5EF4-FFF2-40B4-BE49-F238E27FC236}">
                <a16:creationId xmlns:a16="http://schemas.microsoft.com/office/drawing/2014/main" id="{8B483A54-DF9E-4C68-9161-A78A5655A56F}"/>
              </a:ext>
            </a:extLst>
          </p:cNvPr>
          <p:cNvSpPr>
            <a:spLocks noGrp="1"/>
          </p:cNvSpPr>
          <p:nvPr/>
        </p:nvSpPr>
        <p:spPr>
          <a:xfrm>
            <a:off x="1028700" y="2876550"/>
            <a:ext cx="4000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¥4,857</a:t>
            </a:r>
          </a:p>
        </p:txBody>
      </p:sp>
      <p:sp>
        <p:nvSpPr>
          <p:cNvPr id="9" name="text-0101">
            <a:extLst>
              <a:ext uri="{FF2B5EF4-FFF2-40B4-BE49-F238E27FC236}">
                <a16:creationId xmlns:a16="http://schemas.microsoft.com/office/drawing/2014/main" id="{77CC8E33-0080-4A75-A03D-E200FABFB7A5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3714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遥控器不计入</a:t>
            </a:r>
          </a:p>
          <a:p>
            <a:pPr algn="l">
              <a:buNone/>
              <a:defRPr sz="17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用于比较完整硬件价值</a:t>
            </a:r>
          </a:p>
        </p:txBody>
      </p:sp>
      <p:sp>
        <p:nvSpPr>
          <p:cNvPr id="10" name="shape-0102">
            <a:extLst>
              <a:ext uri="{FF2B5EF4-FFF2-40B4-BE49-F238E27FC236}">
                <a16:creationId xmlns:a16="http://schemas.microsoft.com/office/drawing/2014/main" id="{DDA17589-FD1F-408D-A46B-F0E1E3FEB370}"/>
              </a:ext>
            </a:extLst>
          </p:cNvPr>
          <p:cNvSpPr>
            <a:spLocks noGrp="1"/>
          </p:cNvSpPr>
          <p:nvPr/>
        </p:nvSpPr>
        <p:spPr>
          <a:xfrm>
            <a:off x="1028700" y="5219700"/>
            <a:ext cx="1143000" cy="571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1" name="text-0103">
            <a:extLst>
              <a:ext uri="{FF2B5EF4-FFF2-40B4-BE49-F238E27FC236}">
                <a16:creationId xmlns:a16="http://schemas.microsoft.com/office/drawing/2014/main" id="{0723CD83-1EA4-41F8-A05A-A91E7BD9A142}"/>
              </a:ext>
            </a:extLst>
          </p:cNvPr>
          <p:cNvSpPr>
            <a:spLocks noGrp="1"/>
          </p:cNvSpPr>
          <p:nvPr/>
        </p:nvSpPr>
        <p:spPr>
          <a:xfrm>
            <a:off x="6115050" y="18478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约 ¥3,307</a:t>
            </a:r>
          </a:p>
        </p:txBody>
      </p:sp>
      <p:sp>
        <p:nvSpPr>
          <p:cNvPr id="12" name="text-0104">
            <a:extLst>
              <a:ext uri="{FF2B5EF4-FFF2-40B4-BE49-F238E27FC236}">
                <a16:creationId xmlns:a16="http://schemas.microsoft.com/office/drawing/2014/main" id="{485C85D3-7F57-47C4-A55F-B27CA2A4A44B}"/>
              </a:ext>
            </a:extLst>
          </p:cNvPr>
          <p:cNvSpPr>
            <a:spLocks noGrp="1"/>
          </p:cNvSpPr>
          <p:nvPr/>
        </p:nvSpPr>
        <p:spPr>
          <a:xfrm>
            <a:off x="8743950" y="18669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超低成本全购</a:t>
            </a:r>
          </a:p>
        </p:txBody>
      </p:sp>
      <p:sp>
        <p:nvSpPr>
          <p:cNvPr id="13" name="text-0105">
            <a:extLst>
              <a:ext uri="{FF2B5EF4-FFF2-40B4-BE49-F238E27FC236}">
                <a16:creationId xmlns:a16="http://schemas.microsoft.com/office/drawing/2014/main" id="{A8DDC27F-2243-448B-A80F-AF781F46F92E}"/>
              </a:ext>
            </a:extLst>
          </p:cNvPr>
          <p:cNvSpPr>
            <a:spLocks noGrp="1"/>
          </p:cNvSpPr>
          <p:nvPr/>
        </p:nvSpPr>
        <p:spPr>
          <a:xfrm>
            <a:off x="6115050" y="2400300"/>
            <a:ext cx="5391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用约 ¥300 H743 + 约 ¥100 M10 GNSS</a:t>
            </a:r>
          </a:p>
        </p:txBody>
      </p:sp>
      <p:sp>
        <p:nvSpPr>
          <p:cNvPr id="14" name="shape-0106">
            <a:extLst>
              <a:ext uri="{FF2B5EF4-FFF2-40B4-BE49-F238E27FC236}">
                <a16:creationId xmlns:a16="http://schemas.microsoft.com/office/drawing/2014/main" id="{D05C4C71-F68B-42FC-AE08-DC4551C8AE86}"/>
              </a:ext>
            </a:extLst>
          </p:cNvPr>
          <p:cNvSpPr>
            <a:spLocks noGrp="1"/>
          </p:cNvSpPr>
          <p:nvPr/>
        </p:nvSpPr>
        <p:spPr>
          <a:xfrm>
            <a:off x="6115050" y="3009900"/>
            <a:ext cx="53911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text-0107">
            <a:extLst>
              <a:ext uri="{FF2B5EF4-FFF2-40B4-BE49-F238E27FC236}">
                <a16:creationId xmlns:a16="http://schemas.microsoft.com/office/drawing/2014/main" id="{5D6EC06E-3F48-4B2B-8F7E-A4F83E8DC3DA}"/>
              </a:ext>
            </a:extLst>
          </p:cNvPr>
          <p:cNvSpPr>
            <a:spLocks noGrp="1"/>
          </p:cNvSpPr>
          <p:nvPr/>
        </p:nvSpPr>
        <p:spPr>
          <a:xfrm>
            <a:off x="6115050" y="31813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¥3,400</a:t>
            </a:r>
          </a:p>
        </p:txBody>
      </p:sp>
      <p:sp>
        <p:nvSpPr>
          <p:cNvPr id="16" name="text-0108">
            <a:extLst>
              <a:ext uri="{FF2B5EF4-FFF2-40B4-BE49-F238E27FC236}">
                <a16:creationId xmlns:a16="http://schemas.microsoft.com/office/drawing/2014/main" id="{2BDDF606-5589-47FA-8ACD-C311A7D9BE08}"/>
              </a:ext>
            </a:extLst>
          </p:cNvPr>
          <p:cNvSpPr>
            <a:spLocks noGrp="1"/>
          </p:cNvSpPr>
          <p:nvPr/>
        </p:nvSpPr>
        <p:spPr>
          <a:xfrm>
            <a:off x="8743950" y="32004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支持件价值</a:t>
            </a:r>
          </a:p>
        </p:txBody>
      </p:sp>
      <p:sp>
        <p:nvSpPr>
          <p:cNvPr id="17" name="text-0109">
            <a:extLst>
              <a:ext uri="{FF2B5EF4-FFF2-40B4-BE49-F238E27FC236}">
                <a16:creationId xmlns:a16="http://schemas.microsoft.com/office/drawing/2014/main" id="{A947F9EB-5D69-46D5-9D01-27D682C9F7D1}"/>
              </a:ext>
            </a:extLst>
          </p:cNvPr>
          <p:cNvSpPr>
            <a:spLocks noGrp="1"/>
          </p:cNvSpPr>
          <p:nvPr/>
        </p:nvSpPr>
        <p:spPr>
          <a:xfrm>
            <a:off x="6115050" y="3733800"/>
            <a:ext cx="5391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飞控 ¥1,300 + GPS ¥650 + RK3588 ¥1,450</a:t>
            </a:r>
          </a:p>
        </p:txBody>
      </p:sp>
      <p:sp>
        <p:nvSpPr>
          <p:cNvPr id="18" name="shape-0110">
            <a:extLst>
              <a:ext uri="{FF2B5EF4-FFF2-40B4-BE49-F238E27FC236}">
                <a16:creationId xmlns:a16="http://schemas.microsoft.com/office/drawing/2014/main" id="{B126FEFC-9BD8-4E03-A089-E2BCA5C790DF}"/>
              </a:ext>
            </a:extLst>
          </p:cNvPr>
          <p:cNvSpPr>
            <a:spLocks noGrp="1"/>
          </p:cNvSpPr>
          <p:nvPr/>
        </p:nvSpPr>
        <p:spPr>
          <a:xfrm>
            <a:off x="6115050" y="4343400"/>
            <a:ext cx="53911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text-0111">
            <a:extLst>
              <a:ext uri="{FF2B5EF4-FFF2-40B4-BE49-F238E27FC236}">
                <a16:creationId xmlns:a16="http://schemas.microsoft.com/office/drawing/2014/main" id="{8E046553-069C-4279-83D3-7F776D596FBA}"/>
              </a:ext>
            </a:extLst>
          </p:cNvPr>
          <p:cNvSpPr>
            <a:spLocks noGrp="1"/>
          </p:cNvSpPr>
          <p:nvPr/>
        </p:nvSpPr>
        <p:spPr>
          <a:xfrm>
            <a:off x="6115050" y="45148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¥1,457</a:t>
            </a:r>
          </a:p>
        </p:txBody>
      </p:sp>
      <p:sp>
        <p:nvSpPr>
          <p:cNvPr id="20" name="text-0112">
            <a:extLst>
              <a:ext uri="{FF2B5EF4-FFF2-40B4-BE49-F238E27FC236}">
                <a16:creationId xmlns:a16="http://schemas.microsoft.com/office/drawing/2014/main" id="{F4C9AAC3-2448-4C02-ACC9-037C0260E156}"/>
              </a:ext>
            </a:extLst>
          </p:cNvPr>
          <p:cNvSpPr>
            <a:spLocks noGrp="1"/>
          </p:cNvSpPr>
          <p:nvPr/>
        </p:nvSpPr>
        <p:spPr>
          <a:xfrm>
            <a:off x="8743950" y="45339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比赛实际自费</a:t>
            </a:r>
          </a:p>
        </p:txBody>
      </p:sp>
      <p:sp>
        <p:nvSpPr>
          <p:cNvPr id="21" name="text-0113">
            <a:extLst>
              <a:ext uri="{FF2B5EF4-FFF2-40B4-BE49-F238E27FC236}">
                <a16:creationId xmlns:a16="http://schemas.microsoft.com/office/drawing/2014/main" id="{C6E37DC4-7EBF-4E8B-8BFD-0553A9C562EE}"/>
              </a:ext>
            </a:extLst>
          </p:cNvPr>
          <p:cNvSpPr>
            <a:spLocks noGrp="1"/>
          </p:cNvSpPr>
          <p:nvPr/>
        </p:nvSpPr>
        <p:spPr>
          <a:xfrm>
            <a:off x="6115050" y="5067300"/>
            <a:ext cx="5391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从完整成本扣除已支持的三项核心硬件</a:t>
            </a:r>
          </a:p>
        </p:txBody>
      </p:sp>
    </p:spTree>
    <p:extLst>
      <p:ext uri="{BB962C8B-B14F-4D97-AF65-F5344CB8AC3E}">
        <p14:creationId xmlns:p14="http://schemas.microsoft.com/office/powerpoint/2010/main" val="318758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114">
            <a:extLst>
              <a:ext uri="{FF2B5EF4-FFF2-40B4-BE49-F238E27FC236}">
                <a16:creationId xmlns:a16="http://schemas.microsoft.com/office/drawing/2014/main" id="{347E693B-E160-400A-BE5B-AF102312F7F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B / 升级项</a:t>
            </a:r>
          </a:p>
        </p:txBody>
      </p:sp>
      <p:sp>
        <p:nvSpPr>
          <p:cNvPr id="2" name="text-0115">
            <a:extLst>
              <a:ext uri="{FF2B5EF4-FFF2-40B4-BE49-F238E27FC236}">
                <a16:creationId xmlns:a16="http://schemas.microsoft.com/office/drawing/2014/main" id="{C8D6AEF5-211D-4292-8990-B43450D2C127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方案 B 只替换三项：电机、螺旋桨与定位</a:t>
            </a:r>
          </a:p>
        </p:txBody>
      </p:sp>
      <p:sp>
        <p:nvSpPr>
          <p:cNvPr id="3" name="shape-0116">
            <a:extLst>
              <a:ext uri="{FF2B5EF4-FFF2-40B4-BE49-F238E27FC236}">
                <a16:creationId xmlns:a16="http://schemas.microsoft.com/office/drawing/2014/main" id="{4C9338A0-7F3A-4FE8-8607-CA4B05A2D28A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117">
            <a:extLst>
              <a:ext uri="{FF2B5EF4-FFF2-40B4-BE49-F238E27FC236}">
                <a16:creationId xmlns:a16="http://schemas.microsoft.com/office/drawing/2014/main" id="{6B1C2BA0-45BF-47DA-A664-962E4004E5A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118">
            <a:extLst>
              <a:ext uri="{FF2B5EF4-FFF2-40B4-BE49-F238E27FC236}">
                <a16:creationId xmlns:a16="http://schemas.microsoft.com/office/drawing/2014/main" id="{7B4E6C0B-03F6-43D9-95B8-F0FD53B7F62E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text-0119">
            <a:extLst>
              <a:ext uri="{FF2B5EF4-FFF2-40B4-BE49-F238E27FC236}">
                <a16:creationId xmlns:a16="http://schemas.microsoft.com/office/drawing/2014/main" id="{E4A5F59E-7340-41E9-B131-BBBE5BB818E5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120">
            <a:extLst>
              <a:ext uri="{FF2B5EF4-FFF2-40B4-BE49-F238E27FC236}">
                <a16:creationId xmlns:a16="http://schemas.microsoft.com/office/drawing/2014/main" id="{51717573-C3DD-40C1-B04A-D3D17A258A8D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Lanyu X4112S</a:t>
            </a:r>
          </a:p>
        </p:txBody>
      </p:sp>
      <p:sp>
        <p:nvSpPr>
          <p:cNvPr id="8" name="text-0121">
            <a:extLst>
              <a:ext uri="{FF2B5EF4-FFF2-40B4-BE49-F238E27FC236}">
                <a16:creationId xmlns:a16="http://schemas.microsoft.com/office/drawing/2014/main" id="{605CB470-1E54-40C0-B588-248902AFB511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KV450 × 4</a:t>
            </a:r>
          </a:p>
        </p:txBody>
      </p:sp>
      <p:sp>
        <p:nvSpPr>
          <p:cNvPr id="9" name="text-0122">
            <a:extLst>
              <a:ext uri="{FF2B5EF4-FFF2-40B4-BE49-F238E27FC236}">
                <a16:creationId xmlns:a16="http://schemas.microsoft.com/office/drawing/2014/main" id="{524B164E-E0AC-4F0C-971D-875F81CBDE36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9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¥1,000</a:t>
            </a:r>
          </a:p>
        </p:txBody>
      </p:sp>
      <p:sp>
        <p:nvSpPr>
          <p:cNvPr id="10" name="text-0123">
            <a:extLst>
              <a:ext uri="{FF2B5EF4-FFF2-40B4-BE49-F238E27FC236}">
                <a16:creationId xmlns:a16="http://schemas.microsoft.com/office/drawing/2014/main" id="{F8DC7412-262D-4FA4-BDD6-CF08A59703A3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更大桨盘与动力余量</a:t>
            </a:r>
          </a:p>
        </p:txBody>
      </p:sp>
      <p:sp>
        <p:nvSpPr>
          <p:cNvPr id="11" name="shape-0124">
            <a:extLst>
              <a:ext uri="{FF2B5EF4-FFF2-40B4-BE49-F238E27FC236}">
                <a16:creationId xmlns:a16="http://schemas.microsoft.com/office/drawing/2014/main" id="{AC9DB665-D067-4253-B964-5A3B2968B269}"/>
              </a:ext>
            </a:extLst>
          </p:cNvPr>
          <p:cNvSpPr>
            <a:spLocks noGrp="1"/>
          </p:cNvSpPr>
          <p:nvPr/>
        </p:nvSpPr>
        <p:spPr>
          <a:xfrm>
            <a:off x="4057650" y="1847850"/>
            <a:ext cx="14288" cy="32956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text-0125">
            <a:extLst>
              <a:ext uri="{FF2B5EF4-FFF2-40B4-BE49-F238E27FC236}">
                <a16:creationId xmlns:a16="http://schemas.microsoft.com/office/drawing/2014/main" id="{CFA2539A-D6F4-41D2-B97D-F124F81E7956}"/>
              </a:ext>
            </a:extLst>
          </p:cNvPr>
          <p:cNvSpPr>
            <a:spLocks noGrp="1"/>
          </p:cNvSpPr>
          <p:nvPr/>
        </p:nvSpPr>
        <p:spPr>
          <a:xfrm>
            <a:off x="432435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0126">
            <a:extLst>
              <a:ext uri="{FF2B5EF4-FFF2-40B4-BE49-F238E27FC236}">
                <a16:creationId xmlns:a16="http://schemas.microsoft.com/office/drawing/2014/main" id="{9ED51665-BA62-422C-BE30-773F2C9D3319}"/>
              </a:ext>
            </a:extLst>
          </p:cNvPr>
          <p:cNvSpPr>
            <a:spLocks noGrp="1"/>
          </p:cNvSpPr>
          <p:nvPr/>
        </p:nvSpPr>
        <p:spPr>
          <a:xfrm>
            <a:off x="4324350" y="23812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14 英寸螺旋桨</a:t>
            </a:r>
          </a:p>
        </p:txBody>
      </p:sp>
      <p:sp>
        <p:nvSpPr>
          <p:cNvPr id="14" name="text-0127">
            <a:extLst>
              <a:ext uri="{FF2B5EF4-FFF2-40B4-BE49-F238E27FC236}">
                <a16:creationId xmlns:a16="http://schemas.microsoft.com/office/drawing/2014/main" id="{0BFAA2F3-5CF7-429F-9B6A-6577288A6715}"/>
              </a:ext>
            </a:extLst>
          </p:cNvPr>
          <p:cNvSpPr>
            <a:spLocks noGrp="1"/>
          </p:cNvSpPr>
          <p:nvPr/>
        </p:nvSpPr>
        <p:spPr>
          <a:xfrm>
            <a:off x="4324350" y="30099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桨距按动力匹配</a:t>
            </a:r>
          </a:p>
        </p:txBody>
      </p:sp>
      <p:sp>
        <p:nvSpPr>
          <p:cNvPr id="15" name="text-0128">
            <a:extLst>
              <a:ext uri="{FF2B5EF4-FFF2-40B4-BE49-F238E27FC236}">
                <a16:creationId xmlns:a16="http://schemas.microsoft.com/office/drawing/2014/main" id="{7447BFB4-64F0-4886-801C-85D60DCA7479}"/>
              </a:ext>
            </a:extLst>
          </p:cNvPr>
          <p:cNvSpPr>
            <a:spLocks noGrp="1"/>
          </p:cNvSpPr>
          <p:nvPr/>
        </p:nvSpPr>
        <p:spPr>
          <a:xfrm>
            <a:off x="4324350" y="36385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9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¥62</a:t>
            </a:r>
          </a:p>
        </p:txBody>
      </p:sp>
      <p:sp>
        <p:nvSpPr>
          <p:cNvPr id="16" name="text-0129">
            <a:extLst>
              <a:ext uri="{FF2B5EF4-FFF2-40B4-BE49-F238E27FC236}">
                <a16:creationId xmlns:a16="http://schemas.microsoft.com/office/drawing/2014/main" id="{576EEDCA-8B52-4BEF-943D-FEE636291BF4}"/>
              </a:ext>
            </a:extLst>
          </p:cNvPr>
          <p:cNvSpPr>
            <a:spLocks noGrp="1"/>
          </p:cNvSpPr>
          <p:nvPr/>
        </p:nvSpPr>
        <p:spPr>
          <a:xfrm>
            <a:off x="4324350" y="44386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不能直接沿用原 10 英寸方案</a:t>
            </a:r>
          </a:p>
        </p:txBody>
      </p:sp>
      <p:sp>
        <p:nvSpPr>
          <p:cNvPr id="17" name="shape-0130">
            <a:extLst>
              <a:ext uri="{FF2B5EF4-FFF2-40B4-BE49-F238E27FC236}">
                <a16:creationId xmlns:a16="http://schemas.microsoft.com/office/drawing/2014/main" id="{FDFC2D9A-B8D3-4828-9940-3B31FB0C80A3}"/>
              </a:ext>
            </a:extLst>
          </p:cNvPr>
          <p:cNvSpPr>
            <a:spLocks noGrp="1"/>
          </p:cNvSpPr>
          <p:nvPr/>
        </p:nvSpPr>
        <p:spPr>
          <a:xfrm>
            <a:off x="7696200" y="1847850"/>
            <a:ext cx="14288" cy="32956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text-0131">
            <a:extLst>
              <a:ext uri="{FF2B5EF4-FFF2-40B4-BE49-F238E27FC236}">
                <a16:creationId xmlns:a16="http://schemas.microsoft.com/office/drawing/2014/main" id="{0EE3ACB0-B6A5-49ED-83FE-9FA0F2FB068C}"/>
              </a:ext>
            </a:extLst>
          </p:cNvPr>
          <p:cNvSpPr>
            <a:spLocks noGrp="1"/>
          </p:cNvSpPr>
          <p:nvPr/>
        </p:nvSpPr>
        <p:spPr>
          <a:xfrm>
            <a:off x="796290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-0132">
            <a:extLst>
              <a:ext uri="{FF2B5EF4-FFF2-40B4-BE49-F238E27FC236}">
                <a16:creationId xmlns:a16="http://schemas.microsoft.com/office/drawing/2014/main" id="{72C89A78-5404-4DA1-AA6F-614A2CF65481}"/>
              </a:ext>
            </a:extLst>
          </p:cNvPr>
          <p:cNvSpPr>
            <a:spLocks noGrp="1"/>
          </p:cNvSpPr>
          <p:nvPr/>
        </p:nvSpPr>
        <p:spPr>
          <a:xfrm>
            <a:off x="7962900" y="23812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RTK GNSS</a:t>
            </a:r>
          </a:p>
        </p:txBody>
      </p:sp>
      <p:sp>
        <p:nvSpPr>
          <p:cNvPr id="20" name="text-0133">
            <a:extLst>
              <a:ext uri="{FF2B5EF4-FFF2-40B4-BE49-F238E27FC236}">
                <a16:creationId xmlns:a16="http://schemas.microsoft.com/office/drawing/2014/main" id="{6AA1A9C4-3279-4F5B-8D6E-C9D111F94DF8}"/>
              </a:ext>
            </a:extLst>
          </p:cNvPr>
          <p:cNvSpPr>
            <a:spLocks noGrp="1"/>
          </p:cNvSpPr>
          <p:nvPr/>
        </p:nvSpPr>
        <p:spPr>
          <a:xfrm>
            <a:off x="7962900" y="30099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兼容 ArduPilot / MAVLink</a:t>
            </a:r>
          </a:p>
        </p:txBody>
      </p:sp>
      <p:sp>
        <p:nvSpPr>
          <p:cNvPr id="21" name="text-0134">
            <a:extLst>
              <a:ext uri="{FF2B5EF4-FFF2-40B4-BE49-F238E27FC236}">
                <a16:creationId xmlns:a16="http://schemas.microsoft.com/office/drawing/2014/main" id="{E57DF2C9-F05A-4961-93D1-BAC4BCB2DF43}"/>
              </a:ext>
            </a:extLst>
          </p:cNvPr>
          <p:cNvSpPr>
            <a:spLocks noGrp="1"/>
          </p:cNvSpPr>
          <p:nvPr/>
        </p:nvSpPr>
        <p:spPr>
          <a:xfrm>
            <a:off x="7962900" y="36385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9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¥4,200</a:t>
            </a:r>
          </a:p>
        </p:txBody>
      </p:sp>
      <p:sp>
        <p:nvSpPr>
          <p:cNvPr id="22" name="text-0135">
            <a:extLst>
              <a:ext uri="{FF2B5EF4-FFF2-40B4-BE49-F238E27FC236}">
                <a16:creationId xmlns:a16="http://schemas.microsoft.com/office/drawing/2014/main" id="{9F8FC4B5-07D2-486C-A6AC-6E08A33086E5}"/>
              </a:ext>
            </a:extLst>
          </p:cNvPr>
          <p:cNvSpPr>
            <a:spLocks noGrp="1"/>
          </p:cNvSpPr>
          <p:nvPr/>
        </p:nvSpPr>
        <p:spPr>
          <a:xfrm>
            <a:off x="7962900" y="44386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提升定位稳定性</a:t>
            </a:r>
          </a:p>
        </p:txBody>
      </p:sp>
      <p:sp>
        <p:nvSpPr>
          <p:cNvPr id="23" name="shape-0136">
            <a:extLst>
              <a:ext uri="{FF2B5EF4-FFF2-40B4-BE49-F238E27FC236}">
                <a16:creationId xmlns:a16="http://schemas.microsoft.com/office/drawing/2014/main" id="{21E441CA-CFF3-4A86-979E-D553DBAA2BC4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820400" cy="57150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24" name="text-0137">
            <a:extLst>
              <a:ext uri="{FF2B5EF4-FFF2-40B4-BE49-F238E27FC236}">
                <a16:creationId xmlns:a16="http://schemas.microsoft.com/office/drawing/2014/main" id="{6D7D39CC-D9DB-4D11-807A-5C3982EF48F9}"/>
              </a:ext>
            </a:extLst>
          </p:cNvPr>
          <p:cNvSpPr>
            <a:spLocks noGrp="1"/>
          </p:cNvSpPr>
          <p:nvPr/>
        </p:nvSpPr>
        <p:spPr>
          <a:xfrm>
            <a:off x="914400" y="5524500"/>
            <a:ext cx="1036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不变：飞控架构 · RK3588 · 下视视觉 · 投放机构 · 软件架构</a:t>
            </a:r>
          </a:p>
        </p:txBody>
      </p:sp>
    </p:spTree>
    <p:extLst>
      <p:ext uri="{BB962C8B-B14F-4D97-AF65-F5344CB8AC3E}">
        <p14:creationId xmlns:p14="http://schemas.microsoft.com/office/powerpoint/2010/main" val="244957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114">
            <a:extLst>
              <a:ext uri="{FF2B5EF4-FFF2-40B4-BE49-F238E27FC236}">
                <a16:creationId xmlns:a16="http://schemas.microsoft.com/office/drawing/2014/main" id="{347E693B-E160-400A-BE5B-AF102312F7F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B / </a:t>
            </a:r>
            <a:r>
              <a:rPr lang="zh-CN" altLang="en-US" sz="135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</a:t>
            </a:r>
            <a:endParaRPr sz="135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text-0115">
            <a:extLst>
              <a:ext uri="{FF2B5EF4-FFF2-40B4-BE49-F238E27FC236}">
                <a16:creationId xmlns:a16="http://schemas.microsoft.com/office/drawing/2014/main" id="{C8D6AEF5-211D-4292-8990-B43450D2C127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方案 </a:t>
            </a:r>
            <a:r>
              <a:rPr lang="en-US" altLang="zh-CN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B </a:t>
            </a:r>
            <a:r>
              <a:rPr lang="zh-CN" altLang="en-US" sz="3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购买页截图：三项升级件</a:t>
            </a:r>
            <a:endParaRPr sz="30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shape-0116">
            <a:extLst>
              <a:ext uri="{FF2B5EF4-FFF2-40B4-BE49-F238E27FC236}">
                <a16:creationId xmlns:a16="http://schemas.microsoft.com/office/drawing/2014/main" id="{4C9338A0-7F3A-4FE8-8607-CA4B05A2D28A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117">
            <a:extLst>
              <a:ext uri="{FF2B5EF4-FFF2-40B4-BE49-F238E27FC236}">
                <a16:creationId xmlns:a16="http://schemas.microsoft.com/office/drawing/2014/main" id="{6B1C2BA0-45BF-47DA-A664-962E4004E5A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118">
            <a:extLst>
              <a:ext uri="{FF2B5EF4-FFF2-40B4-BE49-F238E27FC236}">
                <a16:creationId xmlns:a16="http://schemas.microsoft.com/office/drawing/2014/main" id="{7B4E6C0B-03F6-43D9-95B8-F0FD53B7F62E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text-0119">
            <a:extLst>
              <a:ext uri="{FF2B5EF4-FFF2-40B4-BE49-F238E27FC236}">
                <a16:creationId xmlns:a16="http://schemas.microsoft.com/office/drawing/2014/main" id="{E4A5F59E-7340-41E9-B131-BBBE5BB818E5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120">
            <a:extLst>
              <a:ext uri="{FF2B5EF4-FFF2-40B4-BE49-F238E27FC236}">
                <a16:creationId xmlns:a16="http://schemas.microsoft.com/office/drawing/2014/main" id="{51717573-C3DD-40C1-B04A-D3D17A258A8D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Lanyu X4112S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8" name="text-0121">
            <a:extLst>
              <a:ext uri="{FF2B5EF4-FFF2-40B4-BE49-F238E27FC236}">
                <a16:creationId xmlns:a16="http://schemas.microsoft.com/office/drawing/2014/main" id="{605CB470-1E54-40C0-B588-248902AFB511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KV450 × 4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" name="text-0122">
            <a:extLst>
              <a:ext uri="{FF2B5EF4-FFF2-40B4-BE49-F238E27FC236}">
                <a16:creationId xmlns:a16="http://schemas.microsoft.com/office/drawing/2014/main" id="{524B164E-E0AC-4F0C-971D-875F81CBDE36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¥1,000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0" name="text-0123">
            <a:extLst>
              <a:ext uri="{FF2B5EF4-FFF2-40B4-BE49-F238E27FC236}">
                <a16:creationId xmlns:a16="http://schemas.microsoft.com/office/drawing/2014/main" id="{F8DC7412-262D-4FA4-BDD6-CF08A59703A3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与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14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英寸桨匹配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1" name="shape-0124">
            <a:extLst>
              <a:ext uri="{FF2B5EF4-FFF2-40B4-BE49-F238E27FC236}">
                <a16:creationId xmlns:a16="http://schemas.microsoft.com/office/drawing/2014/main" id="{AC9DB665-D067-4253-B964-5A3B2968B269}"/>
              </a:ext>
            </a:extLst>
          </p:cNvPr>
          <p:cNvSpPr>
            <a:spLocks noGrp="1"/>
          </p:cNvSpPr>
          <p:nvPr/>
        </p:nvSpPr>
        <p:spPr>
          <a:xfrm>
            <a:off x="4057650" y="1847850"/>
            <a:ext cx="14288" cy="32956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text-0125">
            <a:extLst>
              <a:ext uri="{FF2B5EF4-FFF2-40B4-BE49-F238E27FC236}">
                <a16:creationId xmlns:a16="http://schemas.microsoft.com/office/drawing/2014/main" id="{CFA2539A-D6F4-41D2-B97D-F124F81E7956}"/>
              </a:ext>
            </a:extLst>
          </p:cNvPr>
          <p:cNvSpPr>
            <a:spLocks noGrp="1"/>
          </p:cNvSpPr>
          <p:nvPr/>
        </p:nvSpPr>
        <p:spPr>
          <a:xfrm>
            <a:off x="432435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0126">
            <a:extLst>
              <a:ext uri="{FF2B5EF4-FFF2-40B4-BE49-F238E27FC236}">
                <a16:creationId xmlns:a16="http://schemas.microsoft.com/office/drawing/2014/main" id="{9ED51665-BA62-422C-BE30-773F2C9D3319}"/>
              </a:ext>
            </a:extLst>
          </p:cNvPr>
          <p:cNvSpPr>
            <a:spLocks noGrp="1"/>
          </p:cNvSpPr>
          <p:nvPr/>
        </p:nvSpPr>
        <p:spPr>
          <a:xfrm>
            <a:off x="432435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14 </a:t>
            </a:r>
            <a:r>
              <a:rPr lang="zh-CN" alt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英寸螺旋桨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4" name="text-0127">
            <a:extLst>
              <a:ext uri="{FF2B5EF4-FFF2-40B4-BE49-F238E27FC236}">
                <a16:creationId xmlns:a16="http://schemas.microsoft.com/office/drawing/2014/main" id="{0BFAA2F3-5CF7-429F-9B6A-6577288A6715}"/>
              </a:ext>
            </a:extLst>
          </p:cNvPr>
          <p:cNvSpPr>
            <a:spLocks noGrp="1"/>
          </p:cNvSpPr>
          <p:nvPr/>
        </p:nvSpPr>
        <p:spPr>
          <a:xfrm>
            <a:off x="432435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套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5" name="text-0128">
            <a:extLst>
              <a:ext uri="{FF2B5EF4-FFF2-40B4-BE49-F238E27FC236}">
                <a16:creationId xmlns:a16="http://schemas.microsoft.com/office/drawing/2014/main" id="{7447BFB4-64F0-4886-801C-85D60DCA7479}"/>
              </a:ext>
            </a:extLst>
          </p:cNvPr>
          <p:cNvSpPr>
            <a:spLocks noGrp="1"/>
          </p:cNvSpPr>
          <p:nvPr/>
        </p:nvSpPr>
        <p:spPr>
          <a:xfrm>
            <a:off x="432435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¥62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6" name="text-0129">
            <a:extLst>
              <a:ext uri="{FF2B5EF4-FFF2-40B4-BE49-F238E27FC236}">
                <a16:creationId xmlns:a16="http://schemas.microsoft.com/office/drawing/2014/main" id="{576EEDCA-8B52-4BEF-943D-FEE636291BF4}"/>
              </a:ext>
            </a:extLst>
          </p:cNvPr>
          <p:cNvSpPr>
            <a:spLocks noGrp="1"/>
          </p:cNvSpPr>
          <p:nvPr/>
        </p:nvSpPr>
        <p:spPr>
          <a:xfrm>
            <a:off x="432435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桨距仍需确认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7" name="shape-0130">
            <a:extLst>
              <a:ext uri="{FF2B5EF4-FFF2-40B4-BE49-F238E27FC236}">
                <a16:creationId xmlns:a16="http://schemas.microsoft.com/office/drawing/2014/main" id="{FDFC2D9A-B8D3-4828-9940-3B31FB0C80A3}"/>
              </a:ext>
            </a:extLst>
          </p:cNvPr>
          <p:cNvSpPr>
            <a:spLocks noGrp="1"/>
          </p:cNvSpPr>
          <p:nvPr/>
        </p:nvSpPr>
        <p:spPr>
          <a:xfrm>
            <a:off x="7696200" y="1847850"/>
            <a:ext cx="14288" cy="32956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text-0131">
            <a:extLst>
              <a:ext uri="{FF2B5EF4-FFF2-40B4-BE49-F238E27FC236}">
                <a16:creationId xmlns:a16="http://schemas.microsoft.com/office/drawing/2014/main" id="{0EE3ACB0-B6A5-49ED-83FE-9FA0F2FB068C}"/>
              </a:ext>
            </a:extLst>
          </p:cNvPr>
          <p:cNvSpPr>
            <a:spLocks noGrp="1"/>
          </p:cNvSpPr>
          <p:nvPr/>
        </p:nvSpPr>
        <p:spPr>
          <a:xfrm>
            <a:off x="7962900" y="184785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-0132">
            <a:extLst>
              <a:ext uri="{FF2B5EF4-FFF2-40B4-BE49-F238E27FC236}">
                <a16:creationId xmlns:a16="http://schemas.microsoft.com/office/drawing/2014/main" id="{72C89A78-5404-4DA1-AA6F-614A2CF65481}"/>
              </a:ext>
            </a:extLst>
          </p:cNvPr>
          <p:cNvSpPr>
            <a:spLocks noGrp="1"/>
          </p:cNvSpPr>
          <p:nvPr/>
        </p:nvSpPr>
        <p:spPr>
          <a:xfrm>
            <a:off x="7962900" y="3695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RTK GNSS</a:t>
            </a:r>
            <a:endParaRPr sz="19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0" name="text-0133">
            <a:extLst>
              <a:ext uri="{FF2B5EF4-FFF2-40B4-BE49-F238E27FC236}">
                <a16:creationId xmlns:a16="http://schemas.microsoft.com/office/drawing/2014/main" id="{6AA1A9C4-3279-4F5B-8D6E-C9D111F94DF8}"/>
              </a:ext>
            </a:extLst>
          </p:cNvPr>
          <p:cNvSpPr>
            <a:spLocks noGrp="1"/>
          </p:cNvSpPr>
          <p:nvPr/>
        </p:nvSpPr>
        <p:spPr>
          <a:xfrm>
            <a:off x="7962900" y="4171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 </a:t>
            </a:r>
            <a:r>
              <a:rPr lang="zh-CN" altLang="en-US" sz="1350">
                <a:solidFill>
                  <a:srgbClr val="6670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套</a:t>
            </a:r>
            <a:endParaRPr sz="1350">
              <a:solidFill>
                <a:srgbClr val="66708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1" name="text-0134">
            <a:extLst>
              <a:ext uri="{FF2B5EF4-FFF2-40B4-BE49-F238E27FC236}">
                <a16:creationId xmlns:a16="http://schemas.microsoft.com/office/drawing/2014/main" id="{E57DF2C9-F05A-4961-93D1-BAC4BCB2DF43}"/>
              </a:ext>
            </a:extLst>
          </p:cNvPr>
          <p:cNvSpPr>
            <a:spLocks noGrp="1"/>
          </p:cNvSpPr>
          <p:nvPr/>
        </p:nvSpPr>
        <p:spPr>
          <a:xfrm>
            <a:off x="7962900" y="4533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700" b="1">
                <a:solidFill>
                  <a:srgbClr val="3D8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¥4,200</a:t>
            </a:r>
            <a:endParaRPr sz="2700" b="1">
              <a:solidFill>
                <a:srgbClr val="3D8D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2" name="text-0135">
            <a:extLst>
              <a:ext uri="{FF2B5EF4-FFF2-40B4-BE49-F238E27FC236}">
                <a16:creationId xmlns:a16="http://schemas.microsoft.com/office/drawing/2014/main" id="{9F8FC4B5-07D2-486C-A6AC-6E08A33086E5}"/>
              </a:ext>
            </a:extLst>
          </p:cNvPr>
          <p:cNvSpPr>
            <a:spLocks noGrp="1"/>
          </p:cNvSpPr>
          <p:nvPr/>
        </p:nvSpPr>
        <p:spPr>
          <a:xfrm>
            <a:off x="7962900" y="5029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购买页截图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</a:t>
            </a:r>
            <a:r>
              <a:rPr lang="zh-CN" altLang="en-US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兼容 </a:t>
            </a:r>
            <a:r>
              <a:rPr lang="en-US" altLang="zh-CN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ArduPilot</a:t>
            </a:r>
            <a:endParaRPr sz="12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3" name="shape-0136">
            <a:extLst>
              <a:ext uri="{FF2B5EF4-FFF2-40B4-BE49-F238E27FC236}">
                <a16:creationId xmlns:a16="http://schemas.microsoft.com/office/drawing/2014/main" id="{21E441CA-CFF3-4A86-979E-D553DBAA2BC4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820400" cy="57150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24" name="text-0137">
            <a:extLst>
              <a:ext uri="{FF2B5EF4-FFF2-40B4-BE49-F238E27FC236}">
                <a16:creationId xmlns:a16="http://schemas.microsoft.com/office/drawing/2014/main" id="{6D7D39CC-D9DB-4D11-807A-5C3982EF48F9}"/>
              </a:ext>
            </a:extLst>
          </p:cNvPr>
          <p:cNvSpPr>
            <a:spLocks noGrp="1"/>
          </p:cNvSpPr>
          <p:nvPr/>
        </p:nvSpPr>
        <p:spPr>
          <a:xfrm>
            <a:off x="914400" y="5524500"/>
            <a:ext cx="1036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三项升级必须重新匹配动力与定位链路，不能直接套用原 </a:t>
            </a:r>
            <a:r>
              <a:rPr lang="en-US" altLang="zh-CN" sz="13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10 </a:t>
            </a:r>
            <a:r>
              <a:rPr lang="zh-CN" altLang="en-US" sz="135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英寸方案。</a:t>
            </a:r>
            <a:endParaRPr sz="135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97532"/>
            <a:ext cx="3143250" cy="1443735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24350" y="2097532"/>
            <a:ext cx="3143250" cy="1443735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62900" y="2097532"/>
            <a:ext cx="3143250" cy="144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7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138">
            <a:extLst>
              <a:ext uri="{FF2B5EF4-FFF2-40B4-BE49-F238E27FC236}">
                <a16:creationId xmlns:a16="http://schemas.microsoft.com/office/drawing/2014/main" id="{BF786C7B-5CA3-4170-BC0F-F616336695B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B / 总价</a:t>
            </a:r>
          </a:p>
        </p:txBody>
      </p:sp>
      <p:sp>
        <p:nvSpPr>
          <p:cNvPr id="2" name="text-0139">
            <a:extLst>
              <a:ext uri="{FF2B5EF4-FFF2-40B4-BE49-F238E27FC236}">
                <a16:creationId xmlns:a16="http://schemas.microsoft.com/office/drawing/2014/main" id="{69BE912E-2B53-4622-9CC6-0E530D70C947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方案 B 的 ¥9,114 来自替换，不是在 A 上简单累加</a:t>
            </a:r>
          </a:p>
        </p:txBody>
      </p:sp>
      <p:sp>
        <p:nvSpPr>
          <p:cNvPr id="3" name="shape-0140">
            <a:extLst>
              <a:ext uri="{FF2B5EF4-FFF2-40B4-BE49-F238E27FC236}">
                <a16:creationId xmlns:a16="http://schemas.microsoft.com/office/drawing/2014/main" id="{C0DF1C4D-5AE0-4F60-A502-F9C7907AFE08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141">
            <a:extLst>
              <a:ext uri="{FF2B5EF4-FFF2-40B4-BE49-F238E27FC236}">
                <a16:creationId xmlns:a16="http://schemas.microsoft.com/office/drawing/2014/main" id="{313F7C57-BDAF-480B-AFA6-4C861808D197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142">
            <a:extLst>
              <a:ext uri="{FF2B5EF4-FFF2-40B4-BE49-F238E27FC236}">
                <a16:creationId xmlns:a16="http://schemas.microsoft.com/office/drawing/2014/main" id="{BF2B4C3E-78ED-4D77-BAD2-7DD9EBC94320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text-0143">
            <a:extLst>
              <a:ext uri="{FF2B5EF4-FFF2-40B4-BE49-F238E27FC236}">
                <a16:creationId xmlns:a16="http://schemas.microsoft.com/office/drawing/2014/main" id="{FD76E652-A453-422E-B441-2C95F4DBB178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2333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75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方案 A 全自购</a:t>
            </a:r>
          </a:p>
        </p:txBody>
      </p:sp>
      <p:sp>
        <p:nvSpPr>
          <p:cNvPr id="7" name="text-0144">
            <a:extLst>
              <a:ext uri="{FF2B5EF4-FFF2-40B4-BE49-F238E27FC236}">
                <a16:creationId xmlns:a16="http://schemas.microsoft.com/office/drawing/2014/main" id="{409D4B5C-CB04-46FA-BAB7-37568F403DD5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2333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¥4,857</a:t>
            </a:r>
          </a:p>
        </p:txBody>
      </p:sp>
      <p:sp>
        <p:nvSpPr>
          <p:cNvPr id="8" name="text-0145">
            <a:extLst>
              <a:ext uri="{FF2B5EF4-FFF2-40B4-BE49-F238E27FC236}">
                <a16:creationId xmlns:a16="http://schemas.microsoft.com/office/drawing/2014/main" id="{0755F0F3-975D-445A-8B28-A74E29A27248}"/>
              </a:ext>
            </a:extLst>
          </p:cNvPr>
          <p:cNvSpPr>
            <a:spLocks noGrp="1"/>
          </p:cNvSpPr>
          <p:nvPr/>
        </p:nvSpPr>
        <p:spPr>
          <a:xfrm>
            <a:off x="3190875" y="2333625"/>
            <a:ext cx="571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−</a:t>
            </a:r>
          </a:p>
        </p:txBody>
      </p:sp>
      <p:sp>
        <p:nvSpPr>
          <p:cNvPr id="9" name="text-0146">
            <a:extLst>
              <a:ext uri="{FF2B5EF4-FFF2-40B4-BE49-F238E27FC236}">
                <a16:creationId xmlns:a16="http://schemas.microsoft.com/office/drawing/2014/main" id="{85308ACE-B2FB-4ED5-8071-DCEF92EC8AEC}"/>
              </a:ext>
            </a:extLst>
          </p:cNvPr>
          <p:cNvSpPr>
            <a:spLocks noGrp="1"/>
          </p:cNvSpPr>
          <p:nvPr/>
        </p:nvSpPr>
        <p:spPr>
          <a:xfrm>
            <a:off x="3857625" y="18288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75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移除旧件</a:t>
            </a:r>
          </a:p>
        </p:txBody>
      </p:sp>
      <p:sp>
        <p:nvSpPr>
          <p:cNvPr id="10" name="text-0147">
            <a:extLst>
              <a:ext uri="{FF2B5EF4-FFF2-40B4-BE49-F238E27FC236}">
                <a16:creationId xmlns:a16="http://schemas.microsoft.com/office/drawing/2014/main" id="{8A5CBB21-9257-4085-A5FF-CFE884642A9B}"/>
              </a:ext>
            </a:extLst>
          </p:cNvPr>
          <p:cNvSpPr>
            <a:spLocks noGrp="1"/>
          </p:cNvSpPr>
          <p:nvPr/>
        </p:nvSpPr>
        <p:spPr>
          <a:xfrm>
            <a:off x="3857625" y="226695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¥1,005</a:t>
            </a:r>
          </a:p>
        </p:txBody>
      </p:sp>
      <p:sp>
        <p:nvSpPr>
          <p:cNvPr id="11" name="text-0148">
            <a:extLst>
              <a:ext uri="{FF2B5EF4-FFF2-40B4-BE49-F238E27FC236}">
                <a16:creationId xmlns:a16="http://schemas.microsoft.com/office/drawing/2014/main" id="{41D36F33-6B77-49E7-B2B3-D9C17B95FCD1}"/>
              </a:ext>
            </a:extLst>
          </p:cNvPr>
          <p:cNvSpPr>
            <a:spLocks noGrp="1"/>
          </p:cNvSpPr>
          <p:nvPr/>
        </p:nvSpPr>
        <p:spPr>
          <a:xfrm>
            <a:off x="6400800" y="2333625"/>
            <a:ext cx="571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2" name="text-0149">
            <a:extLst>
              <a:ext uri="{FF2B5EF4-FFF2-40B4-BE49-F238E27FC236}">
                <a16:creationId xmlns:a16="http://schemas.microsoft.com/office/drawing/2014/main" id="{F04A1974-BB7D-4171-8B4F-B72F3B76FCF9}"/>
              </a:ext>
            </a:extLst>
          </p:cNvPr>
          <p:cNvSpPr>
            <a:spLocks noGrp="1"/>
          </p:cNvSpPr>
          <p:nvPr/>
        </p:nvSpPr>
        <p:spPr>
          <a:xfrm>
            <a:off x="7067550" y="18288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75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升级件</a:t>
            </a:r>
          </a:p>
        </p:txBody>
      </p:sp>
      <p:sp>
        <p:nvSpPr>
          <p:cNvPr id="13" name="text-0150">
            <a:extLst>
              <a:ext uri="{FF2B5EF4-FFF2-40B4-BE49-F238E27FC236}">
                <a16:creationId xmlns:a16="http://schemas.microsoft.com/office/drawing/2014/main" id="{3DAAA87A-1472-4053-BCDB-1B2E442630FD}"/>
              </a:ext>
            </a:extLst>
          </p:cNvPr>
          <p:cNvSpPr>
            <a:spLocks noGrp="1"/>
          </p:cNvSpPr>
          <p:nvPr/>
        </p:nvSpPr>
        <p:spPr>
          <a:xfrm>
            <a:off x="7067550" y="2266950"/>
            <a:ext cx="209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4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¥5,262</a:t>
            </a:r>
          </a:p>
        </p:txBody>
      </p:sp>
      <p:sp>
        <p:nvSpPr>
          <p:cNvPr id="14" name="text-0151">
            <a:extLst>
              <a:ext uri="{FF2B5EF4-FFF2-40B4-BE49-F238E27FC236}">
                <a16:creationId xmlns:a16="http://schemas.microsoft.com/office/drawing/2014/main" id="{4A6E4F3B-6446-4708-81EB-D55090D8A1B0}"/>
              </a:ext>
            </a:extLst>
          </p:cNvPr>
          <p:cNvSpPr>
            <a:spLocks noGrp="1"/>
          </p:cNvSpPr>
          <p:nvPr/>
        </p:nvSpPr>
        <p:spPr>
          <a:xfrm>
            <a:off x="9277350" y="2333625"/>
            <a:ext cx="571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15" name="shape-0152">
            <a:extLst>
              <a:ext uri="{FF2B5EF4-FFF2-40B4-BE49-F238E27FC236}">
                <a16:creationId xmlns:a16="http://schemas.microsoft.com/office/drawing/2014/main" id="{F14DA8C6-3E2C-4E0B-8500-B8D2053AF315}"/>
              </a:ext>
            </a:extLst>
          </p:cNvPr>
          <p:cNvSpPr>
            <a:spLocks noGrp="1"/>
          </p:cNvSpPr>
          <p:nvPr/>
        </p:nvSpPr>
        <p:spPr>
          <a:xfrm>
            <a:off x="9982200" y="1733550"/>
            <a:ext cx="1524000" cy="12573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6" name="text-0153">
            <a:extLst>
              <a:ext uri="{FF2B5EF4-FFF2-40B4-BE49-F238E27FC236}">
                <a16:creationId xmlns:a16="http://schemas.microsoft.com/office/drawing/2014/main" id="{07B42CCE-B560-4C22-90B1-30B99648CAB8}"/>
              </a:ext>
            </a:extLst>
          </p:cNvPr>
          <p:cNvSpPr>
            <a:spLocks noGrp="1"/>
          </p:cNvSpPr>
          <p:nvPr/>
        </p:nvSpPr>
        <p:spPr>
          <a:xfrm>
            <a:off x="10134600" y="19240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 B</a:t>
            </a:r>
          </a:p>
        </p:txBody>
      </p:sp>
      <p:sp>
        <p:nvSpPr>
          <p:cNvPr id="17" name="text-0154">
            <a:extLst>
              <a:ext uri="{FF2B5EF4-FFF2-40B4-BE49-F238E27FC236}">
                <a16:creationId xmlns:a16="http://schemas.microsoft.com/office/drawing/2014/main" id="{37520798-313C-49E4-8514-8B44268B270F}"/>
              </a:ext>
            </a:extLst>
          </p:cNvPr>
          <p:cNvSpPr>
            <a:spLocks noGrp="1"/>
          </p:cNvSpPr>
          <p:nvPr/>
        </p:nvSpPr>
        <p:spPr>
          <a:xfrm>
            <a:off x="10058400" y="2324100"/>
            <a:ext cx="1371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¥9,114</a:t>
            </a:r>
          </a:p>
        </p:txBody>
      </p:sp>
      <p:sp>
        <p:nvSpPr>
          <p:cNvPr id="18" name="shape-0155">
            <a:extLst>
              <a:ext uri="{FF2B5EF4-FFF2-40B4-BE49-F238E27FC236}">
                <a16:creationId xmlns:a16="http://schemas.microsoft.com/office/drawing/2014/main" id="{CF603BDB-757D-413E-951A-15D612AFB183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10820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text-0156">
            <a:extLst>
              <a:ext uri="{FF2B5EF4-FFF2-40B4-BE49-F238E27FC236}">
                <a16:creationId xmlns:a16="http://schemas.microsoft.com/office/drawing/2014/main" id="{43B61778-D50D-49E4-B52E-EC0F37B9C0AB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移除</a:t>
            </a:r>
          </a:p>
        </p:txBody>
      </p:sp>
      <p:sp>
        <p:nvSpPr>
          <p:cNvPr id="20" name="text-0157">
            <a:extLst>
              <a:ext uri="{FF2B5EF4-FFF2-40B4-BE49-F238E27FC236}">
                <a16:creationId xmlns:a16="http://schemas.microsoft.com/office/drawing/2014/main" id="{05FA63C7-A2EE-4F10-95BF-562C66FDD524}"/>
              </a:ext>
            </a:extLst>
          </p:cNvPr>
          <p:cNvSpPr>
            <a:spLocks noGrp="1"/>
          </p:cNvSpPr>
          <p:nvPr/>
        </p:nvSpPr>
        <p:spPr>
          <a:xfrm>
            <a:off x="1981200" y="3638550"/>
            <a:ext cx="952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3115 电机 ¥325  +  原 10 英寸桨 ¥30  +  CUAV NEO 3X ¥650</a:t>
            </a:r>
          </a:p>
        </p:txBody>
      </p:sp>
      <p:sp>
        <p:nvSpPr>
          <p:cNvPr id="21" name="text-0158">
            <a:extLst>
              <a:ext uri="{FF2B5EF4-FFF2-40B4-BE49-F238E27FC236}">
                <a16:creationId xmlns:a16="http://schemas.microsoft.com/office/drawing/2014/main" id="{1A305616-63E5-4E21-A39F-0EAC3C185754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加入</a:t>
            </a:r>
          </a:p>
        </p:txBody>
      </p:sp>
      <p:sp>
        <p:nvSpPr>
          <p:cNvPr id="22" name="text-0159">
            <a:extLst>
              <a:ext uri="{FF2B5EF4-FFF2-40B4-BE49-F238E27FC236}">
                <a16:creationId xmlns:a16="http://schemas.microsoft.com/office/drawing/2014/main" id="{30FC8189-58E3-4C04-AD35-D36565ADE3C8}"/>
              </a:ext>
            </a:extLst>
          </p:cNvPr>
          <p:cNvSpPr>
            <a:spLocks noGrp="1"/>
          </p:cNvSpPr>
          <p:nvPr/>
        </p:nvSpPr>
        <p:spPr>
          <a:xfrm>
            <a:off x="1981200" y="4362450"/>
            <a:ext cx="952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X4112S 电机 ¥1,000  +  14 英寸桨 ¥62  +  RTK GNSS ¥4,200</a:t>
            </a:r>
          </a:p>
        </p:txBody>
      </p:sp>
      <p:sp>
        <p:nvSpPr>
          <p:cNvPr id="23" name="shape-0160">
            <a:extLst>
              <a:ext uri="{FF2B5EF4-FFF2-40B4-BE49-F238E27FC236}">
                <a16:creationId xmlns:a16="http://schemas.microsoft.com/office/drawing/2014/main" id="{4916704A-D64C-4230-BCFD-9B9379334F59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723900"/>
          </a:xfrm>
          <a:prstGeom prst="rect">
            <a:avLst/>
          </a:prstGeom>
          <a:solidFill>
            <a:srgbClr val="F5F6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text-0161">
            <a:extLst>
              <a:ext uri="{FF2B5EF4-FFF2-40B4-BE49-F238E27FC236}">
                <a16:creationId xmlns:a16="http://schemas.microsoft.com/office/drawing/2014/main" id="{A42422B6-A435-49D0-AF2E-4FEFB9D8CFA0}"/>
              </a:ext>
            </a:extLst>
          </p:cNvPr>
          <p:cNvSpPr>
            <a:spLocks noGrp="1"/>
          </p:cNvSpPr>
          <p:nvPr/>
        </p:nvSpPr>
        <p:spPr>
          <a:xfrm>
            <a:off x="914400" y="5381625"/>
            <a:ext cx="10363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10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¥4,857 − ¥325 − ¥30 − ¥650 + ¥5,262 = ¥9,114</a:t>
            </a:r>
          </a:p>
        </p:txBody>
      </p:sp>
    </p:spTree>
    <p:extLst>
      <p:ext uri="{BB962C8B-B14F-4D97-AF65-F5344CB8AC3E}">
        <p14:creationId xmlns:p14="http://schemas.microsoft.com/office/powerpoint/2010/main" val="1059234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162">
            <a:extLst>
              <a:ext uri="{FF2B5EF4-FFF2-40B4-BE49-F238E27FC236}">
                <a16:creationId xmlns:a16="http://schemas.microsoft.com/office/drawing/2014/main" id="{8CFD6389-2833-478D-BD38-E96CA219A74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方案对比</a:t>
            </a:r>
          </a:p>
        </p:txBody>
      </p:sp>
      <p:sp>
        <p:nvSpPr>
          <p:cNvPr id="2" name="text-0163">
            <a:extLst>
              <a:ext uri="{FF2B5EF4-FFF2-40B4-BE49-F238E27FC236}">
                <a16:creationId xmlns:a16="http://schemas.microsoft.com/office/drawing/2014/main" id="{65AFB2B3-8264-480A-929F-A98AD2EEC8B6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 与 B 的核心区别只有动力和定位</a:t>
            </a:r>
          </a:p>
        </p:txBody>
      </p:sp>
      <p:sp>
        <p:nvSpPr>
          <p:cNvPr id="3" name="shape-0164">
            <a:extLst>
              <a:ext uri="{FF2B5EF4-FFF2-40B4-BE49-F238E27FC236}">
                <a16:creationId xmlns:a16="http://schemas.microsoft.com/office/drawing/2014/main" id="{ED4CE832-BF3F-4BDF-921A-3CE62A492885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165">
            <a:extLst>
              <a:ext uri="{FF2B5EF4-FFF2-40B4-BE49-F238E27FC236}">
                <a16:creationId xmlns:a16="http://schemas.microsoft.com/office/drawing/2014/main" id="{46520745-0612-435E-994E-D312B672437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166">
            <a:extLst>
              <a:ext uri="{FF2B5EF4-FFF2-40B4-BE49-F238E27FC236}">
                <a16:creationId xmlns:a16="http://schemas.microsoft.com/office/drawing/2014/main" id="{0E263BB1-38E7-4A31-A794-82C764DEE667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text-0167">
            <a:extLst>
              <a:ext uri="{FF2B5EF4-FFF2-40B4-BE49-F238E27FC236}">
                <a16:creationId xmlns:a16="http://schemas.microsoft.com/office/drawing/2014/main" id="{93D11398-5AC1-4C98-9AF1-B9B81DAE1270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这意味着团队可以先用 A 跑通软件，再按需要升级 B。</a:t>
            </a:r>
          </a:p>
        </p:txBody>
      </p:sp>
      <p:graphicFrame>
        <p:nvGraphicFramePr>
          <p:cNvPr id="16" name="表格 13"/>
          <p:cNvGraphicFramePr/>
          <p:nvPr/>
        </p:nvGraphicFramePr>
        <p:xfrm>
          <a:off x="685800" y="1847850"/>
          <a:ext cx="10820400" cy="4000500"/>
        </p:xfrm>
        <a:graphic>
          <a:graphicData uri="http://schemas.openxmlformats.org/drawingml/2006/table">
            <a:tbl>
              <a:tblPr firstRow="1"/>
              <a:tblGrid>
                <a:gridCol w="232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对比项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 A：低成本复现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 B：稳定飞行</a:t>
                      </a:r>
                    </a:p>
                  </a:txBody>
                  <a:tcPr anchor="ctr">
                    <a:solidFill>
                      <a:srgbClr val="3D8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 GNSS</a:t>
                      </a:r>
                    </a:p>
                  </a:txBody>
                  <a:tcPr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RTK</a:t>
                      </a:r>
                    </a:p>
                  </a:txBody>
                  <a:tcPr anchor="ctr">
                    <a:solidFill>
                      <a:srgbClr val="D0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动力</a:t>
                      </a:r>
                    </a:p>
                  </a:txBody>
                  <a:tcPr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低成本动力方案</a:t>
                      </a:r>
                    </a:p>
                  </a:txBody>
                  <a:tcPr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英寸高余量动力</a:t>
                      </a:r>
                    </a:p>
                  </a:txBody>
                  <a:tcPr anchor="ctr">
                    <a:solidFill>
                      <a:srgbClr val="D0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RK3588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下视视觉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飞控架构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38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-0168">
            <a:extLst>
              <a:ext uri="{FF2B5EF4-FFF2-40B4-BE49-F238E27FC236}">
                <a16:creationId xmlns:a16="http://schemas.microsoft.com/office/drawing/2014/main" id="{4FC1BDF5-112C-47EC-8E85-0A289124991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工具准备</a:t>
            </a:r>
          </a:p>
        </p:txBody>
      </p:sp>
      <p:sp>
        <p:nvSpPr>
          <p:cNvPr id="2" name="text-0169">
            <a:extLst>
              <a:ext uri="{FF2B5EF4-FFF2-40B4-BE49-F238E27FC236}">
                <a16:creationId xmlns:a16="http://schemas.microsoft.com/office/drawing/2014/main" id="{744F0C0E-DD20-4B84-8A48-AA09F0D9488B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下单之外，还要准备四类装机与调试工具</a:t>
            </a:r>
          </a:p>
        </p:txBody>
      </p:sp>
      <p:sp>
        <p:nvSpPr>
          <p:cNvPr id="3" name="shape-0170">
            <a:extLst>
              <a:ext uri="{FF2B5EF4-FFF2-40B4-BE49-F238E27FC236}">
                <a16:creationId xmlns:a16="http://schemas.microsoft.com/office/drawing/2014/main" id="{EFBBF153-F242-4813-A1AF-EE4CA45CE798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171">
            <a:extLst>
              <a:ext uri="{FF2B5EF4-FFF2-40B4-BE49-F238E27FC236}">
                <a16:creationId xmlns:a16="http://schemas.microsoft.com/office/drawing/2014/main" id="{1D98FAB3-E342-4CE1-9F3B-1184557D27E4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172">
            <a:extLst>
              <a:ext uri="{FF2B5EF4-FFF2-40B4-BE49-F238E27FC236}">
                <a16:creationId xmlns:a16="http://schemas.microsoft.com/office/drawing/2014/main" id="{40A4D1D8-91B7-4354-9598-8FDF13C54560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text-0173">
            <a:extLst>
              <a:ext uri="{FF2B5EF4-FFF2-40B4-BE49-F238E27FC236}">
                <a16:creationId xmlns:a16="http://schemas.microsoft.com/office/drawing/2014/main" id="{105ECA7F-914C-4D53-964D-9E54417FC5D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174">
            <a:extLst>
              <a:ext uri="{FF2B5EF4-FFF2-40B4-BE49-F238E27FC236}">
                <a16:creationId xmlns:a16="http://schemas.microsoft.com/office/drawing/2014/main" id="{807CE4CB-B68B-4CA2-982D-21ABD3337A64}"/>
              </a:ext>
            </a:extLst>
          </p:cNvPr>
          <p:cNvSpPr>
            <a:spLocks noGrp="1"/>
          </p:cNvSpPr>
          <p:nvPr/>
        </p:nvSpPr>
        <p:spPr>
          <a:xfrm>
            <a:off x="1295400" y="180975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Linux 笔记本</a:t>
            </a:r>
          </a:p>
        </p:txBody>
      </p:sp>
      <p:sp>
        <p:nvSpPr>
          <p:cNvPr id="8" name="text-0175">
            <a:extLst>
              <a:ext uri="{FF2B5EF4-FFF2-40B4-BE49-F238E27FC236}">
                <a16:creationId xmlns:a16="http://schemas.microsoft.com/office/drawing/2014/main" id="{952C078D-45C0-42F5-ADF0-548DAFBFA212}"/>
              </a:ext>
            </a:extLst>
          </p:cNvPr>
          <p:cNvSpPr>
            <a:spLocks noGrp="1"/>
          </p:cNvSpPr>
          <p:nvPr/>
        </p:nvSpPr>
        <p:spPr>
          <a:xfrm>
            <a:off x="1295400" y="2152650"/>
            <a:ext cx="4343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推荐 Ubuntu 22.04；用于刷机、配置、地面站、日志与开发。</a:t>
            </a:r>
          </a:p>
        </p:txBody>
      </p:sp>
      <p:sp>
        <p:nvSpPr>
          <p:cNvPr id="9" name="text-0176">
            <a:extLst>
              <a:ext uri="{FF2B5EF4-FFF2-40B4-BE49-F238E27FC236}">
                <a16:creationId xmlns:a16="http://schemas.microsoft.com/office/drawing/2014/main" id="{7BB43398-BEDF-4A28-8D82-179D931FBBB8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-0177">
            <a:extLst>
              <a:ext uri="{FF2B5EF4-FFF2-40B4-BE49-F238E27FC236}">
                <a16:creationId xmlns:a16="http://schemas.microsoft.com/office/drawing/2014/main" id="{E28AEC4D-82BE-4047-971B-7A89B957D132}"/>
              </a:ext>
            </a:extLst>
          </p:cNvPr>
          <p:cNvSpPr>
            <a:spLocks noGrp="1"/>
          </p:cNvSpPr>
          <p:nvPr/>
        </p:nvSpPr>
        <p:spPr>
          <a:xfrm>
            <a:off x="1295400" y="314325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万用表</a:t>
            </a:r>
          </a:p>
        </p:txBody>
      </p:sp>
      <p:sp>
        <p:nvSpPr>
          <p:cNvPr id="11" name="text-0178">
            <a:extLst>
              <a:ext uri="{FF2B5EF4-FFF2-40B4-BE49-F238E27FC236}">
                <a16:creationId xmlns:a16="http://schemas.microsoft.com/office/drawing/2014/main" id="{707798E5-AB6E-4E09-BF71-2DF5727A1292}"/>
              </a:ext>
            </a:extLst>
          </p:cNvPr>
          <p:cNvSpPr>
            <a:spLocks noGrp="1"/>
          </p:cNvSpPr>
          <p:nvPr/>
        </p:nvSpPr>
        <p:spPr>
          <a:xfrm>
            <a:off x="1295400" y="3486150"/>
            <a:ext cx="4343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用于确认电压、极性、通断和供电故障。</a:t>
            </a:r>
          </a:p>
        </p:txBody>
      </p:sp>
      <p:sp>
        <p:nvSpPr>
          <p:cNvPr id="12" name="text-0179">
            <a:extLst>
              <a:ext uri="{FF2B5EF4-FFF2-40B4-BE49-F238E27FC236}">
                <a16:creationId xmlns:a16="http://schemas.microsoft.com/office/drawing/2014/main" id="{2732256E-F23C-4136-951B-6329F115165E}"/>
              </a:ext>
            </a:extLst>
          </p:cNvPr>
          <p:cNvSpPr>
            <a:spLocks noGrp="1"/>
          </p:cNvSpPr>
          <p:nvPr/>
        </p:nvSpPr>
        <p:spPr>
          <a:xfrm>
            <a:off x="6286500" y="18097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-0180">
            <a:extLst>
              <a:ext uri="{FF2B5EF4-FFF2-40B4-BE49-F238E27FC236}">
                <a16:creationId xmlns:a16="http://schemas.microsoft.com/office/drawing/2014/main" id="{0B82318F-B06F-4980-BBDB-C3EB19C750CD}"/>
              </a:ext>
            </a:extLst>
          </p:cNvPr>
          <p:cNvSpPr>
            <a:spLocks noGrp="1"/>
          </p:cNvSpPr>
          <p:nvPr/>
        </p:nvSpPr>
        <p:spPr>
          <a:xfrm>
            <a:off x="6896100" y="1809750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焊接与装机工具</a:t>
            </a:r>
          </a:p>
        </p:txBody>
      </p:sp>
      <p:sp>
        <p:nvSpPr>
          <p:cNvPr id="14" name="text-0181">
            <a:extLst>
              <a:ext uri="{FF2B5EF4-FFF2-40B4-BE49-F238E27FC236}">
                <a16:creationId xmlns:a16="http://schemas.microsoft.com/office/drawing/2014/main" id="{A909C1B7-58D3-4569-9201-2408EDA33C6D}"/>
              </a:ext>
            </a:extLst>
          </p:cNvPr>
          <p:cNvSpPr>
            <a:spLocks noGrp="1"/>
          </p:cNvSpPr>
          <p:nvPr/>
        </p:nvSpPr>
        <p:spPr>
          <a:xfrm>
            <a:off x="6896100" y="2152650"/>
            <a:ext cx="4610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电烙铁、焊锡、热缩管、剥线钳和基础螺丝工具。</a:t>
            </a:r>
          </a:p>
        </p:txBody>
      </p:sp>
      <p:sp>
        <p:nvSpPr>
          <p:cNvPr id="15" name="text-0182">
            <a:extLst>
              <a:ext uri="{FF2B5EF4-FFF2-40B4-BE49-F238E27FC236}">
                <a16:creationId xmlns:a16="http://schemas.microsoft.com/office/drawing/2014/main" id="{72A16C61-A58D-44F8-BA64-9D9CF22EF0CE}"/>
              </a:ext>
            </a:extLst>
          </p:cNvPr>
          <p:cNvSpPr>
            <a:spLocks noGrp="1"/>
          </p:cNvSpPr>
          <p:nvPr/>
        </p:nvSpPr>
        <p:spPr>
          <a:xfrm>
            <a:off x="6286500" y="31432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text-0183">
            <a:extLst>
              <a:ext uri="{FF2B5EF4-FFF2-40B4-BE49-F238E27FC236}">
                <a16:creationId xmlns:a16="http://schemas.microsoft.com/office/drawing/2014/main" id="{1AEBC707-9A39-48FD-9A37-4A514ED86EC2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显示器、鼠标、键盘</a:t>
            </a:r>
          </a:p>
        </p:txBody>
      </p:sp>
      <p:sp>
        <p:nvSpPr>
          <p:cNvPr id="17" name="text-0184">
            <a:extLst>
              <a:ext uri="{FF2B5EF4-FFF2-40B4-BE49-F238E27FC236}">
                <a16:creationId xmlns:a16="http://schemas.microsoft.com/office/drawing/2014/main" id="{FA2AC0C1-9977-4C00-8D67-A4A0C0517CAE}"/>
              </a:ext>
            </a:extLst>
          </p:cNvPr>
          <p:cNvSpPr>
            <a:spLocks noGrp="1"/>
          </p:cNvSpPr>
          <p:nvPr/>
        </p:nvSpPr>
        <p:spPr>
          <a:xfrm>
            <a:off x="6896100" y="3486150"/>
            <a:ext cx="4610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RK3588 初次配置 Wi-Fi、IP 与板端环境时使用。</a:t>
            </a:r>
          </a:p>
        </p:txBody>
      </p:sp>
      <p:sp>
        <p:nvSpPr>
          <p:cNvPr id="18" name="shape-0185">
            <a:extLst>
              <a:ext uri="{FF2B5EF4-FFF2-40B4-BE49-F238E27FC236}">
                <a16:creationId xmlns:a16="http://schemas.microsoft.com/office/drawing/2014/main" id="{95064A42-A327-409F-93E8-1764D73AE60B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10820400" cy="10096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9" name="text-0186">
            <a:extLst>
              <a:ext uri="{FF2B5EF4-FFF2-40B4-BE49-F238E27FC236}">
                <a16:creationId xmlns:a16="http://schemas.microsoft.com/office/drawing/2014/main" id="{76299261-DB3F-4791-A404-0573C5935945}"/>
              </a:ext>
            </a:extLst>
          </p:cNvPr>
          <p:cNvSpPr>
            <a:spLocks noGrp="1"/>
          </p:cNvSpPr>
          <p:nvPr/>
        </p:nvSpPr>
        <p:spPr>
          <a:xfrm>
            <a:off x="971550" y="50673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工具也是系统的一部分</a:t>
            </a:r>
          </a:p>
        </p:txBody>
      </p:sp>
      <p:sp>
        <p:nvSpPr>
          <p:cNvPr id="20" name="text-0187">
            <a:extLst>
              <a:ext uri="{FF2B5EF4-FFF2-40B4-BE49-F238E27FC236}">
                <a16:creationId xmlns:a16="http://schemas.microsoft.com/office/drawing/2014/main" id="{BF9CC2A1-B90F-4C61-8BF6-51AD7A27919E}"/>
              </a:ext>
            </a:extLst>
          </p:cNvPr>
          <p:cNvSpPr>
            <a:spLocks noGrp="1"/>
          </p:cNvSpPr>
          <p:nvPr/>
        </p:nvSpPr>
        <p:spPr>
          <a:xfrm>
            <a:off x="4171950" y="5048250"/>
            <a:ext cx="6972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46"/>
          </a:bodyPr>
          <a:lstStyle/>
          <a:p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没有测量、刷机和调试手段，完整 BOM 也无法变成可验证的飞行系统。</a:t>
            </a:r>
          </a:p>
        </p:txBody>
      </p:sp>
    </p:spTree>
    <p:extLst>
      <p:ext uri="{BB962C8B-B14F-4D97-AF65-F5344CB8AC3E}">
        <p14:creationId xmlns:p14="http://schemas.microsoft.com/office/powerpoint/2010/main" val="1526631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-0188">
            <a:extLst>
              <a:ext uri="{FF2B5EF4-FFF2-40B4-BE49-F238E27FC236}">
                <a16:creationId xmlns:a16="http://schemas.microsoft.com/office/drawing/2014/main" id="{C80CA00D-E03A-4976-9680-E9DDDD26B62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采购注意</a:t>
            </a:r>
          </a:p>
        </p:txBody>
      </p:sp>
      <p:sp>
        <p:nvSpPr>
          <p:cNvPr id="2" name="text-0189">
            <a:extLst>
              <a:ext uri="{FF2B5EF4-FFF2-40B4-BE49-F238E27FC236}">
                <a16:creationId xmlns:a16="http://schemas.microsoft.com/office/drawing/2014/main" id="{3ADB9F3C-C5A3-40A3-8759-16AE78FCDED7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采购前先过 7 条工程门禁</a:t>
            </a:r>
          </a:p>
        </p:txBody>
      </p:sp>
      <p:sp>
        <p:nvSpPr>
          <p:cNvPr id="3" name="shape-0190">
            <a:extLst>
              <a:ext uri="{FF2B5EF4-FFF2-40B4-BE49-F238E27FC236}">
                <a16:creationId xmlns:a16="http://schemas.microsoft.com/office/drawing/2014/main" id="{2129EA69-D92C-49EF-95C7-B7143C2A0244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191">
            <a:extLst>
              <a:ext uri="{FF2B5EF4-FFF2-40B4-BE49-F238E27FC236}">
                <a16:creationId xmlns:a16="http://schemas.microsoft.com/office/drawing/2014/main" id="{2F82D8BA-7CE5-4102-884E-58F925A01DB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192">
            <a:extLst>
              <a:ext uri="{FF2B5EF4-FFF2-40B4-BE49-F238E27FC236}">
                <a16:creationId xmlns:a16="http://schemas.microsoft.com/office/drawing/2014/main" id="{C8F26085-55E5-4F93-9888-7C08DDE6635E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text-0193">
            <a:extLst>
              <a:ext uri="{FF2B5EF4-FFF2-40B4-BE49-F238E27FC236}">
                <a16:creationId xmlns:a16="http://schemas.microsoft.com/office/drawing/2014/main" id="{3676A76A-17E1-4EFE-BF5D-B477E995F6A1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194">
            <a:extLst>
              <a:ext uri="{FF2B5EF4-FFF2-40B4-BE49-F238E27FC236}">
                <a16:creationId xmlns:a16="http://schemas.microsoft.com/office/drawing/2014/main" id="{28CEE24B-D7C9-4730-A1E7-CDABA9EE04F8}"/>
              </a:ext>
            </a:extLst>
          </p:cNvPr>
          <p:cNvSpPr>
            <a:spLocks noGrp="1"/>
          </p:cNvSpPr>
          <p:nvPr/>
        </p:nvSpPr>
        <p:spPr>
          <a:xfrm>
            <a:off x="1295400" y="1676400"/>
            <a:ext cx="443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14 英寸桨不能直接替换 10 英寸桨</a:t>
            </a:r>
          </a:p>
        </p:txBody>
      </p:sp>
      <p:sp>
        <p:nvSpPr>
          <p:cNvPr id="8" name="text-0195">
            <a:extLst>
              <a:ext uri="{FF2B5EF4-FFF2-40B4-BE49-F238E27FC236}">
                <a16:creationId xmlns:a16="http://schemas.microsoft.com/office/drawing/2014/main" id="{376AB46A-67ED-40EC-A544-5E9E0864A6DD}"/>
              </a:ext>
            </a:extLst>
          </p:cNvPr>
          <p:cNvSpPr>
            <a:spLocks noGrp="1"/>
          </p:cNvSpPr>
          <p:nvPr/>
        </p:nvSpPr>
        <p:spPr>
          <a:xfrm>
            <a:off x="1295400" y="201930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必须重新匹配电机、电调、电池和机架。</a:t>
            </a:r>
          </a:p>
        </p:txBody>
      </p:sp>
      <p:sp>
        <p:nvSpPr>
          <p:cNvPr id="9" name="text-0196">
            <a:extLst>
              <a:ext uri="{FF2B5EF4-FFF2-40B4-BE49-F238E27FC236}">
                <a16:creationId xmlns:a16="http://schemas.microsoft.com/office/drawing/2014/main" id="{3845A8B6-F23D-4CD0-A452-A20F9A208305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-0197">
            <a:extLst>
              <a:ext uri="{FF2B5EF4-FFF2-40B4-BE49-F238E27FC236}">
                <a16:creationId xmlns:a16="http://schemas.microsoft.com/office/drawing/2014/main" id="{71EAA490-8399-499E-A12F-C9C02D967112}"/>
              </a:ext>
            </a:extLst>
          </p:cNvPr>
          <p:cNvSpPr>
            <a:spLocks noGrp="1"/>
          </p:cNvSpPr>
          <p:nvPr/>
        </p:nvSpPr>
        <p:spPr>
          <a:xfrm>
            <a:off x="1295400" y="2686050"/>
            <a:ext cx="443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动力系统按整体匹配</a:t>
            </a:r>
          </a:p>
        </p:txBody>
      </p:sp>
      <p:sp>
        <p:nvSpPr>
          <p:cNvPr id="11" name="text-0198">
            <a:extLst>
              <a:ext uri="{FF2B5EF4-FFF2-40B4-BE49-F238E27FC236}">
                <a16:creationId xmlns:a16="http://schemas.microsoft.com/office/drawing/2014/main" id="{09DE1EAD-1C4D-4AC9-8934-8056218C10E1}"/>
              </a:ext>
            </a:extLst>
          </p:cNvPr>
          <p:cNvSpPr>
            <a:spLocks noGrp="1"/>
          </p:cNvSpPr>
          <p:nvPr/>
        </p:nvSpPr>
        <p:spPr>
          <a:xfrm>
            <a:off x="1295400" y="30289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不能逐项只看单个参数或单个价格。</a:t>
            </a:r>
          </a:p>
        </p:txBody>
      </p:sp>
      <p:sp>
        <p:nvSpPr>
          <p:cNvPr id="12" name="text-0199">
            <a:extLst>
              <a:ext uri="{FF2B5EF4-FFF2-40B4-BE49-F238E27FC236}">
                <a16:creationId xmlns:a16="http://schemas.microsoft.com/office/drawing/2014/main" id="{AA62EAC2-4E7D-4522-B89F-50768236D187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-0200">
            <a:extLst>
              <a:ext uri="{FF2B5EF4-FFF2-40B4-BE49-F238E27FC236}">
                <a16:creationId xmlns:a16="http://schemas.microsoft.com/office/drawing/2014/main" id="{80B1E18E-B857-4D9C-BE53-5C67839CA9CC}"/>
              </a:ext>
            </a:extLst>
          </p:cNvPr>
          <p:cNvSpPr>
            <a:spLocks noGrp="1"/>
          </p:cNvSpPr>
          <p:nvPr/>
        </p:nvSpPr>
        <p:spPr>
          <a:xfrm>
            <a:off x="1295400" y="3695700"/>
            <a:ext cx="443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RK3588 供电不靠线色判断</a:t>
            </a:r>
          </a:p>
        </p:txBody>
      </p:sp>
      <p:sp>
        <p:nvSpPr>
          <p:cNvPr id="14" name="text-0201">
            <a:extLst>
              <a:ext uri="{FF2B5EF4-FFF2-40B4-BE49-F238E27FC236}">
                <a16:creationId xmlns:a16="http://schemas.microsoft.com/office/drawing/2014/main" id="{A7EC9044-3A30-4597-AB88-46CF3F10B5C6}"/>
              </a:ext>
            </a:extLst>
          </p:cNvPr>
          <p:cNvSpPr>
            <a:spLocks noGrp="1"/>
          </p:cNvSpPr>
          <p:nvPr/>
        </p:nvSpPr>
        <p:spPr>
          <a:xfrm>
            <a:off x="1295400" y="403860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用手册和万用表确认电压、极性与接口。</a:t>
            </a:r>
          </a:p>
        </p:txBody>
      </p:sp>
      <p:sp>
        <p:nvSpPr>
          <p:cNvPr id="15" name="text-0202">
            <a:extLst>
              <a:ext uri="{FF2B5EF4-FFF2-40B4-BE49-F238E27FC236}">
                <a16:creationId xmlns:a16="http://schemas.microsoft.com/office/drawing/2014/main" id="{A38B0179-9637-45E4-95C8-9F596DCC350D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text-0203">
            <a:extLst>
              <a:ext uri="{FF2B5EF4-FFF2-40B4-BE49-F238E27FC236}">
                <a16:creationId xmlns:a16="http://schemas.microsoft.com/office/drawing/2014/main" id="{06A576AE-7E56-4C92-A131-44D3994ED786}"/>
              </a:ext>
            </a:extLst>
          </p:cNvPr>
          <p:cNvSpPr>
            <a:spLocks noGrp="1"/>
          </p:cNvSpPr>
          <p:nvPr/>
        </p:nvSpPr>
        <p:spPr>
          <a:xfrm>
            <a:off x="1295400" y="4705350"/>
            <a:ext cx="443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舵机供电与信号分开核对</a:t>
            </a:r>
          </a:p>
        </p:txBody>
      </p:sp>
      <p:sp>
        <p:nvSpPr>
          <p:cNvPr id="17" name="text-0204">
            <a:extLst>
              <a:ext uri="{FF2B5EF4-FFF2-40B4-BE49-F238E27FC236}">
                <a16:creationId xmlns:a16="http://schemas.microsoft.com/office/drawing/2014/main" id="{D7290035-BAF3-4247-9171-3AED1D976037}"/>
              </a:ext>
            </a:extLst>
          </p:cNvPr>
          <p:cNvSpPr>
            <a:spLocks noGrp="1"/>
          </p:cNvSpPr>
          <p:nvPr/>
        </p:nvSpPr>
        <p:spPr>
          <a:xfrm>
            <a:off x="1295400" y="5048250"/>
            <a:ext cx="443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确认独立供电、共地和飞控 SERVO 信号。</a:t>
            </a:r>
          </a:p>
        </p:txBody>
      </p:sp>
      <p:sp>
        <p:nvSpPr>
          <p:cNvPr id="18" name="shape-0205">
            <a:extLst>
              <a:ext uri="{FF2B5EF4-FFF2-40B4-BE49-F238E27FC236}">
                <a16:creationId xmlns:a16="http://schemas.microsoft.com/office/drawing/2014/main" id="{BDA2C280-62BF-4A73-951D-2EC59E77CA1F}"/>
              </a:ext>
            </a:extLst>
          </p:cNvPr>
          <p:cNvSpPr>
            <a:spLocks noGrp="1"/>
          </p:cNvSpPr>
          <p:nvPr/>
        </p:nvSpPr>
        <p:spPr>
          <a:xfrm>
            <a:off x="5981700" y="1676400"/>
            <a:ext cx="14288" cy="39052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text-0206">
            <a:extLst>
              <a:ext uri="{FF2B5EF4-FFF2-40B4-BE49-F238E27FC236}">
                <a16:creationId xmlns:a16="http://schemas.microsoft.com/office/drawing/2014/main" id="{C47ED014-F5E0-4076-8905-460EDA3FE0B9}"/>
              </a:ext>
            </a:extLst>
          </p:cNvPr>
          <p:cNvSpPr>
            <a:spLocks noGrp="1"/>
          </p:cNvSpPr>
          <p:nvPr/>
        </p:nvSpPr>
        <p:spPr>
          <a:xfrm>
            <a:off x="6400800" y="19621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text-0207">
            <a:extLst>
              <a:ext uri="{FF2B5EF4-FFF2-40B4-BE49-F238E27FC236}">
                <a16:creationId xmlns:a16="http://schemas.microsoft.com/office/drawing/2014/main" id="{C3453E7C-B483-444B-BB20-1219DD2A75D8}"/>
              </a:ext>
            </a:extLst>
          </p:cNvPr>
          <p:cNvSpPr>
            <a:spLocks noGrp="1"/>
          </p:cNvSpPr>
          <p:nvPr/>
        </p:nvSpPr>
        <p:spPr>
          <a:xfrm>
            <a:off x="7010400" y="1962150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GNSS / RTK 不替代下视视觉</a:t>
            </a:r>
          </a:p>
        </p:txBody>
      </p:sp>
      <p:sp>
        <p:nvSpPr>
          <p:cNvPr id="21" name="text-0208">
            <a:extLst>
              <a:ext uri="{FF2B5EF4-FFF2-40B4-BE49-F238E27FC236}">
                <a16:creationId xmlns:a16="http://schemas.microsoft.com/office/drawing/2014/main" id="{AAB703CD-88CB-402E-9E77-8CA0C2022732}"/>
              </a:ext>
            </a:extLst>
          </p:cNvPr>
          <p:cNvSpPr>
            <a:spLocks noGrp="1"/>
          </p:cNvSpPr>
          <p:nvPr/>
        </p:nvSpPr>
        <p:spPr>
          <a:xfrm>
            <a:off x="7010400" y="2305050"/>
            <a:ext cx="449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末端目标对准仍依赖近场视觉信息。</a:t>
            </a:r>
          </a:p>
        </p:txBody>
      </p:sp>
      <p:sp>
        <p:nvSpPr>
          <p:cNvPr id="22" name="text-0209">
            <a:extLst>
              <a:ext uri="{FF2B5EF4-FFF2-40B4-BE49-F238E27FC236}">
                <a16:creationId xmlns:a16="http://schemas.microsoft.com/office/drawing/2014/main" id="{EAEE40C4-9369-4595-BD25-7240F5130979}"/>
              </a:ext>
            </a:extLst>
          </p:cNvPr>
          <p:cNvSpPr>
            <a:spLocks noGrp="1"/>
          </p:cNvSpPr>
          <p:nvPr/>
        </p:nvSpPr>
        <p:spPr>
          <a:xfrm>
            <a:off x="6400800" y="33337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3" name="text-0210">
            <a:extLst>
              <a:ext uri="{FF2B5EF4-FFF2-40B4-BE49-F238E27FC236}">
                <a16:creationId xmlns:a16="http://schemas.microsoft.com/office/drawing/2014/main" id="{405C1778-7323-4807-BEDD-370E6BA7DD2C}"/>
              </a:ext>
            </a:extLst>
          </p:cNvPr>
          <p:cNvSpPr>
            <a:spLocks noGrp="1"/>
          </p:cNvSpPr>
          <p:nvPr/>
        </p:nvSpPr>
        <p:spPr>
          <a:xfrm>
            <a:off x="7010400" y="3333750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历史价格与“待定”不能直接下单</a:t>
            </a:r>
          </a:p>
        </p:txBody>
      </p:sp>
      <p:sp>
        <p:nvSpPr>
          <p:cNvPr id="24" name="text-0211">
            <a:extLst>
              <a:ext uri="{FF2B5EF4-FFF2-40B4-BE49-F238E27FC236}">
                <a16:creationId xmlns:a16="http://schemas.microsoft.com/office/drawing/2014/main" id="{3BBB3E29-C6DB-4CA6-B931-1AFA18623F5E}"/>
              </a:ext>
            </a:extLst>
          </p:cNvPr>
          <p:cNvSpPr>
            <a:spLocks noGrp="1"/>
          </p:cNvSpPr>
          <p:nvPr/>
        </p:nvSpPr>
        <p:spPr>
          <a:xfrm>
            <a:off x="7010400" y="3676650"/>
            <a:ext cx="449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必须重新询价并确认数量、规格和运费。</a:t>
            </a:r>
          </a:p>
        </p:txBody>
      </p:sp>
      <p:sp>
        <p:nvSpPr>
          <p:cNvPr id="25" name="text-0212">
            <a:extLst>
              <a:ext uri="{FF2B5EF4-FFF2-40B4-BE49-F238E27FC236}">
                <a16:creationId xmlns:a16="http://schemas.microsoft.com/office/drawing/2014/main" id="{0A0E2565-24E8-472A-983F-F8E3E8D24EA9}"/>
              </a:ext>
            </a:extLst>
          </p:cNvPr>
          <p:cNvSpPr>
            <a:spLocks noGrp="1"/>
          </p:cNvSpPr>
          <p:nvPr/>
        </p:nvSpPr>
        <p:spPr>
          <a:xfrm>
            <a:off x="6400800" y="47053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6" name="text-0213">
            <a:extLst>
              <a:ext uri="{FF2B5EF4-FFF2-40B4-BE49-F238E27FC236}">
                <a16:creationId xmlns:a16="http://schemas.microsoft.com/office/drawing/2014/main" id="{9B1CABD9-4545-480F-AE09-EF8489A73826}"/>
              </a:ext>
            </a:extLst>
          </p:cNvPr>
          <p:cNvSpPr>
            <a:spLocks noGrp="1"/>
          </p:cNvSpPr>
          <p:nvPr/>
        </p:nvSpPr>
        <p:spPr>
          <a:xfrm>
            <a:off x="7010400" y="4705350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真实记录与硬件手册优先</a:t>
            </a:r>
          </a:p>
        </p:txBody>
      </p:sp>
      <p:sp>
        <p:nvSpPr>
          <p:cNvPr id="27" name="text-0214">
            <a:extLst>
              <a:ext uri="{FF2B5EF4-FFF2-40B4-BE49-F238E27FC236}">
                <a16:creationId xmlns:a16="http://schemas.microsoft.com/office/drawing/2014/main" id="{C64A91F2-00E4-41E0-AED8-4E08B5342506}"/>
              </a:ext>
            </a:extLst>
          </p:cNvPr>
          <p:cNvSpPr>
            <a:spLocks noGrp="1"/>
          </p:cNvSpPr>
          <p:nvPr/>
        </p:nvSpPr>
        <p:spPr>
          <a:xfrm>
            <a:off x="7010400" y="5048250"/>
            <a:ext cx="449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复现 BOM 和接口文档比购买页描述更可靠。</a:t>
            </a:r>
          </a:p>
        </p:txBody>
      </p:sp>
    </p:spTree>
    <p:extLst>
      <p:ext uri="{BB962C8B-B14F-4D97-AF65-F5344CB8AC3E}">
        <p14:creationId xmlns:p14="http://schemas.microsoft.com/office/powerpoint/2010/main" val="1229812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-0215">
            <a:extLst>
              <a:ext uri="{FF2B5EF4-FFF2-40B4-BE49-F238E27FC236}">
                <a16:creationId xmlns:a16="http://schemas.microsoft.com/office/drawing/2014/main" id="{295090BB-9062-49BB-8703-8DBD76972C8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完成检查</a:t>
            </a:r>
          </a:p>
        </p:txBody>
      </p:sp>
      <p:sp>
        <p:nvSpPr>
          <p:cNvPr id="2" name="text-0216">
            <a:extLst>
              <a:ext uri="{FF2B5EF4-FFF2-40B4-BE49-F238E27FC236}">
                <a16:creationId xmlns:a16="http://schemas.microsoft.com/office/drawing/2014/main" id="{F96F3940-7F6D-4883-9DE2-E632F78463A8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 个问题全部有答案，才算完成采购准备</a:t>
            </a:r>
          </a:p>
        </p:txBody>
      </p:sp>
      <p:sp>
        <p:nvSpPr>
          <p:cNvPr id="3" name="shape-0217">
            <a:extLst>
              <a:ext uri="{FF2B5EF4-FFF2-40B4-BE49-F238E27FC236}">
                <a16:creationId xmlns:a16="http://schemas.microsoft.com/office/drawing/2014/main" id="{49561647-F5CC-435B-AC87-E2126C881794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text-0218">
            <a:extLst>
              <a:ext uri="{FF2B5EF4-FFF2-40B4-BE49-F238E27FC236}">
                <a16:creationId xmlns:a16="http://schemas.microsoft.com/office/drawing/2014/main" id="{3A9DBA14-9E11-4ACA-966B-D8681E14214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 配置清单</a:t>
            </a:r>
          </a:p>
        </p:txBody>
      </p:sp>
      <p:sp>
        <p:nvSpPr>
          <p:cNvPr id="5" name="text-0219">
            <a:extLst>
              <a:ext uri="{FF2B5EF4-FFF2-40B4-BE49-F238E27FC236}">
                <a16:creationId xmlns:a16="http://schemas.microsoft.com/office/drawing/2014/main" id="{C2F9B5AA-7EA4-4609-BE0F-89626BE73ECB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shape-0220">
            <a:extLst>
              <a:ext uri="{FF2B5EF4-FFF2-40B4-BE49-F238E27FC236}">
                <a16:creationId xmlns:a16="http://schemas.microsoft.com/office/drawing/2014/main" id="{0CCF9B4F-3C28-4B81-9018-7FC2DA708356}"/>
              </a:ext>
            </a:extLst>
          </p:cNvPr>
          <p:cNvSpPr>
            <a:spLocks noGrp="1"/>
          </p:cNvSpPr>
          <p:nvPr/>
        </p:nvSpPr>
        <p:spPr>
          <a:xfrm>
            <a:off x="685800" y="1800225"/>
            <a:ext cx="238125" cy="2381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7" name="text-0221">
            <a:extLst>
              <a:ext uri="{FF2B5EF4-FFF2-40B4-BE49-F238E27FC236}">
                <a16:creationId xmlns:a16="http://schemas.microsoft.com/office/drawing/2014/main" id="{6F212384-490A-49BB-A4E4-5DC0FBA5BC43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text-0222">
            <a:extLst>
              <a:ext uri="{FF2B5EF4-FFF2-40B4-BE49-F238E27FC236}">
                <a16:creationId xmlns:a16="http://schemas.microsoft.com/office/drawing/2014/main" id="{E7B935A1-03D3-403B-9A32-21FD8327195C}"/>
              </a:ext>
            </a:extLst>
          </p:cNvPr>
          <p:cNvSpPr>
            <a:spLocks noGrp="1"/>
          </p:cNvSpPr>
          <p:nvPr/>
        </p:nvSpPr>
        <p:spPr>
          <a:xfrm>
            <a:off x="1066800" y="1790700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已明确选择方案 A 或方案 B</a:t>
            </a:r>
          </a:p>
        </p:txBody>
      </p:sp>
      <p:sp>
        <p:nvSpPr>
          <p:cNvPr id="9" name="shape-0223">
            <a:extLst>
              <a:ext uri="{FF2B5EF4-FFF2-40B4-BE49-F238E27FC236}">
                <a16:creationId xmlns:a16="http://schemas.microsoft.com/office/drawing/2014/main" id="{5A2D9627-214F-41C2-9E7A-AEF67C3A940B}"/>
              </a:ext>
            </a:extLst>
          </p:cNvPr>
          <p:cNvSpPr>
            <a:spLocks noGrp="1"/>
          </p:cNvSpPr>
          <p:nvPr/>
        </p:nvSpPr>
        <p:spPr>
          <a:xfrm>
            <a:off x="685800" y="2447925"/>
            <a:ext cx="238125" cy="2381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text-0224">
            <a:extLst>
              <a:ext uri="{FF2B5EF4-FFF2-40B4-BE49-F238E27FC236}">
                <a16:creationId xmlns:a16="http://schemas.microsoft.com/office/drawing/2014/main" id="{3AE0F2F4-7659-4747-B31D-64588347EBCB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1" name="text-0225">
            <a:extLst>
              <a:ext uri="{FF2B5EF4-FFF2-40B4-BE49-F238E27FC236}">
                <a16:creationId xmlns:a16="http://schemas.microsoft.com/office/drawing/2014/main" id="{BABAC0A1-DE57-40F2-8DDD-614386023B7C}"/>
              </a:ext>
            </a:extLst>
          </p:cNvPr>
          <p:cNvSpPr>
            <a:spLocks noGrp="1"/>
          </p:cNvSpPr>
          <p:nvPr/>
        </p:nvSpPr>
        <p:spPr>
          <a:xfrm>
            <a:off x="1066800" y="2438400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所有必需物料都有明确型号</a:t>
            </a:r>
          </a:p>
        </p:txBody>
      </p:sp>
      <p:sp>
        <p:nvSpPr>
          <p:cNvPr id="12" name="shape-0226">
            <a:extLst>
              <a:ext uri="{FF2B5EF4-FFF2-40B4-BE49-F238E27FC236}">
                <a16:creationId xmlns:a16="http://schemas.microsoft.com/office/drawing/2014/main" id="{93308993-2325-45F0-BDE0-49AF5ED89468}"/>
              </a:ext>
            </a:extLst>
          </p:cNvPr>
          <p:cNvSpPr>
            <a:spLocks noGrp="1"/>
          </p:cNvSpPr>
          <p:nvPr/>
        </p:nvSpPr>
        <p:spPr>
          <a:xfrm>
            <a:off x="685800" y="3095625"/>
            <a:ext cx="238125" cy="2381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3" name="text-0227">
            <a:extLst>
              <a:ext uri="{FF2B5EF4-FFF2-40B4-BE49-F238E27FC236}">
                <a16:creationId xmlns:a16="http://schemas.microsoft.com/office/drawing/2014/main" id="{B9F87E1B-B35A-4F55-AA64-2412FB6CE61F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4" name="text-0228">
            <a:extLst>
              <a:ext uri="{FF2B5EF4-FFF2-40B4-BE49-F238E27FC236}">
                <a16:creationId xmlns:a16="http://schemas.microsoft.com/office/drawing/2014/main" id="{594E6F33-EDE1-415F-99FE-C5FAD7AF37A9}"/>
              </a:ext>
            </a:extLst>
          </p:cNvPr>
          <p:cNvSpPr>
            <a:spLocks noGrp="1"/>
          </p:cNvSpPr>
          <p:nvPr/>
        </p:nvSpPr>
        <p:spPr>
          <a:xfrm>
            <a:off x="1066800" y="3086100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电机、电调、电池、螺旋桨已匹配</a:t>
            </a:r>
          </a:p>
        </p:txBody>
      </p:sp>
      <p:sp>
        <p:nvSpPr>
          <p:cNvPr id="15" name="shape-0229">
            <a:extLst>
              <a:ext uri="{FF2B5EF4-FFF2-40B4-BE49-F238E27FC236}">
                <a16:creationId xmlns:a16="http://schemas.microsoft.com/office/drawing/2014/main" id="{32A65A95-C375-4223-81DF-CE25FFB20624}"/>
              </a:ext>
            </a:extLst>
          </p:cNvPr>
          <p:cNvSpPr>
            <a:spLocks noGrp="1"/>
          </p:cNvSpPr>
          <p:nvPr/>
        </p:nvSpPr>
        <p:spPr>
          <a:xfrm>
            <a:off x="685800" y="3743325"/>
            <a:ext cx="238125" cy="2381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6" name="text-0230">
            <a:extLst>
              <a:ext uri="{FF2B5EF4-FFF2-40B4-BE49-F238E27FC236}">
                <a16:creationId xmlns:a16="http://schemas.microsoft.com/office/drawing/2014/main" id="{4D6B5153-45AD-4AFC-805B-4EB7EE6D1DFF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text-0231">
            <a:extLst>
              <a:ext uri="{FF2B5EF4-FFF2-40B4-BE49-F238E27FC236}">
                <a16:creationId xmlns:a16="http://schemas.microsoft.com/office/drawing/2014/main" id="{48D45C0F-71AE-4509-A31B-CC61DFF2BF02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飞控与 GPS / RTK 兼容 ArduPilot</a:t>
            </a:r>
          </a:p>
        </p:txBody>
      </p:sp>
      <p:sp>
        <p:nvSpPr>
          <p:cNvPr id="18" name="shape-0232">
            <a:extLst>
              <a:ext uri="{FF2B5EF4-FFF2-40B4-BE49-F238E27FC236}">
                <a16:creationId xmlns:a16="http://schemas.microsoft.com/office/drawing/2014/main" id="{69420469-BBC7-467B-A601-604F07341EF3}"/>
              </a:ext>
            </a:extLst>
          </p:cNvPr>
          <p:cNvSpPr>
            <a:spLocks noGrp="1"/>
          </p:cNvSpPr>
          <p:nvPr/>
        </p:nvSpPr>
        <p:spPr>
          <a:xfrm>
            <a:off x="6286500" y="1800225"/>
            <a:ext cx="238125" cy="2381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9" name="text-0233">
            <a:extLst>
              <a:ext uri="{FF2B5EF4-FFF2-40B4-BE49-F238E27FC236}">
                <a16:creationId xmlns:a16="http://schemas.microsoft.com/office/drawing/2014/main" id="{8E9ABC3B-68A9-4007-BB2F-29B207FF412F}"/>
              </a:ext>
            </a:extLst>
          </p:cNvPr>
          <p:cNvSpPr>
            <a:spLocks noGrp="1"/>
          </p:cNvSpPr>
          <p:nvPr/>
        </p:nvSpPr>
        <p:spPr>
          <a:xfrm>
            <a:off x="6286500" y="1771650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text-0234">
            <a:extLst>
              <a:ext uri="{FF2B5EF4-FFF2-40B4-BE49-F238E27FC236}">
                <a16:creationId xmlns:a16="http://schemas.microsoft.com/office/drawing/2014/main" id="{1FE4C5FA-3BC7-44DC-91D0-91BFB55CAD60}"/>
              </a:ext>
            </a:extLst>
          </p:cNvPr>
          <p:cNvSpPr>
            <a:spLocks noGrp="1"/>
          </p:cNvSpPr>
          <p:nvPr/>
        </p:nvSpPr>
        <p:spPr>
          <a:xfrm>
            <a:off x="6667500" y="1790700"/>
            <a:ext cx="4838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RK3588、相机、飞控连接方式已明确</a:t>
            </a:r>
          </a:p>
        </p:txBody>
      </p:sp>
      <p:sp>
        <p:nvSpPr>
          <p:cNvPr id="21" name="shape-0235">
            <a:extLst>
              <a:ext uri="{FF2B5EF4-FFF2-40B4-BE49-F238E27FC236}">
                <a16:creationId xmlns:a16="http://schemas.microsoft.com/office/drawing/2014/main" id="{85510D8B-7C2F-453C-9777-FCFFECCA91F9}"/>
              </a:ext>
            </a:extLst>
          </p:cNvPr>
          <p:cNvSpPr>
            <a:spLocks noGrp="1"/>
          </p:cNvSpPr>
          <p:nvPr/>
        </p:nvSpPr>
        <p:spPr>
          <a:xfrm>
            <a:off x="6286500" y="2447925"/>
            <a:ext cx="238125" cy="2381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2" name="text-0236">
            <a:extLst>
              <a:ext uri="{FF2B5EF4-FFF2-40B4-BE49-F238E27FC236}">
                <a16:creationId xmlns:a16="http://schemas.microsoft.com/office/drawing/2014/main" id="{95D3A247-9AFA-4C1E-90C5-7986C136C86B}"/>
              </a:ext>
            </a:extLst>
          </p:cNvPr>
          <p:cNvSpPr>
            <a:spLocks noGrp="1"/>
          </p:cNvSpPr>
          <p:nvPr/>
        </p:nvSpPr>
        <p:spPr>
          <a:xfrm>
            <a:off x="6286500" y="2419350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3" name="text-0237">
            <a:extLst>
              <a:ext uri="{FF2B5EF4-FFF2-40B4-BE49-F238E27FC236}">
                <a16:creationId xmlns:a16="http://schemas.microsoft.com/office/drawing/2014/main" id="{7D64AAD7-A24F-48F9-BFF4-9DBCBF6298A8}"/>
              </a:ext>
            </a:extLst>
          </p:cNvPr>
          <p:cNvSpPr>
            <a:spLocks noGrp="1"/>
          </p:cNvSpPr>
          <p:nvPr/>
        </p:nvSpPr>
        <p:spPr>
          <a:xfrm>
            <a:off x="6667500" y="2438400"/>
            <a:ext cx="4838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RK3588 与舵机供电方案已确认</a:t>
            </a:r>
          </a:p>
        </p:txBody>
      </p:sp>
      <p:sp>
        <p:nvSpPr>
          <p:cNvPr id="24" name="shape-0238">
            <a:extLst>
              <a:ext uri="{FF2B5EF4-FFF2-40B4-BE49-F238E27FC236}">
                <a16:creationId xmlns:a16="http://schemas.microsoft.com/office/drawing/2014/main" id="{D7A98D8E-BDBB-47C7-B5F4-5A888866FE43}"/>
              </a:ext>
            </a:extLst>
          </p:cNvPr>
          <p:cNvSpPr>
            <a:spLocks noGrp="1"/>
          </p:cNvSpPr>
          <p:nvPr/>
        </p:nvSpPr>
        <p:spPr>
          <a:xfrm>
            <a:off x="6286500" y="3095625"/>
            <a:ext cx="238125" cy="2381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5" name="text-0239">
            <a:extLst>
              <a:ext uri="{FF2B5EF4-FFF2-40B4-BE49-F238E27FC236}">
                <a16:creationId xmlns:a16="http://schemas.microsoft.com/office/drawing/2014/main" id="{94A29C6E-C307-40FF-9C5A-39937179BD0D}"/>
              </a:ext>
            </a:extLst>
          </p:cNvPr>
          <p:cNvSpPr>
            <a:spLocks noGrp="1"/>
          </p:cNvSpPr>
          <p:nvPr/>
        </p:nvSpPr>
        <p:spPr>
          <a:xfrm>
            <a:off x="6286500" y="3067050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6" name="text-0240">
            <a:extLst>
              <a:ext uri="{FF2B5EF4-FFF2-40B4-BE49-F238E27FC236}">
                <a16:creationId xmlns:a16="http://schemas.microsoft.com/office/drawing/2014/main" id="{89057B0E-C791-4646-8B81-E35A6CE534DC}"/>
              </a:ext>
            </a:extLst>
          </p:cNvPr>
          <p:cNvSpPr>
            <a:spLocks noGrp="1"/>
          </p:cNvSpPr>
          <p:nvPr/>
        </p:nvSpPr>
        <p:spPr>
          <a:xfrm>
            <a:off x="6667500" y="3086100"/>
            <a:ext cx="4838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预算按真实口径计算完成</a:t>
            </a:r>
          </a:p>
        </p:txBody>
      </p:sp>
      <p:sp>
        <p:nvSpPr>
          <p:cNvPr id="27" name="shape-0241">
            <a:extLst>
              <a:ext uri="{FF2B5EF4-FFF2-40B4-BE49-F238E27FC236}">
                <a16:creationId xmlns:a16="http://schemas.microsoft.com/office/drawing/2014/main" id="{0DDCAA47-72CC-4981-822A-329E54C54660}"/>
              </a:ext>
            </a:extLst>
          </p:cNvPr>
          <p:cNvSpPr>
            <a:spLocks noGrp="1"/>
          </p:cNvSpPr>
          <p:nvPr/>
        </p:nvSpPr>
        <p:spPr>
          <a:xfrm>
            <a:off x="6286500" y="3743325"/>
            <a:ext cx="238125" cy="2381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8" name="text-0242">
            <a:extLst>
              <a:ext uri="{FF2B5EF4-FFF2-40B4-BE49-F238E27FC236}">
                <a16:creationId xmlns:a16="http://schemas.microsoft.com/office/drawing/2014/main" id="{52F59687-6413-4CBB-AB91-4015401458CD}"/>
              </a:ext>
            </a:extLst>
          </p:cNvPr>
          <p:cNvSpPr>
            <a:spLocks noGrp="1"/>
          </p:cNvSpPr>
          <p:nvPr/>
        </p:nvSpPr>
        <p:spPr>
          <a:xfrm>
            <a:off x="6286500" y="3714750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9" name="text-0243">
            <a:extLst>
              <a:ext uri="{FF2B5EF4-FFF2-40B4-BE49-F238E27FC236}">
                <a16:creationId xmlns:a16="http://schemas.microsoft.com/office/drawing/2014/main" id="{B3E1CB2D-1F6F-4611-BDD6-67E10611FE2B}"/>
              </a:ext>
            </a:extLst>
          </p:cNvPr>
          <p:cNvSpPr>
            <a:spLocks noGrp="1"/>
          </p:cNvSpPr>
          <p:nvPr/>
        </p:nvSpPr>
        <p:spPr>
          <a:xfrm>
            <a:off x="6667500" y="3733800"/>
            <a:ext cx="4838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装机工具和连接线准备齐全</a:t>
            </a:r>
          </a:p>
        </p:txBody>
      </p:sp>
      <p:sp>
        <p:nvSpPr>
          <p:cNvPr id="30" name="shape-0244">
            <a:extLst>
              <a:ext uri="{FF2B5EF4-FFF2-40B4-BE49-F238E27FC236}">
                <a16:creationId xmlns:a16="http://schemas.microsoft.com/office/drawing/2014/main" id="{EECC421A-452B-41D6-90F8-474F513AE1B7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10820400" cy="12573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1" name="text-0245">
            <a:extLst>
              <a:ext uri="{FF2B5EF4-FFF2-40B4-BE49-F238E27FC236}">
                <a16:creationId xmlns:a16="http://schemas.microsoft.com/office/drawing/2014/main" id="{E189ED0B-0E07-4A84-8270-605ACE3615C0}"/>
              </a:ext>
            </a:extLst>
          </p:cNvPr>
          <p:cNvSpPr>
            <a:spLocks noGrp="1"/>
          </p:cNvSpPr>
          <p:nvPr/>
        </p:nvSpPr>
        <p:spPr>
          <a:xfrm>
            <a:off x="990600" y="49339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下一章</a:t>
            </a:r>
          </a:p>
        </p:txBody>
      </p:sp>
      <p:sp>
        <p:nvSpPr>
          <p:cNvPr id="32" name="text-0246">
            <a:extLst>
              <a:ext uri="{FF2B5EF4-FFF2-40B4-BE49-F238E27FC236}">
                <a16:creationId xmlns:a16="http://schemas.microsoft.com/office/drawing/2014/main" id="{E231BFFC-572A-4FA0-B9EB-A2753E776A8F}"/>
              </a:ext>
            </a:extLst>
          </p:cNvPr>
          <p:cNvSpPr>
            <a:spLocks noGrp="1"/>
          </p:cNvSpPr>
          <p:nvPr/>
        </p:nvSpPr>
        <p:spPr>
          <a:xfrm>
            <a:off x="990600" y="533400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无人机组装</a:t>
            </a:r>
          </a:p>
        </p:txBody>
      </p:sp>
      <p:sp>
        <p:nvSpPr>
          <p:cNvPr id="33" name="text-0247">
            <a:extLst>
              <a:ext uri="{FF2B5EF4-FFF2-40B4-BE49-F238E27FC236}">
                <a16:creationId xmlns:a16="http://schemas.microsoft.com/office/drawing/2014/main" id="{FD2B8FDA-5CB2-4822-A114-1F91EED2A89A}"/>
              </a:ext>
            </a:extLst>
          </p:cNvPr>
          <p:cNvSpPr>
            <a:spLocks noGrp="1"/>
          </p:cNvSpPr>
          <p:nvPr/>
        </p:nvSpPr>
        <p:spPr>
          <a:xfrm>
            <a:off x="4953000" y="5105400"/>
            <a:ext cx="6057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从采购决策进入实物装配，先核对接口与供电，再固定结构。</a:t>
            </a:r>
          </a:p>
        </p:txBody>
      </p:sp>
    </p:spTree>
    <p:extLst>
      <p:ext uri="{BB962C8B-B14F-4D97-AF65-F5344CB8AC3E}">
        <p14:creationId xmlns:p14="http://schemas.microsoft.com/office/powerpoint/2010/main" val="19316302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3007</Words>
  <Application>Microsoft Office PowerPoint</Application>
  <DocSecurity>0</DocSecurity>
  <PresentationFormat>宽屏</PresentationFormat>
  <Paragraphs>581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嘉豪 李</cp:lastModifiedBy>
  <cp:revision>2</cp:revision>
  <dcterms:created xsi:type="dcterms:W3CDTF">2026-08-15T15:40:12Z</dcterms:created>
  <dcterms:modified xsi:type="dcterms:W3CDTF">2026-08-15T15:46:00Z</dcterms:modified>
</cp:coreProperties>
</file>